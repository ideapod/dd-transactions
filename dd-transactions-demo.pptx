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every form in this platform is data, not code. A business analyst can define a complete multi-step transaction — including validation, payment and downstream integrations — by editing a schema. No developer, no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rest of the talk around these three: Configure (how you build a form), Integrate (how the form does more than collect data — payments, hand-offs), Extract (how other systems get the results out). The demo follows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Express + MongoDB. The key design point is that TransactionForm fetches the definition at load time and renders it — so the definition is the single source of truth. Status lifecycle: free (no payment), pending (sent to Stripe), complete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definition from the demo data (DWRS registration). Each step has a name, title, fields and nextStep. Rich content — tabs, headings, bullet lists — lives inside steps. nextStep can also be conditional (a 'when/stepMapper'), so the registration type answer can route applicants down different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live screenshots of the DWRS definition from the previous slide. Nothing on these screens was hand-coded: the tabs, headings, radio choices, field labels, the Continue/Back navigation and the error message all come from the schema. The orange banner and card styling come from a single shared theme, so every form looks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open a definition under /txndefs and flip between the Visual Editor and JSON tabs — changes in one appear in the other. Emphasise: analysts can own the forms; developers aren't a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Visual Editor on the NDIS Worker Clearance ID field, with a regex pattern and an exact-length rule. Right: the applicant's view — '12AB' is rejected with 'Should be 8 characters long' and Submit stays disabled. In the demo, do this live: add a rule, save, reload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NWSD ID field in the demo — type letters or 7 digits and the form refuses to continue. That's a declarative rule in the schema. The same validator pipeline accepts custom and asynchronous validators, and the server re-checks submissions, so the model extends naturally to heavyweight checks: registry lookups, identity verification, eligibility rules, cross-field consistency. The applicant just sees a clean form; the complexity stays in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 engine detects any wizard step with type: payment, injects a read-only PaymentSummary, and on submit calls POST /payment/create-checkout-session. The transaction is saved as pending, the user goes to Stripe, and Stripe's webhook flips it to complete. Free forms skip all this and save as 'free'. The same pattern — a typed step that hands off to an external service — is how further integrations (identity, document checks, bookings) slot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models. Pull: any system can GET all completed and free transactions for a definition — great for reporting, batch jobs, BI tools. Push: set a webhook_url on the definition and the server POSTs the full transaction the moment it completes (after payment, or immediately for free forms). The data shape mirrors the field names in the schema, so consumers get exactly what the form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commands are verified against the demo data. Setting API and ID as shell variables keeps the commands short on screen. Recipe 1 finds the ID of any definition; recipe 2 shows the schema is itself queryable (you can see the payment step); recipe 3 is the 3rd-party pull API — only complete and free transactions are returned, never pending ones; recipe 4 shows how trivially the data drops into Excel or a reporting pipeline. jq is optional — plain curl returns the raw JSON. Note: the pull API is open today; production would add an API key or OAuth.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Payments via Stripe is working today and is the template for the rest. The engine gives you three integration points: typed steps inside the wizard (like payment), server-side checks on submission, and outbound webhooks on completion — plus the pull API. Identity, compliance checks, case management and notifications all fit one of those hooks without changing how forms are authored.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 engine is Data Driven Forms (@data-driven-forms/react-form-renderer with the MUI component mapper, v3), an open-source library started at Red Hat and built on React Final Form. We hand it the schema from MongoDB; it does the rendering, state, wizard navigation and validation. Three extension points: componentMapper maps schema names to React components (we add payment-summary and bullet-list); validatorMapper adds custom validators (the same-email cross-field check in the snippet is in the codebase today, and validators can be async, so they can call server APIs and registries); and conditions/stepMapper drive show-hide logic and branching wizards. Everything else is a conventional MERN stack: React 18 with Vite and MUI 5, Express 4 on Node 20, MongoDB 7, Stripe for payments, all run with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the moment that lands: edit the schema, save, and open a new transaction — the change is there immediately. Step 4: show the validation error, then fix it. Step 5: Stripe test mode, card 4242 4242 4242 4242, any future expiry, any CVC. Step 6: refresh the transaction list to show 'complete', then switch to the webhook inspector tab. Step 7: run the curl recipes from the 'Calling the API with curl' slide (the Bruno collection in /bruno works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full dry run beforehand. If the Stripe CLI isn't forwarding, payments will stay 'pending' — that's the most common demo failure. The webhook secret changes each time you run stripe listen, so update .env and restart the server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taking questions so people can scan the QR code. The repo URL is also a clickable link in the deck. The three commands get the full stack running with the demo data; Stripe test keys go in .env for the payment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business outcome: faster delivery of new transactions, consistency, and an open integration model. Invite questions — likely ones: security of the open API (can add auth), hosting (Docker, currently self-hosted Mongo), and how complex validation is authored.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ideapod/dd-transactions" TargetMode="Externa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36"/>
        </a:solidFill>
      </p:bgPr>
    </p:bg>
    <p:spTree>
      <p:nvGrpSpPr>
        <p:cNvPr id="1" name=""/>
        <p:cNvGrpSpPr/>
        <p:nvPr/>
      </p:nvGrpSpPr>
      <p:grpSpPr>
        <a:xfrm>
          <a:off x="0" y="0"/>
          <a:ext cx="0" cy="0"/>
          <a:chOff x="0" y="0"/>
          <a:chExt cx="0" cy="0"/>
        </a:xfrm>
      </p:grpSpPr>
      <p:sp>
        <p:nvSpPr>
          <p:cNvPr id="2" name="Shape 0"/>
          <p:cNvSpPr/>
          <p:nvPr/>
        </p:nvSpPr>
        <p:spPr>
          <a:xfrm>
            <a:off x="7863840" y="-1280160"/>
            <a:ext cx="5943600" cy="5943600"/>
          </a:xfrm>
          <a:prstGeom prst="ellipse">
            <a:avLst/>
          </a:prstGeom>
          <a:solidFill>
            <a:srgbClr val="E3710A">
              <a:alpha val="15000"/>
            </a:srgbClr>
          </a:solidFill>
          <a:ln w="12700">
            <a:solidFill>
              <a:srgbClr val="E3710A">
                <a:alpha val="0"/>
              </a:srgbClr>
            </a:solidFill>
            <a:prstDash val="solid"/>
          </a:ln>
        </p:spPr>
      </p:sp>
      <p:sp>
        <p:nvSpPr>
          <p:cNvPr id="3" name="Shape 1"/>
          <p:cNvSpPr/>
          <p:nvPr/>
        </p:nvSpPr>
        <p:spPr>
          <a:xfrm>
            <a:off x="9326880" y="3291840"/>
            <a:ext cx="4023360" cy="4023360"/>
          </a:xfrm>
          <a:prstGeom prst="ellipse">
            <a:avLst/>
          </a:prstGeom>
          <a:solidFill>
            <a:srgbClr val="E3710A">
              <a:alpha val="30000"/>
            </a:srgbClr>
          </a:solidFill>
          <a:ln w="12700">
            <a:solidFill>
              <a:srgbClr val="E3710A">
                <a:alpha val="0"/>
              </a:srgbClr>
            </a:solidFill>
            <a:prstDash val="solid"/>
          </a:ln>
        </p:spPr>
      </p:sp>
      <p:sp>
        <p:nvSpPr>
          <p:cNvPr id="4" name="Shape 2"/>
          <p:cNvSpPr/>
          <p:nvPr/>
        </p:nvSpPr>
        <p:spPr>
          <a:xfrm>
            <a:off x="548640" y="1463040"/>
            <a:ext cx="822960" cy="822960"/>
          </a:xfrm>
          <a:prstGeom prst="ellipse">
            <a:avLst/>
          </a:prstGeom>
          <a:solidFill>
            <a:srgbClr val="E3710A"/>
          </a:solidFill>
          <a:ln w="12700">
            <a:solidFill>
              <a:srgbClr val="E3710A"/>
            </a:solidFill>
            <a:prstDash val="solid"/>
          </a:ln>
        </p:spPr>
      </p:sp>
      <p:pic>
        <p:nvPicPr>
          <p:cNvPr id="5" name="Image 0" descr="preencoded.png">    </p:cNvPr>
          <p:cNvPicPr>
            <a:picLocks noChangeAspect="1"/>
          </p:cNvPicPr>
          <p:nvPr/>
        </p:nvPicPr>
        <p:blipFill>
          <a:blip r:embed="rId1"/>
          <a:stretch>
            <a:fillRect/>
          </a:stretch>
        </p:blipFill>
        <p:spPr>
          <a:xfrm>
            <a:off x="762610" y="1677010"/>
            <a:ext cx="395021" cy="395021"/>
          </a:xfrm>
          <a:prstGeom prst="rect">
            <a:avLst/>
          </a:prstGeom>
        </p:spPr>
      </p:pic>
      <p:sp>
        <p:nvSpPr>
          <p:cNvPr id="6" name="Text 3"/>
          <p:cNvSpPr txBox="1"/>
          <p:nvPr/>
        </p:nvSpPr>
        <p:spPr>
          <a:xfrm>
            <a:off x="548640" y="2560320"/>
            <a:ext cx="8229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Data-Driven Transactions</a:t>
            </a:r>
            <a:endParaRPr lang="en-US" sz="5200" dirty="0"/>
          </a:p>
        </p:txBody>
      </p:sp>
      <p:sp>
        <p:nvSpPr>
          <p:cNvPr id="7" name="Text 4"/>
          <p:cNvSpPr txBox="1"/>
          <p:nvPr/>
        </p:nvSpPr>
        <p:spPr>
          <a:xfrm>
            <a:off x="548640" y="3566160"/>
            <a:ext cx="8229600" cy="548640"/>
          </a:xfrm>
          <a:prstGeom prst="rect">
            <a:avLst/>
          </a:prstGeom>
          <a:noFill/>
          <a:ln/>
        </p:spPr>
        <p:txBody>
          <a:bodyPr wrap="square" lIns="0" tIns="0" rIns="0" bIns="0" rtlCol="0" anchor="ctr"/>
          <a:lstStyle/>
          <a:p>
            <a:pPr indent="0" marL="0">
              <a:buNone/>
            </a:pPr>
            <a:r>
              <a:rPr lang="en-US" sz="2400" i="1" dirty="0">
                <a:solidFill>
                  <a:srgbClr val="E3710A"/>
                </a:solidFill>
                <a:latin typeface="Cambria" pitchFamily="34" charset="0"/>
                <a:ea typeface="Cambria" pitchFamily="34" charset="-122"/>
                <a:cs typeface="Cambria" pitchFamily="34" charset="-120"/>
              </a:rPr>
              <a:t>Configure the form. Don’t code it.</a:t>
            </a:r>
            <a:endParaRPr lang="en-US" sz="2400" dirty="0"/>
          </a:p>
        </p:txBody>
      </p:sp>
      <p:sp>
        <p:nvSpPr>
          <p:cNvPr id="8" name="Text 5"/>
          <p:cNvSpPr txBox="1"/>
          <p:nvPr/>
        </p:nvSpPr>
        <p:spPr>
          <a:xfrm>
            <a:off x="548640" y="4297680"/>
            <a:ext cx="7315200" cy="822960"/>
          </a:xfrm>
          <a:prstGeom prst="rect">
            <a:avLst/>
          </a:prstGeom>
          <a:noFill/>
          <a:ln/>
        </p:spPr>
        <p:txBody>
          <a:bodyPr wrap="square" lIns="0" tIns="0" rIns="0" bIns="0" rtlCol="0" anchor="ctr"/>
          <a:lstStyle/>
          <a:p>
            <a:pPr indent="0" marL="0">
              <a:buNone/>
            </a:pPr>
            <a:r>
              <a:rPr lang="en-US" sz="1600" dirty="0">
                <a:solidFill>
                  <a:srgbClr val="B8C2D3"/>
                </a:solidFill>
                <a:latin typeface="Calibri" pitchFamily="34" charset="0"/>
                <a:ea typeface="Calibri" pitchFamily="34" charset="-122"/>
                <a:cs typeface="Calibri" pitchFamily="34" charset="-120"/>
              </a:rPr>
              <a:t>Schema-driven, multi-step government transactions — with validation, payments and integrations built into the flow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One platform, three jobs</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Every transaction is defined as data — so the same engine runs any form</a:t>
            </a:r>
            <a:endParaRPr lang="en-US" sz="1600" dirty="0"/>
          </a:p>
        </p:txBody>
      </p:sp>
      <p:sp>
        <p:nvSpPr>
          <p:cNvPr id="4" name="Shape 2"/>
          <p:cNvSpPr/>
          <p:nvPr/>
        </p:nvSpPr>
        <p:spPr>
          <a:xfrm>
            <a:off x="548640" y="1920240"/>
            <a:ext cx="3429000" cy="3931920"/>
          </a:xfrm>
          <a:prstGeom prst="roundRect">
            <a:avLst>
              <a:gd name="adj" fmla="val 2133"/>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914400" y="2331720"/>
            <a:ext cx="777240" cy="777240"/>
          </a:xfrm>
          <a:prstGeom prst="ellipse">
            <a:avLst/>
          </a:prstGeom>
          <a:solidFill>
            <a:srgbClr val="E3710A"/>
          </a:solidFill>
          <a:ln w="12700">
            <a:solidFill>
              <a:srgbClr val="E3710A"/>
            </a:solidFill>
            <a:prstDash val="solid"/>
          </a:ln>
        </p:spPr>
      </p:sp>
      <p:pic>
        <p:nvPicPr>
          <p:cNvPr id="6" name="Image 0" descr="preencoded.png">    </p:cNvPr>
          <p:cNvPicPr>
            <a:picLocks noChangeAspect="1"/>
          </p:cNvPicPr>
          <p:nvPr/>
        </p:nvPicPr>
        <p:blipFill>
          <a:blip r:embed="rId1"/>
          <a:stretch>
            <a:fillRect/>
          </a:stretch>
        </p:blipFill>
        <p:spPr>
          <a:xfrm>
            <a:off x="1116482" y="2533802"/>
            <a:ext cx="373075" cy="373075"/>
          </a:xfrm>
          <a:prstGeom prst="rect">
            <a:avLst/>
          </a:prstGeom>
        </p:spPr>
      </p:pic>
      <p:sp>
        <p:nvSpPr>
          <p:cNvPr id="7" name="Text 4"/>
          <p:cNvSpPr txBox="1"/>
          <p:nvPr/>
        </p:nvSpPr>
        <p:spPr>
          <a:xfrm>
            <a:off x="914400" y="3337560"/>
            <a:ext cx="2697480" cy="548640"/>
          </a:xfrm>
          <a:prstGeom prst="rect">
            <a:avLst/>
          </a:prstGeom>
          <a:noFill/>
          <a:ln/>
        </p:spPr>
        <p:txBody>
          <a:bodyPr wrap="square" lIns="0" tIns="0" rIns="0" bIns="0" rtlCol="0" anchor="ctr"/>
          <a:lstStyle/>
          <a:p>
            <a:pPr indent="0" marL="0">
              <a:buNone/>
            </a:pPr>
            <a:r>
              <a:rPr lang="en-US" sz="2400" b="1" dirty="0">
                <a:solidFill>
                  <a:srgbClr val="1B2536"/>
                </a:solidFill>
                <a:latin typeface="Cambria" pitchFamily="34" charset="0"/>
                <a:ea typeface="Cambria" pitchFamily="34" charset="-122"/>
                <a:cs typeface="Cambria" pitchFamily="34" charset="-120"/>
              </a:rPr>
              <a:t>Configure</a:t>
            </a:r>
            <a:endParaRPr lang="en-US" sz="2400" dirty="0"/>
          </a:p>
        </p:txBody>
      </p:sp>
      <p:sp>
        <p:nvSpPr>
          <p:cNvPr id="8" name="Text 5"/>
          <p:cNvSpPr txBox="1"/>
          <p:nvPr/>
        </p:nvSpPr>
        <p:spPr>
          <a:xfrm>
            <a:off x="914400" y="3977640"/>
            <a:ext cx="2697480" cy="1554480"/>
          </a:xfrm>
          <a:prstGeom prst="rect">
            <a:avLst/>
          </a:prstGeom>
          <a:noFill/>
          <a:ln/>
        </p:spPr>
        <p:txBody>
          <a:bodyPr wrap="square" lIns="0" tIns="0" rIns="0" bIns="0" rtlCol="0" anchor="t"/>
          <a:lstStyle/>
          <a:p>
            <a:pPr indent="0" marL="0">
              <a:buNone/>
            </a:pPr>
            <a:r>
              <a:rPr lang="en-US" sz="1600" dirty="0">
                <a:solidFill>
                  <a:srgbClr val="3C4A60"/>
                </a:solidFill>
                <a:latin typeface="Calibri" pitchFamily="34" charset="0"/>
                <a:ea typeface="Calibri" pitchFamily="34" charset="-122"/>
                <a:cs typeface="Calibri" pitchFamily="34" charset="-120"/>
              </a:rPr>
              <a:t>Define steps, fields, tabs, choices and rules in a schema. Publish instantly — no code release.</a:t>
            </a:r>
            <a:endParaRPr lang="en-US" sz="1600" dirty="0"/>
          </a:p>
        </p:txBody>
      </p:sp>
      <p:sp>
        <p:nvSpPr>
          <p:cNvPr id="9" name="Shape 6"/>
          <p:cNvSpPr/>
          <p:nvPr/>
        </p:nvSpPr>
        <p:spPr>
          <a:xfrm>
            <a:off x="4343400" y="1920240"/>
            <a:ext cx="3429000" cy="3931920"/>
          </a:xfrm>
          <a:prstGeom prst="roundRect">
            <a:avLst>
              <a:gd name="adj" fmla="val 2133"/>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4709160" y="2331720"/>
            <a:ext cx="777240" cy="777240"/>
          </a:xfrm>
          <a:prstGeom prst="ellipse">
            <a:avLst/>
          </a:prstGeom>
          <a:solidFill>
            <a:srgbClr val="E3710A"/>
          </a:solidFill>
          <a:ln w="12700">
            <a:solidFill>
              <a:srgbClr val="E3710A"/>
            </a:solidFill>
            <a:prstDash val="solid"/>
          </a:ln>
        </p:spPr>
      </p:sp>
      <p:pic>
        <p:nvPicPr>
          <p:cNvPr id="11" name="Image 1" descr="preencoded.png">    </p:cNvPr>
          <p:cNvPicPr>
            <a:picLocks noChangeAspect="1"/>
          </p:cNvPicPr>
          <p:nvPr/>
        </p:nvPicPr>
        <p:blipFill>
          <a:blip r:embed="rId2"/>
          <a:stretch>
            <a:fillRect/>
          </a:stretch>
        </p:blipFill>
        <p:spPr>
          <a:xfrm>
            <a:off x="4911242" y="2533802"/>
            <a:ext cx="373075" cy="373075"/>
          </a:xfrm>
          <a:prstGeom prst="rect">
            <a:avLst/>
          </a:prstGeom>
        </p:spPr>
      </p:pic>
      <p:sp>
        <p:nvSpPr>
          <p:cNvPr id="12" name="Text 8"/>
          <p:cNvSpPr txBox="1"/>
          <p:nvPr/>
        </p:nvSpPr>
        <p:spPr>
          <a:xfrm>
            <a:off x="4709160" y="3337560"/>
            <a:ext cx="2697480" cy="548640"/>
          </a:xfrm>
          <a:prstGeom prst="rect">
            <a:avLst/>
          </a:prstGeom>
          <a:noFill/>
          <a:ln/>
        </p:spPr>
        <p:txBody>
          <a:bodyPr wrap="square" lIns="0" tIns="0" rIns="0" bIns="0" rtlCol="0" anchor="ctr"/>
          <a:lstStyle/>
          <a:p>
            <a:pPr indent="0" marL="0">
              <a:buNone/>
            </a:pPr>
            <a:r>
              <a:rPr lang="en-US" sz="2400" b="1" dirty="0">
                <a:solidFill>
                  <a:srgbClr val="1B2536"/>
                </a:solidFill>
                <a:latin typeface="Cambria" pitchFamily="34" charset="0"/>
                <a:ea typeface="Cambria" pitchFamily="34" charset="-122"/>
                <a:cs typeface="Cambria" pitchFamily="34" charset="-120"/>
              </a:rPr>
              <a:t>Integrate</a:t>
            </a:r>
            <a:endParaRPr lang="en-US" sz="2400" dirty="0"/>
          </a:p>
        </p:txBody>
      </p:sp>
      <p:sp>
        <p:nvSpPr>
          <p:cNvPr id="13" name="Text 9"/>
          <p:cNvSpPr txBox="1"/>
          <p:nvPr/>
        </p:nvSpPr>
        <p:spPr>
          <a:xfrm>
            <a:off x="4709160" y="3977640"/>
            <a:ext cx="2697480" cy="1554480"/>
          </a:xfrm>
          <a:prstGeom prst="rect">
            <a:avLst/>
          </a:prstGeom>
          <a:noFill/>
          <a:ln/>
        </p:spPr>
        <p:txBody>
          <a:bodyPr wrap="square" lIns="0" tIns="0" rIns="0" bIns="0" rtlCol="0" anchor="t"/>
          <a:lstStyle/>
          <a:p>
            <a:pPr indent="0" marL="0">
              <a:buNone/>
            </a:pPr>
            <a:r>
              <a:rPr lang="en-US" sz="1600" dirty="0">
                <a:solidFill>
                  <a:srgbClr val="3C4A60"/>
                </a:solidFill>
                <a:latin typeface="Calibri" pitchFamily="34" charset="0"/>
                <a:ea typeface="Calibri" pitchFamily="34" charset="-122"/>
                <a:cs typeface="Calibri" pitchFamily="34" charset="-120"/>
              </a:rPr>
              <a:t>Drop payment steps and outbound webhooks into the flow to hand off to other systems mid-journey.</a:t>
            </a:r>
            <a:endParaRPr lang="en-US" sz="1600" dirty="0"/>
          </a:p>
        </p:txBody>
      </p:sp>
      <p:sp>
        <p:nvSpPr>
          <p:cNvPr id="14" name="Shape 10"/>
          <p:cNvSpPr/>
          <p:nvPr/>
        </p:nvSpPr>
        <p:spPr>
          <a:xfrm>
            <a:off x="8138160" y="1920240"/>
            <a:ext cx="3429000" cy="3931920"/>
          </a:xfrm>
          <a:prstGeom prst="roundRect">
            <a:avLst>
              <a:gd name="adj" fmla="val 2133"/>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5" name="Shape 11"/>
          <p:cNvSpPr/>
          <p:nvPr/>
        </p:nvSpPr>
        <p:spPr>
          <a:xfrm>
            <a:off x="8503920" y="2331720"/>
            <a:ext cx="777240" cy="777240"/>
          </a:xfrm>
          <a:prstGeom prst="ellipse">
            <a:avLst/>
          </a:prstGeom>
          <a:solidFill>
            <a:srgbClr val="E3710A"/>
          </a:solidFill>
          <a:ln w="12700">
            <a:solidFill>
              <a:srgbClr val="E3710A"/>
            </a:solidFill>
            <a:prstDash val="solid"/>
          </a:ln>
        </p:spPr>
      </p:sp>
      <p:pic>
        <p:nvPicPr>
          <p:cNvPr id="16" name="Image 2" descr="preencoded.png">    </p:cNvPr>
          <p:cNvPicPr>
            <a:picLocks noChangeAspect="1"/>
          </p:cNvPicPr>
          <p:nvPr/>
        </p:nvPicPr>
        <p:blipFill>
          <a:blip r:embed="rId3"/>
          <a:stretch>
            <a:fillRect/>
          </a:stretch>
        </p:blipFill>
        <p:spPr>
          <a:xfrm>
            <a:off x="8706002" y="2533802"/>
            <a:ext cx="373075" cy="373075"/>
          </a:xfrm>
          <a:prstGeom prst="rect">
            <a:avLst/>
          </a:prstGeom>
        </p:spPr>
      </p:pic>
      <p:sp>
        <p:nvSpPr>
          <p:cNvPr id="17" name="Text 12"/>
          <p:cNvSpPr txBox="1"/>
          <p:nvPr/>
        </p:nvSpPr>
        <p:spPr>
          <a:xfrm>
            <a:off x="8503920" y="3337560"/>
            <a:ext cx="2697480" cy="548640"/>
          </a:xfrm>
          <a:prstGeom prst="rect">
            <a:avLst/>
          </a:prstGeom>
          <a:noFill/>
          <a:ln/>
        </p:spPr>
        <p:txBody>
          <a:bodyPr wrap="square" lIns="0" tIns="0" rIns="0" bIns="0" rtlCol="0" anchor="ctr"/>
          <a:lstStyle/>
          <a:p>
            <a:pPr indent="0" marL="0">
              <a:buNone/>
            </a:pPr>
            <a:r>
              <a:rPr lang="en-US" sz="2400" b="1" dirty="0">
                <a:solidFill>
                  <a:srgbClr val="1B2536"/>
                </a:solidFill>
                <a:latin typeface="Cambria" pitchFamily="34" charset="0"/>
                <a:ea typeface="Cambria" pitchFamily="34" charset="-122"/>
                <a:cs typeface="Cambria" pitchFamily="34" charset="-120"/>
              </a:rPr>
              <a:t>Extract</a:t>
            </a:r>
            <a:endParaRPr lang="en-US" sz="2400" dirty="0"/>
          </a:p>
        </p:txBody>
      </p:sp>
      <p:sp>
        <p:nvSpPr>
          <p:cNvPr id="18" name="Text 13"/>
          <p:cNvSpPr txBox="1"/>
          <p:nvPr/>
        </p:nvSpPr>
        <p:spPr>
          <a:xfrm>
            <a:off x="8503920" y="3977640"/>
            <a:ext cx="2697480" cy="1554480"/>
          </a:xfrm>
          <a:prstGeom prst="rect">
            <a:avLst/>
          </a:prstGeom>
          <a:noFill/>
          <a:ln/>
        </p:spPr>
        <p:txBody>
          <a:bodyPr wrap="square" lIns="0" tIns="0" rIns="0" bIns="0" rtlCol="0" anchor="t"/>
          <a:lstStyle/>
          <a:p>
            <a:pPr indent="0" marL="0">
              <a:buNone/>
            </a:pPr>
            <a:r>
              <a:rPr lang="en-US" sz="1600" dirty="0">
                <a:solidFill>
                  <a:srgbClr val="3C4A60"/>
                </a:solidFill>
                <a:latin typeface="Calibri" pitchFamily="34" charset="0"/>
                <a:ea typeface="Calibri" pitchFamily="34" charset="-122"/>
                <a:cs typeface="Calibri" pitchFamily="34" charset="-120"/>
              </a:rPr>
              <a:t>Completed transactions are available through an open API and pushed to subscribers in real time.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How it works</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A transaction definition drives everything downstream</a:t>
            </a:r>
            <a:endParaRPr lang="en-US" sz="1600" dirty="0"/>
          </a:p>
        </p:txBody>
      </p:sp>
      <p:sp>
        <p:nvSpPr>
          <p:cNvPr id="4" name="Shape 2"/>
          <p:cNvSpPr/>
          <p:nvPr/>
        </p:nvSpPr>
        <p:spPr>
          <a:xfrm>
            <a:off x="548640" y="2103120"/>
            <a:ext cx="2468880" cy="2834640"/>
          </a:xfrm>
          <a:prstGeom prst="roundRect">
            <a:avLst>
              <a:gd name="adj" fmla="val 296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1417320" y="2423160"/>
            <a:ext cx="731520" cy="731520"/>
          </a:xfrm>
          <a:prstGeom prst="ellipse">
            <a:avLst/>
          </a:prstGeom>
          <a:solidFill>
            <a:srgbClr val="E3710A"/>
          </a:solidFill>
          <a:ln w="12700">
            <a:solidFill>
              <a:srgbClr val="E3710A"/>
            </a:solidFill>
            <a:prstDash val="solid"/>
          </a:ln>
        </p:spPr>
      </p:sp>
      <p:pic>
        <p:nvPicPr>
          <p:cNvPr id="6" name="Image 0" descr="preencoded.png">    </p:cNvPr>
          <p:cNvPicPr>
            <a:picLocks noChangeAspect="1"/>
          </p:cNvPicPr>
          <p:nvPr/>
        </p:nvPicPr>
        <p:blipFill>
          <a:blip r:embed="rId1"/>
          <a:stretch>
            <a:fillRect/>
          </a:stretch>
        </p:blipFill>
        <p:spPr>
          <a:xfrm>
            <a:off x="1607515" y="2613355"/>
            <a:ext cx="351130" cy="351130"/>
          </a:xfrm>
          <a:prstGeom prst="rect">
            <a:avLst/>
          </a:prstGeom>
        </p:spPr>
      </p:pic>
      <p:sp>
        <p:nvSpPr>
          <p:cNvPr id="7" name="Text 4"/>
          <p:cNvSpPr txBox="1"/>
          <p:nvPr/>
        </p:nvSpPr>
        <p:spPr>
          <a:xfrm>
            <a:off x="731520" y="3291840"/>
            <a:ext cx="2103120" cy="457200"/>
          </a:xfrm>
          <a:prstGeom prst="rect">
            <a:avLst/>
          </a:prstGeom>
          <a:noFill/>
          <a:ln/>
        </p:spPr>
        <p:txBody>
          <a:bodyPr wrap="square" lIns="0" tIns="0" rIns="0" bIns="0" rtlCol="0" anchor="ctr"/>
          <a:lstStyle/>
          <a:p>
            <a:pPr algn="ctr" indent="0" marL="0">
              <a:buNone/>
            </a:pPr>
            <a:r>
              <a:rPr lang="en-US" sz="1700" b="1" dirty="0">
                <a:solidFill>
                  <a:srgbClr val="1B2536"/>
                </a:solidFill>
                <a:latin typeface="Cambria" pitchFamily="34" charset="0"/>
                <a:ea typeface="Cambria" pitchFamily="34" charset="-122"/>
                <a:cs typeface="Cambria" pitchFamily="34" charset="-120"/>
              </a:rPr>
              <a:t>Transaction definition</a:t>
            </a:r>
            <a:endParaRPr lang="en-US" sz="1700" dirty="0"/>
          </a:p>
        </p:txBody>
      </p:sp>
      <p:sp>
        <p:nvSpPr>
          <p:cNvPr id="8" name="Text 5"/>
          <p:cNvSpPr txBox="1"/>
          <p:nvPr/>
        </p:nvSpPr>
        <p:spPr>
          <a:xfrm>
            <a:off x="777240" y="3794760"/>
            <a:ext cx="2011680" cy="1005840"/>
          </a:xfrm>
          <a:prstGeom prst="rect">
            <a:avLst/>
          </a:prstGeom>
          <a:noFill/>
          <a:ln/>
        </p:spPr>
        <p:txBody>
          <a:bodyPr wrap="square" lIns="0" tIns="0" rIns="0" bIns="0" rtlCol="0" anchor="t"/>
          <a:lstStyle/>
          <a:p>
            <a:pPr algn="ctr" indent="0" marL="0">
              <a:buNone/>
            </a:pPr>
            <a:r>
              <a:rPr lang="en-US" sz="1300" dirty="0">
                <a:solidFill>
                  <a:srgbClr val="3C4A60"/>
                </a:solidFill>
                <a:latin typeface="Calibri" pitchFamily="34" charset="0"/>
                <a:ea typeface="Calibri" pitchFamily="34" charset="-122"/>
                <a:cs typeface="Calibri" pitchFamily="34" charset="-120"/>
              </a:rPr>
              <a:t>Schema stored in MongoDB: steps, fields, rules, payment config, webhook URL</a:t>
            </a:r>
            <a:endParaRPr lang="en-US" sz="1300" dirty="0"/>
          </a:p>
        </p:txBody>
      </p:sp>
      <p:sp>
        <p:nvSpPr>
          <p:cNvPr id="9" name="Shape 6"/>
          <p:cNvSpPr/>
          <p:nvPr/>
        </p:nvSpPr>
        <p:spPr>
          <a:xfrm>
            <a:off x="3090672" y="3337560"/>
            <a:ext cx="274320" cy="365760"/>
          </a:xfrm>
          <a:prstGeom prst="rightArrow">
            <a:avLst/>
          </a:prstGeom>
          <a:solidFill>
            <a:srgbClr val="E3710A"/>
          </a:solidFill>
          <a:ln w="12700">
            <a:solidFill>
              <a:srgbClr val="E3710A"/>
            </a:solidFill>
            <a:prstDash val="solid"/>
          </a:ln>
        </p:spPr>
      </p:sp>
      <p:sp>
        <p:nvSpPr>
          <p:cNvPr id="10" name="Shape 7"/>
          <p:cNvSpPr/>
          <p:nvPr/>
        </p:nvSpPr>
        <p:spPr>
          <a:xfrm>
            <a:off x="3429000" y="2103120"/>
            <a:ext cx="2468880" cy="2834640"/>
          </a:xfrm>
          <a:prstGeom prst="roundRect">
            <a:avLst>
              <a:gd name="adj" fmla="val 296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1" name="Shape 8"/>
          <p:cNvSpPr/>
          <p:nvPr/>
        </p:nvSpPr>
        <p:spPr>
          <a:xfrm>
            <a:off x="4297680" y="2423160"/>
            <a:ext cx="731520" cy="731520"/>
          </a:xfrm>
          <a:prstGeom prst="ellipse">
            <a:avLst/>
          </a:prstGeom>
          <a:solidFill>
            <a:srgbClr val="E3710A"/>
          </a:solidFill>
          <a:ln w="12700">
            <a:solidFill>
              <a:srgbClr val="E3710A"/>
            </a:solidFill>
            <a:prstDash val="solid"/>
          </a:ln>
        </p:spPr>
      </p:sp>
      <p:pic>
        <p:nvPicPr>
          <p:cNvPr id="12" name="Image 1" descr="preencoded.png">    </p:cNvPr>
          <p:cNvPicPr>
            <a:picLocks noChangeAspect="1"/>
          </p:cNvPicPr>
          <p:nvPr/>
        </p:nvPicPr>
        <p:blipFill>
          <a:blip r:embed="rId2"/>
          <a:stretch>
            <a:fillRect/>
          </a:stretch>
        </p:blipFill>
        <p:spPr>
          <a:xfrm>
            <a:off x="4487875" y="2613355"/>
            <a:ext cx="351130" cy="351130"/>
          </a:xfrm>
          <a:prstGeom prst="rect">
            <a:avLst/>
          </a:prstGeom>
        </p:spPr>
      </p:pic>
      <p:sp>
        <p:nvSpPr>
          <p:cNvPr id="13" name="Text 9"/>
          <p:cNvSpPr txBox="1"/>
          <p:nvPr/>
        </p:nvSpPr>
        <p:spPr>
          <a:xfrm>
            <a:off x="3611880" y="3291840"/>
            <a:ext cx="2103120" cy="457200"/>
          </a:xfrm>
          <a:prstGeom prst="rect">
            <a:avLst/>
          </a:prstGeom>
          <a:noFill/>
          <a:ln/>
        </p:spPr>
        <p:txBody>
          <a:bodyPr wrap="square" lIns="0" tIns="0" rIns="0" bIns="0" rtlCol="0" anchor="ctr"/>
          <a:lstStyle/>
          <a:p>
            <a:pPr algn="ctr" indent="0" marL="0">
              <a:buNone/>
            </a:pPr>
            <a:r>
              <a:rPr lang="en-US" sz="1700" b="1" dirty="0">
                <a:solidFill>
                  <a:srgbClr val="1B2536"/>
                </a:solidFill>
                <a:latin typeface="Cambria" pitchFamily="34" charset="0"/>
                <a:ea typeface="Cambria" pitchFamily="34" charset="-122"/>
                <a:cs typeface="Cambria" pitchFamily="34" charset="-120"/>
              </a:rPr>
              <a:t>Form engine</a:t>
            </a:r>
            <a:endParaRPr lang="en-US" sz="1700" dirty="0"/>
          </a:p>
        </p:txBody>
      </p:sp>
      <p:sp>
        <p:nvSpPr>
          <p:cNvPr id="14" name="Text 10"/>
          <p:cNvSpPr txBox="1"/>
          <p:nvPr/>
        </p:nvSpPr>
        <p:spPr>
          <a:xfrm>
            <a:off x="3657600" y="3794760"/>
            <a:ext cx="2011680" cy="1005840"/>
          </a:xfrm>
          <a:prstGeom prst="rect">
            <a:avLst/>
          </a:prstGeom>
          <a:noFill/>
          <a:ln/>
        </p:spPr>
        <p:txBody>
          <a:bodyPr wrap="square" lIns="0" tIns="0" rIns="0" bIns="0" rtlCol="0" anchor="t"/>
          <a:lstStyle/>
          <a:p>
            <a:pPr algn="ctr" indent="0" marL="0">
              <a:buNone/>
            </a:pPr>
            <a:r>
              <a:rPr lang="en-US" sz="1300" dirty="0">
                <a:solidFill>
                  <a:srgbClr val="3C4A60"/>
                </a:solidFill>
                <a:latin typeface="Calibri" pitchFamily="34" charset="0"/>
                <a:ea typeface="Calibri" pitchFamily="34" charset="-122"/>
                <a:cs typeface="Calibri" pitchFamily="34" charset="-120"/>
              </a:rPr>
              <a:t>Renders the schema as a branded, multi-step wizard at runtime</a:t>
            </a:r>
            <a:endParaRPr lang="en-US" sz="1300" dirty="0"/>
          </a:p>
        </p:txBody>
      </p:sp>
      <p:sp>
        <p:nvSpPr>
          <p:cNvPr id="15" name="Shape 11"/>
          <p:cNvSpPr/>
          <p:nvPr/>
        </p:nvSpPr>
        <p:spPr>
          <a:xfrm>
            <a:off x="5971032" y="3337560"/>
            <a:ext cx="274320" cy="365760"/>
          </a:xfrm>
          <a:prstGeom prst="rightArrow">
            <a:avLst/>
          </a:prstGeom>
          <a:solidFill>
            <a:srgbClr val="E3710A"/>
          </a:solidFill>
          <a:ln w="12700">
            <a:solidFill>
              <a:srgbClr val="E3710A"/>
            </a:solidFill>
            <a:prstDash val="solid"/>
          </a:ln>
        </p:spPr>
      </p:sp>
      <p:sp>
        <p:nvSpPr>
          <p:cNvPr id="16" name="Shape 12"/>
          <p:cNvSpPr/>
          <p:nvPr/>
        </p:nvSpPr>
        <p:spPr>
          <a:xfrm>
            <a:off x="6309360" y="2103120"/>
            <a:ext cx="2468880" cy="2834640"/>
          </a:xfrm>
          <a:prstGeom prst="roundRect">
            <a:avLst>
              <a:gd name="adj" fmla="val 296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7" name="Shape 13"/>
          <p:cNvSpPr/>
          <p:nvPr/>
        </p:nvSpPr>
        <p:spPr>
          <a:xfrm>
            <a:off x="7178040" y="2423160"/>
            <a:ext cx="731520" cy="731520"/>
          </a:xfrm>
          <a:prstGeom prst="ellipse">
            <a:avLst/>
          </a:prstGeom>
          <a:solidFill>
            <a:srgbClr val="E3710A"/>
          </a:solidFill>
          <a:ln w="12700">
            <a:solidFill>
              <a:srgbClr val="E3710A"/>
            </a:solidFill>
            <a:prstDash val="solid"/>
          </a:ln>
        </p:spPr>
      </p:sp>
      <p:pic>
        <p:nvPicPr>
          <p:cNvPr id="18" name="Image 2" descr="preencoded.png">    </p:cNvPr>
          <p:cNvPicPr>
            <a:picLocks noChangeAspect="1"/>
          </p:cNvPicPr>
          <p:nvPr/>
        </p:nvPicPr>
        <p:blipFill>
          <a:blip r:embed="rId3"/>
          <a:stretch>
            <a:fillRect/>
          </a:stretch>
        </p:blipFill>
        <p:spPr>
          <a:xfrm>
            <a:off x="7368235" y="2613355"/>
            <a:ext cx="351130" cy="351130"/>
          </a:xfrm>
          <a:prstGeom prst="rect">
            <a:avLst/>
          </a:prstGeom>
        </p:spPr>
      </p:pic>
      <p:sp>
        <p:nvSpPr>
          <p:cNvPr id="19" name="Text 14"/>
          <p:cNvSpPr txBox="1"/>
          <p:nvPr/>
        </p:nvSpPr>
        <p:spPr>
          <a:xfrm>
            <a:off x="6492240" y="3291840"/>
            <a:ext cx="2103120" cy="457200"/>
          </a:xfrm>
          <a:prstGeom prst="rect">
            <a:avLst/>
          </a:prstGeom>
          <a:noFill/>
          <a:ln/>
        </p:spPr>
        <p:txBody>
          <a:bodyPr wrap="square" lIns="0" tIns="0" rIns="0" bIns="0" rtlCol="0" anchor="ctr"/>
          <a:lstStyle/>
          <a:p>
            <a:pPr algn="ctr" indent="0" marL="0">
              <a:buNone/>
            </a:pPr>
            <a:r>
              <a:rPr lang="en-US" sz="1700" b="1" dirty="0">
                <a:solidFill>
                  <a:srgbClr val="1B2536"/>
                </a:solidFill>
                <a:latin typeface="Cambria" pitchFamily="34" charset="0"/>
                <a:ea typeface="Cambria" pitchFamily="34" charset="-122"/>
                <a:cs typeface="Cambria" pitchFamily="34" charset="-120"/>
              </a:rPr>
              <a:t>Transaction</a:t>
            </a:r>
            <a:endParaRPr lang="en-US" sz="1700" dirty="0"/>
          </a:p>
        </p:txBody>
      </p:sp>
      <p:sp>
        <p:nvSpPr>
          <p:cNvPr id="20" name="Text 15"/>
          <p:cNvSpPr txBox="1"/>
          <p:nvPr/>
        </p:nvSpPr>
        <p:spPr>
          <a:xfrm>
            <a:off x="6537960" y="3794760"/>
            <a:ext cx="2011680" cy="1005840"/>
          </a:xfrm>
          <a:prstGeom prst="rect">
            <a:avLst/>
          </a:prstGeom>
          <a:noFill/>
          <a:ln/>
        </p:spPr>
        <p:txBody>
          <a:bodyPr wrap="square" lIns="0" tIns="0" rIns="0" bIns="0" rtlCol="0" anchor="t"/>
          <a:lstStyle/>
          <a:p>
            <a:pPr algn="ctr" indent="0" marL="0">
              <a:buNone/>
            </a:pPr>
            <a:r>
              <a:rPr lang="en-US" sz="1300" dirty="0">
                <a:solidFill>
                  <a:srgbClr val="3C4A60"/>
                </a:solidFill>
                <a:latin typeface="Calibri" pitchFamily="34" charset="0"/>
                <a:ea typeface="Calibri" pitchFamily="34" charset="-122"/>
                <a:cs typeface="Calibri" pitchFamily="34" charset="-120"/>
              </a:rPr>
              <a:t>Submitted data saved with status: free → pending → complete</a:t>
            </a:r>
            <a:endParaRPr lang="en-US" sz="1300" dirty="0"/>
          </a:p>
        </p:txBody>
      </p:sp>
      <p:sp>
        <p:nvSpPr>
          <p:cNvPr id="21" name="Shape 16"/>
          <p:cNvSpPr/>
          <p:nvPr/>
        </p:nvSpPr>
        <p:spPr>
          <a:xfrm>
            <a:off x="8851392" y="3337560"/>
            <a:ext cx="274320" cy="365760"/>
          </a:xfrm>
          <a:prstGeom prst="rightArrow">
            <a:avLst/>
          </a:prstGeom>
          <a:solidFill>
            <a:srgbClr val="E3710A"/>
          </a:solidFill>
          <a:ln w="12700">
            <a:solidFill>
              <a:srgbClr val="E3710A"/>
            </a:solidFill>
            <a:prstDash val="solid"/>
          </a:ln>
        </p:spPr>
      </p:sp>
      <p:sp>
        <p:nvSpPr>
          <p:cNvPr id="22" name="Shape 17"/>
          <p:cNvSpPr/>
          <p:nvPr/>
        </p:nvSpPr>
        <p:spPr>
          <a:xfrm>
            <a:off x="9189720" y="2103120"/>
            <a:ext cx="2468880" cy="2834640"/>
          </a:xfrm>
          <a:prstGeom prst="roundRect">
            <a:avLst>
              <a:gd name="adj" fmla="val 296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23" name="Shape 18"/>
          <p:cNvSpPr/>
          <p:nvPr/>
        </p:nvSpPr>
        <p:spPr>
          <a:xfrm>
            <a:off x="10058400" y="2423160"/>
            <a:ext cx="731520" cy="731520"/>
          </a:xfrm>
          <a:prstGeom prst="ellipse">
            <a:avLst/>
          </a:prstGeom>
          <a:solidFill>
            <a:srgbClr val="E3710A"/>
          </a:solidFill>
          <a:ln w="12700">
            <a:solidFill>
              <a:srgbClr val="E3710A"/>
            </a:solidFill>
            <a:prstDash val="solid"/>
          </a:ln>
        </p:spPr>
      </p:sp>
      <p:pic>
        <p:nvPicPr>
          <p:cNvPr id="24" name="Image 3" descr="preencoded.png">    </p:cNvPr>
          <p:cNvPicPr>
            <a:picLocks noChangeAspect="1"/>
          </p:cNvPicPr>
          <p:nvPr/>
        </p:nvPicPr>
        <p:blipFill>
          <a:blip r:embed="rId4"/>
          <a:stretch>
            <a:fillRect/>
          </a:stretch>
        </p:blipFill>
        <p:spPr>
          <a:xfrm>
            <a:off x="10248595" y="2613355"/>
            <a:ext cx="351130" cy="351130"/>
          </a:xfrm>
          <a:prstGeom prst="rect">
            <a:avLst/>
          </a:prstGeom>
        </p:spPr>
      </p:pic>
      <p:sp>
        <p:nvSpPr>
          <p:cNvPr id="25" name="Text 19"/>
          <p:cNvSpPr txBox="1"/>
          <p:nvPr/>
        </p:nvSpPr>
        <p:spPr>
          <a:xfrm>
            <a:off x="9372600" y="3291840"/>
            <a:ext cx="2103120" cy="457200"/>
          </a:xfrm>
          <a:prstGeom prst="rect">
            <a:avLst/>
          </a:prstGeom>
          <a:noFill/>
          <a:ln/>
        </p:spPr>
        <p:txBody>
          <a:bodyPr wrap="square" lIns="0" tIns="0" rIns="0" bIns="0" rtlCol="0" anchor="ctr"/>
          <a:lstStyle/>
          <a:p>
            <a:pPr algn="ctr" indent="0" marL="0">
              <a:buNone/>
            </a:pPr>
            <a:r>
              <a:rPr lang="en-US" sz="1700" b="1" dirty="0">
                <a:solidFill>
                  <a:srgbClr val="1B2536"/>
                </a:solidFill>
                <a:latin typeface="Cambria" pitchFamily="34" charset="0"/>
                <a:ea typeface="Cambria" pitchFamily="34" charset="-122"/>
                <a:cs typeface="Cambria" pitchFamily="34" charset="-120"/>
              </a:rPr>
              <a:t>Downstream</a:t>
            </a:r>
            <a:endParaRPr lang="en-US" sz="1700" dirty="0"/>
          </a:p>
        </p:txBody>
      </p:sp>
      <p:sp>
        <p:nvSpPr>
          <p:cNvPr id="26" name="Text 20"/>
          <p:cNvSpPr txBox="1"/>
          <p:nvPr/>
        </p:nvSpPr>
        <p:spPr>
          <a:xfrm>
            <a:off x="9418320" y="3794760"/>
            <a:ext cx="2011680" cy="1005840"/>
          </a:xfrm>
          <a:prstGeom prst="rect">
            <a:avLst/>
          </a:prstGeom>
          <a:noFill/>
          <a:ln/>
        </p:spPr>
        <p:txBody>
          <a:bodyPr wrap="square" lIns="0" tIns="0" rIns="0" bIns="0" rtlCol="0" anchor="t"/>
          <a:lstStyle/>
          <a:p>
            <a:pPr algn="ctr" indent="0" marL="0">
              <a:buNone/>
            </a:pPr>
            <a:r>
              <a:rPr lang="en-US" sz="1300" dirty="0">
                <a:solidFill>
                  <a:srgbClr val="3C4A60"/>
                </a:solidFill>
                <a:latin typeface="Calibri" pitchFamily="34" charset="0"/>
                <a:ea typeface="Calibri" pitchFamily="34" charset="-122"/>
                <a:cs typeface="Calibri" pitchFamily="34" charset="-120"/>
              </a:rPr>
              <a:t>Stripe payment, outbound webhooks, pull API for 3rd parties</a:t>
            </a:r>
            <a:endParaRPr lang="en-US" sz="1300" dirty="0"/>
          </a:p>
        </p:txBody>
      </p:sp>
      <p:sp>
        <p:nvSpPr>
          <p:cNvPr id="27" name="Text 21"/>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1600" b="1" dirty="0">
                <a:solidFill>
                  <a:srgbClr val="1B2536"/>
                </a:solidFill>
                <a:latin typeface="Calibri" pitchFamily="34" charset="0"/>
                <a:ea typeface="Calibri" pitchFamily="34" charset="-122"/>
                <a:cs typeface="Calibri" pitchFamily="34" charset="-120"/>
              </a:rPr>
              <a:t>Change the definition → every new transaction follows the new rules. </a:t>
            </a:r>
            <a:pPr indent="0" marL="0">
              <a:buNone/>
            </a:pPr>
            <a:r>
              <a:rPr lang="en-US" sz="1600" dirty="0">
                <a:solidFill>
                  <a:srgbClr val="3C4A60"/>
                </a:solidFill>
                <a:latin typeface="Calibri" pitchFamily="34" charset="0"/>
                <a:ea typeface="Calibri" pitchFamily="34" charset="-122"/>
                <a:cs typeface="Calibri" pitchFamily="34" charset="-120"/>
              </a:rPr>
              <a:t>No rebuild, no redeploy.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Configuring the steps</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Steps are declared in the schema — the wizard, navigation and progress come for free</a:t>
            </a:r>
            <a:endParaRPr lang="en-US" sz="1600" dirty="0"/>
          </a:p>
        </p:txBody>
      </p:sp>
      <p:sp>
        <p:nvSpPr>
          <p:cNvPr id="4" name="Shape 2"/>
          <p:cNvSpPr/>
          <p:nvPr/>
        </p:nvSpPr>
        <p:spPr>
          <a:xfrm>
            <a:off x="548640" y="1737360"/>
            <a:ext cx="5760720" cy="4526280"/>
          </a:xfrm>
          <a:prstGeom prst="roundRect">
            <a:avLst>
              <a:gd name="adj" fmla="val 1616"/>
            </a:avLst>
          </a:prstGeom>
          <a:solidFill>
            <a:srgbClr val="0F1623"/>
          </a:solidFill>
          <a:ln w="12700">
            <a:solidFill>
              <a:srgbClr val="0F1623"/>
            </a:solidFill>
            <a:prstDash val="solid"/>
          </a:ln>
        </p:spPr>
      </p:sp>
      <p:sp>
        <p:nvSpPr>
          <p:cNvPr id="5" name="Text 3"/>
          <p:cNvSpPr txBox="1"/>
          <p:nvPr/>
        </p:nvSpPr>
        <p:spPr>
          <a:xfrm>
            <a:off x="777240" y="1874520"/>
            <a:ext cx="5303520"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txndef.schema</a:t>
            </a:r>
            <a:endParaRPr lang="en-US" sz="1100" dirty="0"/>
          </a:p>
        </p:txBody>
      </p:sp>
      <p:sp>
        <p:nvSpPr>
          <p:cNvPr id="6" name="Text 4"/>
          <p:cNvSpPr txBox="1"/>
          <p:nvPr/>
        </p:nvSpPr>
        <p:spPr>
          <a:xfrm>
            <a:off x="777240" y="2194560"/>
            <a:ext cx="5303520" cy="3931920"/>
          </a:xfrm>
          <a:prstGeom prst="rect">
            <a:avLst/>
          </a:prstGeom>
          <a:noFill/>
          <a:ln/>
        </p:spPr>
        <p:txBody>
          <a:bodyPr wrap="square" lIns="0" tIns="0" rIns="0" bIns="0" rtlCol="0" anchor="t"/>
          <a:lstStyle/>
          <a:p>
            <a:pPr indent="0" marL="0">
              <a:buNone/>
            </a:pPr>
            <a:r>
              <a:rPr lang="en-US" sz="1300" dirty="0">
                <a:solidFill>
                  <a:srgbClr val="6A7A92"/>
                </a:solidFill>
                <a:latin typeface="Courier New" pitchFamily="34" charset="0"/>
                <a:ea typeface="Courier New" pitchFamily="34" charset="-122"/>
                <a:cs typeface="Courier New" pitchFamily="34" charset="-120"/>
              </a:rPr>
              <a:t>// Disability Worker Registration (DWRS)</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"component"</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"wizard"</a:t>
            </a:r>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"fields"</a:t>
            </a:r>
            <a:pPr indent="0" marL="0">
              <a:buNone/>
            </a:pPr>
            <a:r>
              <a:rPr lang="en-US" sz="1300" dirty="0">
                <a:solidFill>
                  <a:srgbClr val="D6DEEB"/>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 </a:t>
            </a:r>
            <a:pPr indent="0" marL="0">
              <a:buNone/>
            </a:pPr>
            <a:r>
              <a:rPr lang="en-US" sz="1300" dirty="0">
                <a:solidFill>
                  <a:srgbClr val="F4A259"/>
                </a:solidFill>
                <a:latin typeface="Courier New" pitchFamily="34" charset="0"/>
                <a:ea typeface="Courier New" pitchFamily="34" charset="-122"/>
                <a:cs typeface="Courier New" pitchFamily="34" charset="-120"/>
              </a:rPr>
              <a:t>"name"</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"step-getting-started"</a:t>
            </a:r>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"title"</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"Get Started"</a:t>
            </a:r>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"nextStep"</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"step-registration-type"</a:t>
            </a:r>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"fields"</a:t>
            </a:r>
            <a:pPr indent="0" marL="0">
              <a:buNone/>
            </a:pPr>
            <a:r>
              <a:rPr lang="en-US" sz="1300" dirty="0">
                <a:solidFill>
                  <a:srgbClr val="D6DEEB"/>
                </a:solidFill>
                <a:latin typeface="Courier New" pitchFamily="34" charset="0"/>
                <a:ea typeface="Courier New" pitchFamily="34" charset="-122"/>
                <a:cs typeface="Courier New" pitchFamily="34" charset="-120"/>
              </a:rPr>
              <a:t>: [ </a:t>
            </a:r>
            <a:pPr indent="0" marL="0">
              <a:buNone/>
            </a:pPr>
            <a:r>
              <a:rPr lang="en-US" sz="1300" dirty="0">
                <a:solidFill>
                  <a:srgbClr val="6A7A92"/>
                </a:solidFill>
                <a:latin typeface="Courier New" pitchFamily="34" charset="0"/>
                <a:ea typeface="Courier New" pitchFamily="34" charset="-122"/>
                <a:cs typeface="Courier New" pitchFamily="34" charset="-120"/>
              </a:rPr>
              <a:t>/* tabs, text */</a:t>
            </a:r>
            <a:pPr indent="0" marL="0">
              <a:buNone/>
            </a:pPr>
            <a:r>
              <a:rPr lang="en-US" sz="1300" dirty="0">
                <a:solidFill>
                  <a:srgbClr val="D6DEEB"/>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 </a:t>
            </a:r>
            <a:pPr indent="0" marL="0">
              <a:buNone/>
            </a:pPr>
            <a:r>
              <a:rPr lang="en-US" sz="1300" dirty="0">
                <a:solidFill>
                  <a:srgbClr val="F4A259"/>
                </a:solidFill>
                <a:latin typeface="Courier New" pitchFamily="34" charset="0"/>
                <a:ea typeface="Courier New" pitchFamily="34" charset="-122"/>
                <a:cs typeface="Courier New" pitchFamily="34" charset="-120"/>
              </a:rPr>
              <a:t>"name"</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"step-registration-type"</a:t>
            </a:r>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"nextStep"</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"step-your-details"</a:t>
            </a:r>
            <a:pPr indent="0" marL="0">
              <a:buNone/>
            </a:pPr>
            <a:r>
              <a:rPr lang="en-US" sz="1300" dirty="0">
                <a:solidFill>
                  <a:srgbClr val="D6DEEB"/>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 </a:t>
            </a:r>
            <a:pPr indent="0" marL="0">
              <a:buNone/>
            </a:pPr>
            <a:r>
              <a:rPr lang="en-US" sz="1300" dirty="0">
                <a:solidFill>
                  <a:srgbClr val="F4A259"/>
                </a:solidFill>
                <a:latin typeface="Courier New" pitchFamily="34" charset="0"/>
                <a:ea typeface="Courier New" pitchFamily="34" charset="-122"/>
                <a:cs typeface="Courier New" pitchFamily="34" charset="-120"/>
              </a:rPr>
              <a:t>"name"</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"step-your-details"</a:t>
            </a:r>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"nextStep"</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"payment"</a:t>
            </a:r>
            <a:pPr indent="0" marL="0">
              <a:buNone/>
            </a:pPr>
            <a:r>
              <a:rPr lang="en-US" sz="1300" dirty="0">
                <a:solidFill>
                  <a:srgbClr val="D6DEEB"/>
                </a:solidFill>
                <a:latin typeface="Courier New" pitchFamily="34" charset="0"/>
                <a:ea typeface="Courier New" pitchFamily="34" charset="-122"/>
                <a:cs typeface="Courier New" pitchFamily="34" charset="-120"/>
              </a:rPr>
              <a:t>, …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 </a:t>
            </a:r>
            <a:pPr indent="0" marL="0">
              <a:buNone/>
            </a:pPr>
            <a:r>
              <a:rPr lang="en-US" sz="1300" dirty="0">
                <a:solidFill>
                  <a:srgbClr val="F4A259"/>
                </a:solidFill>
                <a:latin typeface="Courier New" pitchFamily="34" charset="0"/>
                <a:ea typeface="Courier New" pitchFamily="34" charset="-122"/>
                <a:cs typeface="Courier New" pitchFamily="34" charset="-120"/>
              </a:rPr>
              <a:t>"name"</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"payment"</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F4A259"/>
                </a:solidFill>
                <a:latin typeface="Courier New" pitchFamily="34" charset="0"/>
                <a:ea typeface="Courier New" pitchFamily="34" charset="-122"/>
                <a:cs typeface="Courier New" pitchFamily="34" charset="-120"/>
              </a:rPr>
              <a:t>"type"</a:t>
            </a:r>
            <a:pPr indent="0" marL="0">
              <a:buNone/>
            </a:pPr>
            <a:r>
              <a:rPr lang="en-US" sz="1300" dirty="0">
                <a:solidFill>
                  <a:srgbClr val="D6DEEB"/>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"payment"</a:t>
            </a:r>
            <a:pPr indent="0" marL="0">
              <a:buNone/>
            </a:pPr>
            <a:r>
              <a:rPr lang="en-US" sz="1300" dirty="0">
                <a:solidFill>
                  <a:srgbClr val="D6DEEB"/>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6826382" y="1737360"/>
            <a:ext cx="4665411" cy="4069080"/>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8" name="Image 0" descr="/private/tmp/claude-501/-Users-mark-dev-dd-transactions/f282b57c-e8e7-4c69-b84a-ecba442adf8a/scratchpad/crops/editor-steps.png">    </p:cNvPr>
          <p:cNvPicPr>
            <a:picLocks noChangeAspect="1"/>
          </p:cNvPicPr>
          <p:nvPr/>
        </p:nvPicPr>
        <p:blipFill>
          <a:blip r:embed="rId1"/>
          <a:stretch>
            <a:fillRect/>
          </a:stretch>
        </p:blipFill>
        <p:spPr>
          <a:xfrm>
            <a:off x="6826382" y="1737360"/>
            <a:ext cx="4665411" cy="4069080"/>
          </a:xfrm>
          <a:prstGeom prst="rect">
            <a:avLst/>
          </a:prstGeom>
        </p:spPr>
      </p:pic>
      <p:sp>
        <p:nvSpPr>
          <p:cNvPr id="9" name="Text 6"/>
          <p:cNvSpPr txBox="1"/>
          <p:nvPr/>
        </p:nvSpPr>
        <p:spPr>
          <a:xfrm>
            <a:off x="6675120" y="5943600"/>
            <a:ext cx="4967935" cy="365760"/>
          </a:xfrm>
          <a:prstGeom prst="rect">
            <a:avLst/>
          </a:prstGeom>
          <a:noFill/>
          <a:ln/>
        </p:spPr>
        <p:txBody>
          <a:bodyPr wrap="square" lIns="0" tIns="0" rIns="0" bIns="0" rtlCol="0" anchor="ctr"/>
          <a:lstStyle/>
          <a:p>
            <a:pPr algn="ctr" indent="0" marL="0">
              <a:buNone/>
            </a:pPr>
            <a:r>
              <a:rPr lang="en-US" sz="1250" i="1" dirty="0">
                <a:solidFill>
                  <a:srgbClr val="7A8699"/>
                </a:solidFill>
                <a:latin typeface="Calibri" pitchFamily="34" charset="0"/>
                <a:ea typeface="Calibri" pitchFamily="34" charset="-122"/>
                <a:cs typeface="Calibri" pitchFamily="34" charset="-120"/>
              </a:rPr>
              <a:t>Same definition in the Visual Editor: add, reorder and edit steps and fields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What the applicant sees</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The same schema, rendered as a branded Service Victoria–style wizard</a:t>
            </a:r>
            <a:endParaRPr lang="en-US" sz="1600" dirty="0"/>
          </a:p>
        </p:txBody>
      </p:sp>
      <p:sp>
        <p:nvSpPr>
          <p:cNvPr id="4" name="Shape 2"/>
          <p:cNvSpPr/>
          <p:nvPr/>
        </p:nvSpPr>
        <p:spPr>
          <a:xfrm>
            <a:off x="548640" y="2027171"/>
            <a:ext cx="3520440" cy="2895099"/>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5" name="Image 0" descr="/private/tmp/claude-501/-Users-mark-dev-dd-transactions/f282b57c-e8e7-4c69-b84a-ecba442adf8a/scratchpad/crops/dwrs-step1.png">    </p:cNvPr>
          <p:cNvPicPr>
            <a:picLocks noChangeAspect="1"/>
          </p:cNvPicPr>
          <p:nvPr/>
        </p:nvPicPr>
        <p:blipFill>
          <a:blip r:embed="rId1"/>
          <a:stretch>
            <a:fillRect/>
          </a:stretch>
        </p:blipFill>
        <p:spPr>
          <a:xfrm>
            <a:off x="548640" y="2027171"/>
            <a:ext cx="3520440" cy="2895099"/>
          </a:xfrm>
          <a:prstGeom prst="rect">
            <a:avLst/>
          </a:prstGeom>
        </p:spPr>
      </p:pic>
      <p:sp>
        <p:nvSpPr>
          <p:cNvPr id="6" name="Text 3"/>
          <p:cNvSpPr txBox="1"/>
          <p:nvPr/>
        </p:nvSpPr>
        <p:spPr>
          <a:xfrm>
            <a:off x="548640" y="5349240"/>
            <a:ext cx="3520440" cy="365760"/>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1  Get Started</a:t>
            </a:r>
            <a:endParaRPr lang="en-US" sz="1700" dirty="0"/>
          </a:p>
        </p:txBody>
      </p:sp>
      <p:sp>
        <p:nvSpPr>
          <p:cNvPr id="7" name="Text 4"/>
          <p:cNvSpPr txBox="1"/>
          <p:nvPr/>
        </p:nvSpPr>
        <p:spPr>
          <a:xfrm>
            <a:off x="548640" y="5715000"/>
            <a:ext cx="3520440" cy="320040"/>
          </a:xfrm>
          <a:prstGeom prst="rect">
            <a:avLst/>
          </a:prstGeom>
          <a:noFill/>
          <a:ln/>
        </p:spPr>
        <p:txBody>
          <a:bodyPr wrap="square" lIns="0" tIns="0" rIns="0" bIns="0" rtlCol="0" anchor="ctr"/>
          <a:lstStyle/>
          <a:p>
            <a:pPr indent="0" marL="0">
              <a:buNone/>
            </a:pPr>
            <a:r>
              <a:rPr lang="en-US" sz="1400" dirty="0">
                <a:solidFill>
                  <a:srgbClr val="3C4A60"/>
                </a:solidFill>
                <a:latin typeface="Calibri" pitchFamily="34" charset="0"/>
                <a:ea typeface="Calibri" pitchFamily="34" charset="-122"/>
                <a:cs typeface="Calibri" pitchFamily="34" charset="-120"/>
              </a:rPr>
              <a:t>Rich content and tabs</a:t>
            </a:r>
            <a:endParaRPr lang="en-US" sz="1400" dirty="0"/>
          </a:p>
        </p:txBody>
      </p:sp>
      <p:sp>
        <p:nvSpPr>
          <p:cNvPr id="8" name="Shape 5"/>
          <p:cNvSpPr/>
          <p:nvPr/>
        </p:nvSpPr>
        <p:spPr>
          <a:xfrm>
            <a:off x="4407408" y="2297194"/>
            <a:ext cx="3520440" cy="2355053"/>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9" name="Image 1" descr="/private/tmp/claude-501/-Users-mark-dev-dd-transactions/f282b57c-e8e7-4c69-b84a-ecba442adf8a/scratchpad/crops/dwrs-step2.png">    </p:cNvPr>
          <p:cNvPicPr>
            <a:picLocks noChangeAspect="1"/>
          </p:cNvPicPr>
          <p:nvPr/>
        </p:nvPicPr>
        <p:blipFill>
          <a:blip r:embed="rId2"/>
          <a:stretch>
            <a:fillRect/>
          </a:stretch>
        </p:blipFill>
        <p:spPr>
          <a:xfrm>
            <a:off x="4407408" y="2297194"/>
            <a:ext cx="3520440" cy="2355053"/>
          </a:xfrm>
          <a:prstGeom prst="rect">
            <a:avLst/>
          </a:prstGeom>
        </p:spPr>
      </p:pic>
      <p:sp>
        <p:nvSpPr>
          <p:cNvPr id="10" name="Text 6"/>
          <p:cNvSpPr txBox="1"/>
          <p:nvPr/>
        </p:nvSpPr>
        <p:spPr>
          <a:xfrm>
            <a:off x="4407408" y="5349240"/>
            <a:ext cx="3520440" cy="365760"/>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2  Registration Type</a:t>
            </a:r>
            <a:endParaRPr lang="en-US" sz="1700" dirty="0"/>
          </a:p>
        </p:txBody>
      </p:sp>
      <p:sp>
        <p:nvSpPr>
          <p:cNvPr id="11" name="Text 7"/>
          <p:cNvSpPr txBox="1"/>
          <p:nvPr/>
        </p:nvSpPr>
        <p:spPr>
          <a:xfrm>
            <a:off x="4407408" y="5715000"/>
            <a:ext cx="3520440" cy="320040"/>
          </a:xfrm>
          <a:prstGeom prst="rect">
            <a:avLst/>
          </a:prstGeom>
          <a:noFill/>
          <a:ln/>
        </p:spPr>
        <p:txBody>
          <a:bodyPr wrap="square" lIns="0" tIns="0" rIns="0" bIns="0" rtlCol="0" anchor="ctr"/>
          <a:lstStyle/>
          <a:p>
            <a:pPr indent="0" marL="0">
              <a:buNone/>
            </a:pPr>
            <a:r>
              <a:rPr lang="en-US" sz="1400" dirty="0">
                <a:solidFill>
                  <a:srgbClr val="3C4A60"/>
                </a:solidFill>
                <a:latin typeface="Calibri" pitchFamily="34" charset="0"/>
                <a:ea typeface="Calibri" pitchFamily="34" charset="-122"/>
                <a:cs typeface="Calibri" pitchFamily="34" charset="-120"/>
              </a:rPr>
              <a:t>Choices that shape the path</a:t>
            </a:r>
            <a:endParaRPr lang="en-US" sz="1400" dirty="0"/>
          </a:p>
        </p:txBody>
      </p:sp>
      <p:sp>
        <p:nvSpPr>
          <p:cNvPr id="12" name="Shape 8"/>
          <p:cNvSpPr/>
          <p:nvPr/>
        </p:nvSpPr>
        <p:spPr>
          <a:xfrm>
            <a:off x="8266176" y="1835894"/>
            <a:ext cx="3520440" cy="3277651"/>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13" name="Image 2" descr="/private/tmp/claude-501/-Users-mark-dev-dd-transactions/f282b57c-e8e7-4c69-b84a-ecba442adf8a/scratchpad/crops/dwrs-validation.png">    </p:cNvPr>
          <p:cNvPicPr>
            <a:picLocks noChangeAspect="1"/>
          </p:cNvPicPr>
          <p:nvPr/>
        </p:nvPicPr>
        <p:blipFill>
          <a:blip r:embed="rId3"/>
          <a:stretch>
            <a:fillRect/>
          </a:stretch>
        </p:blipFill>
        <p:spPr>
          <a:xfrm>
            <a:off x="8266176" y="1835894"/>
            <a:ext cx="3520440" cy="3277651"/>
          </a:xfrm>
          <a:prstGeom prst="rect">
            <a:avLst/>
          </a:prstGeom>
        </p:spPr>
      </p:pic>
      <p:sp>
        <p:nvSpPr>
          <p:cNvPr id="14" name="Text 9"/>
          <p:cNvSpPr txBox="1"/>
          <p:nvPr/>
        </p:nvSpPr>
        <p:spPr>
          <a:xfrm>
            <a:off x="8266176" y="5349240"/>
            <a:ext cx="3520440" cy="365760"/>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3  Your Details</a:t>
            </a:r>
            <a:endParaRPr lang="en-US" sz="1700" dirty="0"/>
          </a:p>
        </p:txBody>
      </p:sp>
      <p:sp>
        <p:nvSpPr>
          <p:cNvPr id="15" name="Text 10"/>
          <p:cNvSpPr txBox="1"/>
          <p:nvPr/>
        </p:nvSpPr>
        <p:spPr>
          <a:xfrm>
            <a:off x="8266176" y="5715000"/>
            <a:ext cx="3520440" cy="320040"/>
          </a:xfrm>
          <a:prstGeom prst="rect">
            <a:avLst/>
          </a:prstGeom>
          <a:noFill/>
          <a:ln/>
        </p:spPr>
        <p:txBody>
          <a:bodyPr wrap="square" lIns="0" tIns="0" rIns="0" bIns="0" rtlCol="0" anchor="ctr"/>
          <a:lstStyle/>
          <a:p>
            <a:pPr indent="0" marL="0">
              <a:buNone/>
            </a:pPr>
            <a:r>
              <a:rPr lang="en-US" sz="1400" dirty="0">
                <a:solidFill>
                  <a:srgbClr val="3C4A60"/>
                </a:solidFill>
                <a:latin typeface="Calibri" pitchFamily="34" charset="0"/>
                <a:ea typeface="Calibri" pitchFamily="34" charset="-122"/>
                <a:cs typeface="Calibri" pitchFamily="34" charset="-120"/>
              </a:rPr>
              <a:t>Fields with live validation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Built for analysts and developers</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Two synchronised editors over the same definition</a:t>
            </a:r>
            <a:endParaRPr lang="en-US" sz="1600" dirty="0"/>
          </a:p>
        </p:txBody>
      </p:sp>
      <p:sp>
        <p:nvSpPr>
          <p:cNvPr id="4" name="Shape 2"/>
          <p:cNvSpPr/>
          <p:nvPr/>
        </p:nvSpPr>
        <p:spPr>
          <a:xfrm>
            <a:off x="548640" y="1783080"/>
            <a:ext cx="4206240" cy="1920240"/>
          </a:xfrm>
          <a:prstGeom prst="roundRect">
            <a:avLst>
              <a:gd name="adj" fmla="val 3810"/>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822960" y="2057400"/>
            <a:ext cx="594360" cy="594360"/>
          </a:xfrm>
          <a:prstGeom prst="ellipse">
            <a:avLst/>
          </a:prstGeom>
          <a:solidFill>
            <a:srgbClr val="E3710A"/>
          </a:solidFill>
          <a:ln w="12700">
            <a:solidFill>
              <a:srgbClr val="E3710A"/>
            </a:solidFill>
            <a:prstDash val="solid"/>
          </a:ln>
        </p:spPr>
      </p:sp>
      <p:pic>
        <p:nvPicPr>
          <p:cNvPr id="6" name="Image 0" descr="preencoded.png">    </p:cNvPr>
          <p:cNvPicPr>
            <a:picLocks noChangeAspect="1"/>
          </p:cNvPicPr>
          <p:nvPr/>
        </p:nvPicPr>
        <p:blipFill>
          <a:blip r:embed="rId1"/>
          <a:stretch>
            <a:fillRect/>
          </a:stretch>
        </p:blipFill>
        <p:spPr>
          <a:xfrm>
            <a:off x="977494" y="2211934"/>
            <a:ext cx="285293" cy="285293"/>
          </a:xfrm>
          <a:prstGeom prst="rect">
            <a:avLst/>
          </a:prstGeom>
        </p:spPr>
      </p:pic>
      <p:sp>
        <p:nvSpPr>
          <p:cNvPr id="7" name="Text 4"/>
          <p:cNvSpPr txBox="1"/>
          <p:nvPr/>
        </p:nvSpPr>
        <p:spPr>
          <a:xfrm>
            <a:off x="1554480" y="2103120"/>
            <a:ext cx="3017520" cy="502920"/>
          </a:xfrm>
          <a:prstGeom prst="rect">
            <a:avLst/>
          </a:prstGeom>
          <a:noFill/>
          <a:ln/>
        </p:spPr>
        <p:txBody>
          <a:bodyPr wrap="square" lIns="0" tIns="0" rIns="0" bIns="0" rtlCol="0" anchor="ctr"/>
          <a:lstStyle/>
          <a:p>
            <a:pPr indent="0" marL="0">
              <a:buNone/>
            </a:pPr>
            <a:r>
              <a:rPr lang="en-US" sz="2000" b="1" dirty="0">
                <a:solidFill>
                  <a:srgbClr val="1B2536"/>
                </a:solidFill>
                <a:latin typeface="Cambria" pitchFamily="34" charset="0"/>
                <a:ea typeface="Cambria" pitchFamily="34" charset="-122"/>
                <a:cs typeface="Cambria" pitchFamily="34" charset="-120"/>
              </a:rPr>
              <a:t>Visual Editor</a:t>
            </a:r>
            <a:endParaRPr lang="en-US" sz="2000" dirty="0"/>
          </a:p>
        </p:txBody>
      </p:sp>
      <p:sp>
        <p:nvSpPr>
          <p:cNvPr id="8" name="Text 5"/>
          <p:cNvSpPr txBox="1"/>
          <p:nvPr/>
        </p:nvSpPr>
        <p:spPr>
          <a:xfrm>
            <a:off x="822960" y="2743200"/>
            <a:ext cx="3657600" cy="86868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Add and reorder steps, pick field types, attach validation rules and configure payment — no JSON required.</a:t>
            </a:r>
            <a:endParaRPr lang="en-US" sz="1400" dirty="0"/>
          </a:p>
        </p:txBody>
      </p:sp>
      <p:sp>
        <p:nvSpPr>
          <p:cNvPr id="9" name="Shape 6"/>
          <p:cNvSpPr/>
          <p:nvPr/>
        </p:nvSpPr>
        <p:spPr>
          <a:xfrm>
            <a:off x="548640" y="3931920"/>
            <a:ext cx="4206240" cy="1920240"/>
          </a:xfrm>
          <a:prstGeom prst="roundRect">
            <a:avLst>
              <a:gd name="adj" fmla="val 3810"/>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822960" y="4206240"/>
            <a:ext cx="594360" cy="594360"/>
          </a:xfrm>
          <a:prstGeom prst="ellipse">
            <a:avLst/>
          </a:prstGeom>
          <a:solidFill>
            <a:srgbClr val="E3710A"/>
          </a:solidFill>
          <a:ln w="12700">
            <a:solidFill>
              <a:srgbClr val="E3710A"/>
            </a:solidFill>
            <a:prstDash val="solid"/>
          </a:ln>
        </p:spPr>
      </p:sp>
      <p:pic>
        <p:nvPicPr>
          <p:cNvPr id="11" name="Image 1" descr="preencoded.png">    </p:cNvPr>
          <p:cNvPicPr>
            <a:picLocks noChangeAspect="1"/>
          </p:cNvPicPr>
          <p:nvPr/>
        </p:nvPicPr>
        <p:blipFill>
          <a:blip r:embed="rId2"/>
          <a:stretch>
            <a:fillRect/>
          </a:stretch>
        </p:blipFill>
        <p:spPr>
          <a:xfrm>
            <a:off x="977494" y="4360774"/>
            <a:ext cx="285293" cy="285293"/>
          </a:xfrm>
          <a:prstGeom prst="rect">
            <a:avLst/>
          </a:prstGeom>
        </p:spPr>
      </p:pic>
      <p:sp>
        <p:nvSpPr>
          <p:cNvPr id="12" name="Text 8"/>
          <p:cNvSpPr txBox="1"/>
          <p:nvPr/>
        </p:nvSpPr>
        <p:spPr>
          <a:xfrm>
            <a:off x="1554480" y="4251960"/>
            <a:ext cx="3017520" cy="502920"/>
          </a:xfrm>
          <a:prstGeom prst="rect">
            <a:avLst/>
          </a:prstGeom>
          <a:noFill/>
          <a:ln/>
        </p:spPr>
        <p:txBody>
          <a:bodyPr wrap="square" lIns="0" tIns="0" rIns="0" bIns="0" rtlCol="0" anchor="ctr"/>
          <a:lstStyle/>
          <a:p>
            <a:pPr indent="0" marL="0">
              <a:buNone/>
            </a:pPr>
            <a:r>
              <a:rPr lang="en-US" sz="2000" b="1" dirty="0">
                <a:solidFill>
                  <a:srgbClr val="1B2536"/>
                </a:solidFill>
                <a:latin typeface="Cambria" pitchFamily="34" charset="0"/>
                <a:ea typeface="Cambria" pitchFamily="34" charset="-122"/>
                <a:cs typeface="Cambria" pitchFamily="34" charset="-120"/>
              </a:rPr>
              <a:t>JSON Editor</a:t>
            </a:r>
            <a:endParaRPr lang="en-US" sz="2000" dirty="0"/>
          </a:p>
        </p:txBody>
      </p:sp>
      <p:sp>
        <p:nvSpPr>
          <p:cNvPr id="13" name="Text 9"/>
          <p:cNvSpPr txBox="1"/>
          <p:nvPr/>
        </p:nvSpPr>
        <p:spPr>
          <a:xfrm>
            <a:off x="822960" y="4892040"/>
            <a:ext cx="3657600" cy="86868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The full schema with syntax highlighting. Copy between environments, version-control forms, reach every advanced option.</a:t>
            </a:r>
            <a:endParaRPr lang="en-US" sz="1400" dirty="0"/>
          </a:p>
        </p:txBody>
      </p:sp>
      <p:sp>
        <p:nvSpPr>
          <p:cNvPr id="14" name="Shape 10"/>
          <p:cNvSpPr/>
          <p:nvPr/>
        </p:nvSpPr>
        <p:spPr>
          <a:xfrm>
            <a:off x="5120640" y="2074561"/>
            <a:ext cx="6522415" cy="3486118"/>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15" name="Image 2" descr="/private/tmp/claude-501/-Users-mark-dev-dd-transactions/f282b57c-e8e7-4c69-b84a-ecba442adf8a/scratchpad/crops/editor-json.png">    </p:cNvPr>
          <p:cNvPicPr>
            <a:picLocks noChangeAspect="1"/>
          </p:cNvPicPr>
          <p:nvPr/>
        </p:nvPicPr>
        <p:blipFill>
          <a:blip r:embed="rId3"/>
          <a:stretch>
            <a:fillRect/>
          </a:stretch>
        </p:blipFill>
        <p:spPr>
          <a:xfrm>
            <a:off x="5120640" y="2074561"/>
            <a:ext cx="6522415" cy="34861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Validation: configured, not coded</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Pick a rule in the editor — the form enforces it immediately</a:t>
            </a:r>
            <a:endParaRPr lang="en-US" sz="1600" dirty="0"/>
          </a:p>
        </p:txBody>
      </p:sp>
      <p:sp>
        <p:nvSpPr>
          <p:cNvPr id="4" name="Shape 2"/>
          <p:cNvSpPr/>
          <p:nvPr/>
        </p:nvSpPr>
        <p:spPr>
          <a:xfrm>
            <a:off x="548640" y="2013170"/>
            <a:ext cx="5852160" cy="3197421"/>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5" name="Image 0" descr="/private/tmp/claude-501/-Users-mark-dev-dd-transactions/f282b57c-e8e7-4c69-b84a-ecba442adf8a/scratchpad/crops/editor-validation.png">    </p:cNvPr>
          <p:cNvPicPr>
            <a:picLocks noChangeAspect="1"/>
          </p:cNvPicPr>
          <p:nvPr/>
        </p:nvPicPr>
        <p:blipFill>
          <a:blip r:embed="rId1"/>
          <a:stretch>
            <a:fillRect/>
          </a:stretch>
        </p:blipFill>
        <p:spPr>
          <a:xfrm>
            <a:off x="548640" y="2013170"/>
            <a:ext cx="5852160" cy="3197421"/>
          </a:xfrm>
          <a:prstGeom prst="rect">
            <a:avLst/>
          </a:prstGeom>
        </p:spPr>
      </p:pic>
      <p:sp>
        <p:nvSpPr>
          <p:cNvPr id="6" name="Shape 3"/>
          <p:cNvSpPr/>
          <p:nvPr/>
        </p:nvSpPr>
        <p:spPr>
          <a:xfrm>
            <a:off x="6583680" y="3383280"/>
            <a:ext cx="457200" cy="502920"/>
          </a:xfrm>
          <a:prstGeom prst="rightArrow">
            <a:avLst/>
          </a:prstGeom>
          <a:solidFill>
            <a:srgbClr val="E3710A"/>
          </a:solidFill>
          <a:ln w="12700">
            <a:solidFill>
              <a:srgbClr val="E3710A"/>
            </a:solidFill>
            <a:prstDash val="solid"/>
          </a:ln>
        </p:spPr>
      </p:sp>
      <p:sp>
        <p:nvSpPr>
          <p:cNvPr id="7" name="Shape 4"/>
          <p:cNvSpPr/>
          <p:nvPr/>
        </p:nvSpPr>
        <p:spPr>
          <a:xfrm>
            <a:off x="7420034" y="1737360"/>
            <a:ext cx="4026747" cy="3749040"/>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8" name="Image 1" descr="/private/tmp/claude-501/-Users-mark-dev-dd-transactions/f282b57c-e8e7-4c69-b84a-ecba442adf8a/scratchpad/crops/dwrs-validation.png">    </p:cNvPr>
          <p:cNvPicPr>
            <a:picLocks noChangeAspect="1"/>
          </p:cNvPicPr>
          <p:nvPr/>
        </p:nvPicPr>
        <p:blipFill>
          <a:blip r:embed="rId2"/>
          <a:stretch>
            <a:fillRect/>
          </a:stretch>
        </p:blipFill>
        <p:spPr>
          <a:xfrm>
            <a:off x="7420034" y="1737360"/>
            <a:ext cx="4026747" cy="3749040"/>
          </a:xfrm>
          <a:prstGeom prst="rect">
            <a:avLst/>
          </a:prstGeom>
        </p:spPr>
      </p:pic>
      <p:sp>
        <p:nvSpPr>
          <p:cNvPr id="9" name="Text 5"/>
          <p:cNvSpPr txBox="1"/>
          <p:nvPr/>
        </p:nvSpPr>
        <p:spPr>
          <a:xfrm>
            <a:off x="548640" y="5669280"/>
            <a:ext cx="5852160" cy="365760"/>
          </a:xfrm>
          <a:prstGeom prst="rect">
            <a:avLst/>
          </a:prstGeom>
          <a:noFill/>
          <a:ln/>
        </p:spPr>
        <p:txBody>
          <a:bodyPr wrap="square" lIns="0" tIns="0" rIns="0" bIns="0" rtlCol="0" anchor="ctr"/>
          <a:lstStyle/>
          <a:p>
            <a:pPr indent="0" marL="0">
              <a:buNone/>
            </a:pPr>
            <a:r>
              <a:rPr lang="en-US" sz="1500" b="1" dirty="0">
                <a:solidFill>
                  <a:srgbClr val="1B2536"/>
                </a:solidFill>
                <a:latin typeface="Calibri" pitchFamily="34" charset="0"/>
                <a:ea typeface="Calibri" pitchFamily="34" charset="-122"/>
                <a:cs typeface="Calibri" pitchFamily="34" charset="-120"/>
              </a:rPr>
              <a:t>Editor: </a:t>
            </a:r>
            <a:pPr indent="0" marL="0">
              <a:buNone/>
            </a:pPr>
            <a:r>
              <a:rPr lang="en-US" sz="1500" dirty="0">
                <a:solidFill>
                  <a:srgbClr val="3C4A60"/>
                </a:solidFill>
                <a:latin typeface="Calibri" pitchFamily="34" charset="0"/>
                <a:ea typeface="Calibri" pitchFamily="34" charset="-122"/>
                <a:cs typeface="Calibri" pitchFamily="34" charset="-120"/>
              </a:rPr>
              <a:t>NWSD ID must be digits, exactly 8 long</a:t>
            </a:r>
            <a:endParaRPr lang="en-US" sz="1500" dirty="0"/>
          </a:p>
        </p:txBody>
      </p:sp>
      <p:sp>
        <p:nvSpPr>
          <p:cNvPr id="10" name="Text 6"/>
          <p:cNvSpPr txBox="1"/>
          <p:nvPr/>
        </p:nvSpPr>
        <p:spPr>
          <a:xfrm>
            <a:off x="7223760" y="5669280"/>
            <a:ext cx="4419295" cy="365760"/>
          </a:xfrm>
          <a:prstGeom prst="rect">
            <a:avLst/>
          </a:prstGeom>
          <a:noFill/>
          <a:ln/>
        </p:spPr>
        <p:txBody>
          <a:bodyPr wrap="square" lIns="0" tIns="0" rIns="0" bIns="0" rtlCol="0" anchor="ctr"/>
          <a:lstStyle/>
          <a:p>
            <a:pPr indent="0" marL="0">
              <a:buNone/>
            </a:pPr>
            <a:r>
              <a:rPr lang="en-US" sz="1500" b="1" dirty="0">
                <a:solidFill>
                  <a:srgbClr val="1B2536"/>
                </a:solidFill>
                <a:latin typeface="Calibri" pitchFamily="34" charset="0"/>
                <a:ea typeface="Calibri" pitchFamily="34" charset="-122"/>
                <a:cs typeface="Calibri" pitchFamily="34" charset="-120"/>
              </a:rPr>
              <a:t>Applicant: </a:t>
            </a:r>
            <a:pPr indent="0" marL="0">
              <a:buNone/>
            </a:pPr>
            <a:r>
              <a:rPr lang="en-US" sz="1500" dirty="0">
                <a:solidFill>
                  <a:srgbClr val="3C4A60"/>
                </a:solidFill>
                <a:latin typeface="Calibri" pitchFamily="34" charset="0"/>
                <a:ea typeface="Calibri" pitchFamily="34" charset="-122"/>
                <a:cs typeface="Calibri" pitchFamily="34" charset="-120"/>
              </a:rPr>
              <a:t>can’t submit until it’s right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Validation at every layer</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Simple rules are declarative — complex logic plugs into the same pipeline</a:t>
            </a:r>
            <a:endParaRPr lang="en-US" sz="1600" dirty="0"/>
          </a:p>
        </p:txBody>
      </p:sp>
      <p:sp>
        <p:nvSpPr>
          <p:cNvPr id="4" name="Shape 2"/>
          <p:cNvSpPr/>
          <p:nvPr/>
        </p:nvSpPr>
        <p:spPr>
          <a:xfrm>
            <a:off x="548640" y="1737360"/>
            <a:ext cx="4937760" cy="2331720"/>
          </a:xfrm>
          <a:prstGeom prst="roundRect">
            <a:avLst>
              <a:gd name="adj" fmla="val 3137"/>
            </a:avLst>
          </a:prstGeom>
          <a:solidFill>
            <a:srgbClr val="0F1623"/>
          </a:solidFill>
          <a:ln w="12700">
            <a:solidFill>
              <a:srgbClr val="0F1623"/>
            </a:solidFill>
            <a:prstDash val="solid"/>
          </a:ln>
        </p:spPr>
      </p:sp>
      <p:sp>
        <p:nvSpPr>
          <p:cNvPr id="5" name="Text 3"/>
          <p:cNvSpPr txBox="1"/>
          <p:nvPr/>
        </p:nvSpPr>
        <p:spPr>
          <a:xfrm>
            <a:off x="777240" y="1874520"/>
            <a:ext cx="4480560"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Field rule — from the live DWRS form</a:t>
            </a:r>
            <a:endParaRPr lang="en-US" sz="1100" dirty="0"/>
          </a:p>
        </p:txBody>
      </p:sp>
      <p:sp>
        <p:nvSpPr>
          <p:cNvPr id="6" name="Text 4"/>
          <p:cNvSpPr txBox="1"/>
          <p:nvPr/>
        </p:nvSpPr>
        <p:spPr>
          <a:xfrm>
            <a:off x="777240" y="2194560"/>
            <a:ext cx="4480560" cy="1737360"/>
          </a:xfrm>
          <a:prstGeom prst="rect">
            <a:avLst/>
          </a:prstGeom>
          <a:noFill/>
          <a:ln/>
        </p:spPr>
        <p:txBody>
          <a:bodyPr wrap="square" lIns="0" tIns="0" rIns="0" bIns="0" rtlCol="0" anchor="t"/>
          <a:lstStyle/>
          <a:p>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F4A259"/>
                </a:solidFill>
                <a:latin typeface="Courier New" pitchFamily="34" charset="0"/>
                <a:ea typeface="Courier New" pitchFamily="34" charset="-122"/>
                <a:cs typeface="Courier New" pitchFamily="34" charset="-120"/>
              </a:rPr>
              <a:t>"component"</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"text-field"</a:t>
            </a:r>
            <a:pPr indent="0" marL="0">
              <a:buNone/>
            </a:pPr>
            <a:r>
              <a:rPr lang="en-US" sz="1200" dirty="0">
                <a:solidFill>
                  <a:srgbClr val="D6DEEB"/>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F4A259"/>
                </a:solidFill>
                <a:latin typeface="Courier New" pitchFamily="34" charset="0"/>
                <a:ea typeface="Courier New" pitchFamily="34" charset="-122"/>
                <a:cs typeface="Courier New" pitchFamily="34" charset="-120"/>
              </a:rPr>
              <a:t>"name"</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"NWSD ID"</a:t>
            </a:r>
            <a:pPr indent="0" marL="0">
              <a:buNone/>
            </a:pPr>
            <a:r>
              <a:rPr lang="en-US" sz="1200" dirty="0">
                <a:solidFill>
                  <a:srgbClr val="D6DEEB"/>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F4A259"/>
                </a:solidFill>
                <a:latin typeface="Courier New" pitchFamily="34" charset="0"/>
                <a:ea typeface="Courier New" pitchFamily="34" charset="-122"/>
                <a:cs typeface="Courier New" pitchFamily="34" charset="-120"/>
              </a:rPr>
              <a:t>"validate"</a:t>
            </a:r>
            <a:pPr indent="0" marL="0">
              <a:buNone/>
            </a:pPr>
            <a:r>
              <a:rPr lang="en-US" sz="1200" dirty="0">
                <a:solidFill>
                  <a:srgbClr val="D6DEEB"/>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6DEEB"/>
                </a:solidFill>
                <a:latin typeface="Courier New" pitchFamily="34" charset="0"/>
                <a:ea typeface="Courier New" pitchFamily="34" charset="-122"/>
                <a:cs typeface="Courier New" pitchFamily="34" charset="-120"/>
              </a:rPr>
              <a:t>    { </a:t>
            </a:r>
            <a:pPr indent="0" marL="0">
              <a:buNone/>
            </a:pPr>
            <a:r>
              <a:rPr lang="en-US" sz="1200" dirty="0">
                <a:solidFill>
                  <a:srgbClr val="F4A259"/>
                </a:solidFill>
                <a:latin typeface="Courier New" pitchFamily="34" charset="0"/>
                <a:ea typeface="Courier New" pitchFamily="34" charset="-122"/>
                <a:cs typeface="Courier New" pitchFamily="34" charset="-120"/>
              </a:rPr>
              <a:t>"type"</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"pattern"</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F4A259"/>
                </a:solidFill>
                <a:latin typeface="Courier New" pitchFamily="34" charset="0"/>
                <a:ea typeface="Courier New" pitchFamily="34" charset="-122"/>
                <a:cs typeface="Courier New" pitchFamily="34" charset="-120"/>
              </a:rPr>
              <a:t>"pattern"</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"[0-9]+"</a:t>
            </a:r>
            <a:pPr indent="0" marL="0">
              <a:buNone/>
            </a:pPr>
            <a:r>
              <a:rPr lang="en-US" sz="1200" dirty="0">
                <a:solidFill>
                  <a:srgbClr val="D6DEEB"/>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6DEEB"/>
                </a:solidFill>
                <a:latin typeface="Courier New" pitchFamily="34" charset="0"/>
                <a:ea typeface="Courier New" pitchFamily="34" charset="-122"/>
                <a:cs typeface="Courier New" pitchFamily="34" charset="-120"/>
              </a:rPr>
              <a:t>    { </a:t>
            </a:r>
            <a:pPr indent="0" marL="0">
              <a:buNone/>
            </a:pPr>
            <a:r>
              <a:rPr lang="en-US" sz="1200" dirty="0">
                <a:solidFill>
                  <a:srgbClr val="F4A259"/>
                </a:solidFill>
                <a:latin typeface="Courier New" pitchFamily="34" charset="0"/>
                <a:ea typeface="Courier New" pitchFamily="34" charset="-122"/>
                <a:cs typeface="Courier New" pitchFamily="34" charset="-120"/>
              </a:rPr>
              <a:t>"type"</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9CDCFE"/>
                </a:solidFill>
                <a:latin typeface="Courier New" pitchFamily="34" charset="0"/>
                <a:ea typeface="Courier New" pitchFamily="34" charset="-122"/>
                <a:cs typeface="Courier New" pitchFamily="34" charset="-120"/>
              </a:rPr>
              <a:t>"exact-length"</a:t>
            </a:r>
            <a:pPr indent="0" marL="0">
              <a:buNone/>
            </a:pPr>
            <a:r>
              <a:rPr lang="en-US" sz="1200" dirty="0">
                <a:solidFill>
                  <a:srgbClr val="D6DEEB"/>
                </a:solidFill>
                <a:latin typeface="Courier New" pitchFamily="34" charset="0"/>
                <a:ea typeface="Courier New" pitchFamily="34" charset="-122"/>
                <a:cs typeface="Courier New" pitchFamily="34" charset="-120"/>
              </a:rPr>
              <a:t>, </a:t>
            </a:r>
            <a:pPr indent="0" marL="0">
              <a:buNone/>
            </a:pPr>
            <a:r>
              <a:rPr lang="en-US" sz="1200" dirty="0">
                <a:solidFill>
                  <a:srgbClr val="F4A259"/>
                </a:solidFill>
                <a:latin typeface="Courier New" pitchFamily="34" charset="0"/>
                <a:ea typeface="Courier New" pitchFamily="34" charset="-122"/>
                <a:cs typeface="Courier New" pitchFamily="34" charset="-120"/>
              </a:rPr>
              <a:t>"threshold"</a:t>
            </a:r>
            <a:pPr indent="0" marL="0">
              <a:buNone/>
            </a:pPr>
            <a:r>
              <a:rPr lang="en-US" sz="1200" dirty="0">
                <a:solidFill>
                  <a:srgbClr val="D6DEEB"/>
                </a:solidFill>
                <a:latin typeface="Courier New" pitchFamily="34" charset="0"/>
                <a:ea typeface="Courier New" pitchFamily="34" charset="-122"/>
                <a:cs typeface="Courier New" pitchFamily="34" charset="-120"/>
              </a:rPr>
              <a:t>: 8 }</a:t>
            </a:r>
            <a:endParaRPr lang="en-US" sz="1200" dirty="0"/>
          </a:p>
          <a:p>
            <a:pPr indent="0" marL="0">
              <a:buNone/>
            </a:pPr>
            <a:r>
              <a:rPr lang="en-US" sz="1200" dirty="0">
                <a:solidFill>
                  <a:srgbClr val="D6DEEB"/>
                </a:solidFill>
                <a:latin typeface="Courier New" pitchFamily="34" charset="0"/>
                <a:ea typeface="Courier New" pitchFamily="34" charset="-122"/>
                <a:cs typeface="Courier New" pitchFamily="34" charset="-120"/>
              </a:rPr>
              <a:t>  ] }</a:t>
            </a:r>
            <a:endParaRPr lang="en-US" sz="1200" dirty="0"/>
          </a:p>
        </p:txBody>
      </p:sp>
      <p:sp>
        <p:nvSpPr>
          <p:cNvPr id="7" name="Text 5"/>
          <p:cNvSpPr txBox="1"/>
          <p:nvPr/>
        </p:nvSpPr>
        <p:spPr>
          <a:xfrm>
            <a:off x="548640" y="4251960"/>
            <a:ext cx="4937760" cy="731520"/>
          </a:xfrm>
          <a:prstGeom prst="rect">
            <a:avLst/>
          </a:prstGeom>
          <a:noFill/>
          <a:ln/>
        </p:spPr>
        <p:txBody>
          <a:bodyPr wrap="square" lIns="0" tIns="0" rIns="0" bIns="0" rtlCol="0" anchor="ctr"/>
          <a:lstStyle/>
          <a:p>
            <a:pPr indent="0" marL="0">
              <a:buNone/>
            </a:pPr>
            <a:r>
              <a:rPr lang="en-US" sz="1400" dirty="0">
                <a:solidFill>
                  <a:srgbClr val="3C4A60"/>
                </a:solidFill>
                <a:latin typeface="Calibri" pitchFamily="34" charset="0"/>
                <a:ea typeface="Calibri" pitchFamily="34" charset="-122"/>
                <a:cs typeface="Calibri" pitchFamily="34" charset="-120"/>
              </a:rPr>
              <a:t>Required · pattern · min / max length · exact length · numeric ranges · URL · conditional visibility</a:t>
            </a:r>
            <a:endParaRPr lang="en-US" sz="1400" dirty="0"/>
          </a:p>
        </p:txBody>
      </p:sp>
      <p:sp>
        <p:nvSpPr>
          <p:cNvPr id="8" name="Shape 6"/>
          <p:cNvSpPr/>
          <p:nvPr/>
        </p:nvSpPr>
        <p:spPr>
          <a:xfrm>
            <a:off x="5943600" y="1737360"/>
            <a:ext cx="5699455" cy="960120"/>
          </a:xfrm>
          <a:prstGeom prst="roundRect">
            <a:avLst>
              <a:gd name="adj" fmla="val 7619"/>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9" name="Shape 7"/>
          <p:cNvSpPr/>
          <p:nvPr/>
        </p:nvSpPr>
        <p:spPr>
          <a:xfrm>
            <a:off x="6172200" y="1920240"/>
            <a:ext cx="594360" cy="594360"/>
          </a:xfrm>
          <a:prstGeom prst="ellipse">
            <a:avLst/>
          </a:prstGeom>
          <a:solidFill>
            <a:srgbClr val="1B2536"/>
          </a:solidFill>
          <a:ln w="12700">
            <a:solidFill>
              <a:srgbClr val="1B2536"/>
            </a:solidFill>
            <a:prstDash val="solid"/>
          </a:ln>
        </p:spPr>
      </p:sp>
      <p:pic>
        <p:nvPicPr>
          <p:cNvPr id="10" name="Image 0" descr="preencoded.png">    </p:cNvPr>
          <p:cNvPicPr>
            <a:picLocks noChangeAspect="1"/>
          </p:cNvPicPr>
          <p:nvPr/>
        </p:nvPicPr>
        <p:blipFill>
          <a:blip r:embed="rId1"/>
          <a:stretch>
            <a:fillRect/>
          </a:stretch>
        </p:blipFill>
        <p:spPr>
          <a:xfrm>
            <a:off x="6326734" y="2074774"/>
            <a:ext cx="285293" cy="285293"/>
          </a:xfrm>
          <a:prstGeom prst="rect">
            <a:avLst/>
          </a:prstGeom>
        </p:spPr>
      </p:pic>
      <p:sp>
        <p:nvSpPr>
          <p:cNvPr id="11" name="Text 8"/>
          <p:cNvSpPr txBox="1"/>
          <p:nvPr/>
        </p:nvSpPr>
        <p:spPr>
          <a:xfrm>
            <a:off x="6995160" y="1847088"/>
            <a:ext cx="4465015" cy="320040"/>
          </a:xfrm>
          <a:prstGeom prst="rect">
            <a:avLst/>
          </a:prstGeom>
          <a:noFill/>
          <a:ln/>
        </p:spPr>
        <p:txBody>
          <a:bodyPr wrap="square" lIns="0" tIns="0" rIns="0" bIns="0" rtlCol="0" anchor="ctr"/>
          <a:lstStyle/>
          <a:p>
            <a:pPr indent="0" marL="0">
              <a:buNone/>
            </a:pPr>
            <a:r>
              <a:rPr lang="en-US" sz="1600" b="1" dirty="0">
                <a:solidFill>
                  <a:srgbClr val="1B2536"/>
                </a:solidFill>
                <a:latin typeface="Cambria" pitchFamily="34" charset="0"/>
                <a:ea typeface="Cambria" pitchFamily="34" charset="-122"/>
                <a:cs typeface="Cambria" pitchFamily="34" charset="-120"/>
              </a:rPr>
              <a:t>Field</a:t>
            </a:r>
            <a:endParaRPr lang="en-US" sz="1600" dirty="0"/>
          </a:p>
        </p:txBody>
      </p:sp>
      <p:sp>
        <p:nvSpPr>
          <p:cNvPr id="12" name="Text 9"/>
          <p:cNvSpPr txBox="1"/>
          <p:nvPr/>
        </p:nvSpPr>
        <p:spPr>
          <a:xfrm>
            <a:off x="6995160" y="2167128"/>
            <a:ext cx="4465015" cy="457200"/>
          </a:xfrm>
          <a:prstGeom prst="rect">
            <a:avLst/>
          </a:prstGeom>
          <a:noFill/>
          <a:ln/>
        </p:spPr>
        <p:txBody>
          <a:bodyPr wrap="square" lIns="0" tIns="0" rIns="0" bIns="0" rtlCol="0" anchor="t"/>
          <a:lstStyle/>
          <a:p>
            <a:pPr indent="0" marL="0">
              <a:buNone/>
            </a:pPr>
            <a:r>
              <a:rPr lang="en-US" sz="1250" dirty="0">
                <a:solidFill>
                  <a:srgbClr val="3C4A60"/>
                </a:solidFill>
                <a:latin typeface="Calibri" pitchFamily="34" charset="0"/>
                <a:ea typeface="Calibri" pitchFamily="34" charset="-122"/>
                <a:cs typeface="Calibri" pitchFamily="34" charset="-120"/>
              </a:rPr>
              <a:t>Formats, lengths, patterns, required — instant feedback as the user types</a:t>
            </a:r>
            <a:endParaRPr lang="en-US" sz="1250" dirty="0"/>
          </a:p>
        </p:txBody>
      </p:sp>
      <p:sp>
        <p:nvSpPr>
          <p:cNvPr id="13" name="Shape 10"/>
          <p:cNvSpPr/>
          <p:nvPr/>
        </p:nvSpPr>
        <p:spPr>
          <a:xfrm>
            <a:off x="5943600" y="2852928"/>
            <a:ext cx="5699455" cy="960120"/>
          </a:xfrm>
          <a:prstGeom prst="roundRect">
            <a:avLst>
              <a:gd name="adj" fmla="val 7619"/>
            </a:avLst>
          </a:prstGeom>
          <a:solidFill>
            <a:srgbClr val="F4F4F4"/>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6172200" y="3035808"/>
            <a:ext cx="594360" cy="594360"/>
          </a:xfrm>
          <a:prstGeom prst="ellipse">
            <a:avLst/>
          </a:prstGeom>
          <a:solidFill>
            <a:srgbClr val="1B2536"/>
          </a:solidFill>
          <a:ln w="12700">
            <a:solidFill>
              <a:srgbClr val="1B2536"/>
            </a:solidFill>
            <a:prstDash val="solid"/>
          </a:ln>
        </p:spPr>
      </p:sp>
      <p:pic>
        <p:nvPicPr>
          <p:cNvPr id="15" name="Image 1" descr="preencoded.png">    </p:cNvPr>
          <p:cNvPicPr>
            <a:picLocks noChangeAspect="1"/>
          </p:cNvPicPr>
          <p:nvPr/>
        </p:nvPicPr>
        <p:blipFill>
          <a:blip r:embed="rId2"/>
          <a:stretch>
            <a:fillRect/>
          </a:stretch>
        </p:blipFill>
        <p:spPr>
          <a:xfrm>
            <a:off x="6326734" y="3190342"/>
            <a:ext cx="285293" cy="285293"/>
          </a:xfrm>
          <a:prstGeom prst="rect">
            <a:avLst/>
          </a:prstGeom>
        </p:spPr>
      </p:pic>
      <p:sp>
        <p:nvSpPr>
          <p:cNvPr id="16" name="Text 12"/>
          <p:cNvSpPr txBox="1"/>
          <p:nvPr/>
        </p:nvSpPr>
        <p:spPr>
          <a:xfrm>
            <a:off x="6995160" y="2962656"/>
            <a:ext cx="4465015" cy="320040"/>
          </a:xfrm>
          <a:prstGeom prst="rect">
            <a:avLst/>
          </a:prstGeom>
          <a:noFill/>
          <a:ln/>
        </p:spPr>
        <p:txBody>
          <a:bodyPr wrap="square" lIns="0" tIns="0" rIns="0" bIns="0" rtlCol="0" anchor="ctr"/>
          <a:lstStyle/>
          <a:p>
            <a:pPr indent="0" marL="0">
              <a:buNone/>
            </a:pPr>
            <a:r>
              <a:rPr lang="en-US" sz="1600" b="1" dirty="0">
                <a:solidFill>
                  <a:srgbClr val="1B2536"/>
                </a:solidFill>
                <a:latin typeface="Cambria" pitchFamily="34" charset="0"/>
                <a:ea typeface="Cambria" pitchFamily="34" charset="-122"/>
                <a:cs typeface="Cambria" pitchFamily="34" charset="-120"/>
              </a:rPr>
              <a:t>Step &amp; cross-field</a:t>
            </a:r>
            <a:endParaRPr lang="en-US" sz="1600" dirty="0"/>
          </a:p>
        </p:txBody>
      </p:sp>
      <p:sp>
        <p:nvSpPr>
          <p:cNvPr id="17" name="Text 13"/>
          <p:cNvSpPr txBox="1"/>
          <p:nvPr/>
        </p:nvSpPr>
        <p:spPr>
          <a:xfrm>
            <a:off x="6995160" y="3282696"/>
            <a:ext cx="4465015" cy="457200"/>
          </a:xfrm>
          <a:prstGeom prst="rect">
            <a:avLst/>
          </a:prstGeom>
          <a:noFill/>
          <a:ln/>
        </p:spPr>
        <p:txBody>
          <a:bodyPr wrap="square" lIns="0" tIns="0" rIns="0" bIns="0" rtlCol="0" anchor="t"/>
          <a:lstStyle/>
          <a:p>
            <a:pPr indent="0" marL="0">
              <a:buNone/>
            </a:pPr>
            <a:r>
              <a:rPr lang="en-US" sz="1250" dirty="0">
                <a:solidFill>
                  <a:srgbClr val="3C4A60"/>
                </a:solidFill>
                <a:latin typeface="Calibri" pitchFamily="34" charset="0"/>
                <a:ea typeface="Calibri" pitchFamily="34" charset="-122"/>
                <a:cs typeface="Calibri" pitchFamily="34" charset="-120"/>
              </a:rPr>
              <a:t>Show / hide on answers, branch paths, compare fields against each other</a:t>
            </a:r>
            <a:endParaRPr lang="en-US" sz="1250" dirty="0"/>
          </a:p>
        </p:txBody>
      </p:sp>
      <p:sp>
        <p:nvSpPr>
          <p:cNvPr id="18" name="Shape 14"/>
          <p:cNvSpPr/>
          <p:nvPr/>
        </p:nvSpPr>
        <p:spPr>
          <a:xfrm>
            <a:off x="5943600" y="3968496"/>
            <a:ext cx="5699455" cy="960120"/>
          </a:xfrm>
          <a:prstGeom prst="roundRect">
            <a:avLst>
              <a:gd name="adj" fmla="val 7619"/>
            </a:avLst>
          </a:prstGeom>
          <a:solidFill>
            <a:srgbClr val="FDF1E6"/>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9" name="Shape 15"/>
          <p:cNvSpPr/>
          <p:nvPr/>
        </p:nvSpPr>
        <p:spPr>
          <a:xfrm>
            <a:off x="6172200" y="4151376"/>
            <a:ext cx="594360" cy="594360"/>
          </a:xfrm>
          <a:prstGeom prst="ellipse">
            <a:avLst/>
          </a:prstGeom>
          <a:solidFill>
            <a:srgbClr val="E3710A"/>
          </a:solidFill>
          <a:ln w="12700">
            <a:solidFill>
              <a:srgbClr val="E3710A"/>
            </a:solidFill>
            <a:prstDash val="solid"/>
          </a:ln>
        </p:spPr>
      </p:sp>
      <p:pic>
        <p:nvPicPr>
          <p:cNvPr id="20" name="Image 2" descr="preencoded.png">    </p:cNvPr>
          <p:cNvPicPr>
            <a:picLocks noChangeAspect="1"/>
          </p:cNvPicPr>
          <p:nvPr/>
        </p:nvPicPr>
        <p:blipFill>
          <a:blip r:embed="rId3"/>
          <a:stretch>
            <a:fillRect/>
          </a:stretch>
        </p:blipFill>
        <p:spPr>
          <a:xfrm>
            <a:off x="6326734" y="4305910"/>
            <a:ext cx="285293" cy="285293"/>
          </a:xfrm>
          <a:prstGeom prst="rect">
            <a:avLst/>
          </a:prstGeom>
        </p:spPr>
      </p:pic>
      <p:sp>
        <p:nvSpPr>
          <p:cNvPr id="21" name="Text 16"/>
          <p:cNvSpPr txBox="1"/>
          <p:nvPr/>
        </p:nvSpPr>
        <p:spPr>
          <a:xfrm>
            <a:off x="6995160" y="4078224"/>
            <a:ext cx="4465015" cy="320040"/>
          </a:xfrm>
          <a:prstGeom prst="rect">
            <a:avLst/>
          </a:prstGeom>
          <a:noFill/>
          <a:ln/>
        </p:spPr>
        <p:txBody>
          <a:bodyPr wrap="square" lIns="0" tIns="0" rIns="0" bIns="0" rtlCol="0" anchor="ctr"/>
          <a:lstStyle/>
          <a:p>
            <a:pPr indent="0" marL="0">
              <a:buNone/>
            </a:pPr>
            <a:r>
              <a:rPr lang="en-US" sz="1600" b="1" dirty="0">
                <a:solidFill>
                  <a:srgbClr val="1B2536"/>
                </a:solidFill>
                <a:latin typeface="Cambria" pitchFamily="34" charset="0"/>
                <a:ea typeface="Cambria" pitchFamily="34" charset="-122"/>
                <a:cs typeface="Cambria" pitchFamily="34" charset="-120"/>
              </a:rPr>
              <a:t>Server-side</a:t>
            </a:r>
            <a:endParaRPr lang="en-US" sz="1600" dirty="0"/>
          </a:p>
        </p:txBody>
      </p:sp>
      <p:sp>
        <p:nvSpPr>
          <p:cNvPr id="22" name="Text 17"/>
          <p:cNvSpPr txBox="1"/>
          <p:nvPr/>
        </p:nvSpPr>
        <p:spPr>
          <a:xfrm>
            <a:off x="6995160" y="4398264"/>
            <a:ext cx="4465015" cy="457200"/>
          </a:xfrm>
          <a:prstGeom prst="rect">
            <a:avLst/>
          </a:prstGeom>
          <a:noFill/>
          <a:ln/>
        </p:spPr>
        <p:txBody>
          <a:bodyPr wrap="square" lIns="0" tIns="0" rIns="0" bIns="0" rtlCol="0" anchor="t"/>
          <a:lstStyle/>
          <a:p>
            <a:pPr indent="0" marL="0">
              <a:buNone/>
            </a:pPr>
            <a:r>
              <a:rPr lang="en-US" sz="1250" dirty="0">
                <a:solidFill>
                  <a:srgbClr val="3C4A60"/>
                </a:solidFill>
                <a:latin typeface="Calibri" pitchFamily="34" charset="0"/>
                <a:ea typeface="Calibri" pitchFamily="34" charset="-122"/>
                <a:cs typeface="Calibri" pitchFamily="34" charset="-120"/>
              </a:rPr>
              <a:t>Re-validate every submission; enforce business rules the browser can’t be trusted with</a:t>
            </a:r>
            <a:endParaRPr lang="en-US" sz="1250" dirty="0"/>
          </a:p>
        </p:txBody>
      </p:sp>
      <p:sp>
        <p:nvSpPr>
          <p:cNvPr id="23" name="Shape 18"/>
          <p:cNvSpPr/>
          <p:nvPr/>
        </p:nvSpPr>
        <p:spPr>
          <a:xfrm>
            <a:off x="5943600" y="5084064"/>
            <a:ext cx="5699455" cy="960120"/>
          </a:xfrm>
          <a:prstGeom prst="roundRect">
            <a:avLst>
              <a:gd name="adj" fmla="val 7619"/>
            </a:avLst>
          </a:prstGeom>
          <a:solidFill>
            <a:srgbClr val="FDF1E6"/>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24" name="Shape 19"/>
          <p:cNvSpPr/>
          <p:nvPr/>
        </p:nvSpPr>
        <p:spPr>
          <a:xfrm>
            <a:off x="6172200" y="5266944"/>
            <a:ext cx="594360" cy="594360"/>
          </a:xfrm>
          <a:prstGeom prst="ellipse">
            <a:avLst/>
          </a:prstGeom>
          <a:solidFill>
            <a:srgbClr val="E3710A"/>
          </a:solidFill>
          <a:ln w="12700">
            <a:solidFill>
              <a:srgbClr val="E3710A"/>
            </a:solidFill>
            <a:prstDash val="solid"/>
          </a:ln>
        </p:spPr>
      </p:sp>
      <p:pic>
        <p:nvPicPr>
          <p:cNvPr id="25" name="Image 3" descr="preencoded.png">    </p:cNvPr>
          <p:cNvPicPr>
            <a:picLocks noChangeAspect="1"/>
          </p:cNvPicPr>
          <p:nvPr/>
        </p:nvPicPr>
        <p:blipFill>
          <a:blip r:embed="rId4"/>
          <a:stretch>
            <a:fillRect/>
          </a:stretch>
        </p:blipFill>
        <p:spPr>
          <a:xfrm>
            <a:off x="6326734" y="5421478"/>
            <a:ext cx="285293" cy="285293"/>
          </a:xfrm>
          <a:prstGeom prst="rect">
            <a:avLst/>
          </a:prstGeom>
        </p:spPr>
      </p:pic>
      <p:sp>
        <p:nvSpPr>
          <p:cNvPr id="26" name="Text 20"/>
          <p:cNvSpPr txBox="1"/>
          <p:nvPr/>
        </p:nvSpPr>
        <p:spPr>
          <a:xfrm>
            <a:off x="6995160" y="5193792"/>
            <a:ext cx="4465015" cy="320040"/>
          </a:xfrm>
          <a:prstGeom prst="rect">
            <a:avLst/>
          </a:prstGeom>
          <a:noFill/>
          <a:ln/>
        </p:spPr>
        <p:txBody>
          <a:bodyPr wrap="square" lIns="0" tIns="0" rIns="0" bIns="0" rtlCol="0" anchor="ctr"/>
          <a:lstStyle/>
          <a:p>
            <a:pPr indent="0" marL="0">
              <a:buNone/>
            </a:pPr>
            <a:r>
              <a:rPr lang="en-US" sz="1600" b="1" dirty="0">
                <a:solidFill>
                  <a:srgbClr val="1B2536"/>
                </a:solidFill>
                <a:latin typeface="Cambria" pitchFamily="34" charset="0"/>
                <a:ea typeface="Cambria" pitchFamily="34" charset="-122"/>
                <a:cs typeface="Cambria" pitchFamily="34" charset="-120"/>
              </a:rPr>
              <a:t>External systems</a:t>
            </a:r>
            <a:endParaRPr lang="en-US" sz="1600" dirty="0"/>
          </a:p>
        </p:txBody>
      </p:sp>
      <p:sp>
        <p:nvSpPr>
          <p:cNvPr id="27" name="Text 21"/>
          <p:cNvSpPr txBox="1"/>
          <p:nvPr/>
        </p:nvSpPr>
        <p:spPr>
          <a:xfrm>
            <a:off x="6995160" y="5513832"/>
            <a:ext cx="4465015" cy="457200"/>
          </a:xfrm>
          <a:prstGeom prst="rect">
            <a:avLst/>
          </a:prstGeom>
          <a:noFill/>
          <a:ln/>
        </p:spPr>
        <p:txBody>
          <a:bodyPr wrap="square" lIns="0" tIns="0" rIns="0" bIns="0" rtlCol="0" anchor="t"/>
          <a:lstStyle/>
          <a:p>
            <a:pPr indent="0" marL="0">
              <a:buNone/>
            </a:pPr>
            <a:r>
              <a:rPr lang="en-US" sz="1250" dirty="0">
                <a:solidFill>
                  <a:srgbClr val="3C4A60"/>
                </a:solidFill>
                <a:latin typeface="Calibri" pitchFamily="34" charset="0"/>
                <a:ea typeface="Calibri" pitchFamily="34" charset="-122"/>
                <a:cs typeface="Calibri" pitchFamily="34" charset="-120"/>
              </a:rPr>
              <a:t>Look up registries, verify identity, check eligibility before a step completes</a:t>
            </a:r>
            <a:endParaRPr lang="en-US" sz="1250" dirty="0"/>
          </a:p>
        </p:txBody>
      </p:sp>
      <p:sp>
        <p:nvSpPr>
          <p:cNvPr id="28" name="Text 22"/>
          <p:cNvSpPr txBox="1"/>
          <p:nvPr/>
        </p:nvSpPr>
        <p:spPr>
          <a:xfrm>
            <a:off x="548640" y="5257800"/>
            <a:ext cx="4937760" cy="822960"/>
          </a:xfrm>
          <a:prstGeom prst="rect">
            <a:avLst/>
          </a:prstGeom>
          <a:noFill/>
          <a:ln/>
        </p:spPr>
        <p:txBody>
          <a:bodyPr wrap="square" lIns="0" tIns="0" rIns="0" bIns="0" rtlCol="0" anchor="ctr"/>
          <a:lstStyle/>
          <a:p>
            <a:pPr indent="0" marL="0">
              <a:buNone/>
            </a:pPr>
            <a:r>
              <a:rPr lang="en-US" sz="1800" i="1" dirty="0">
                <a:solidFill>
                  <a:srgbClr val="9D5B00"/>
                </a:solidFill>
                <a:latin typeface="Cambria" pitchFamily="34" charset="0"/>
                <a:ea typeface="Cambria" pitchFamily="34" charset="-122"/>
                <a:cs typeface="Cambria" pitchFamily="34" charset="-120"/>
              </a:rPr>
              <a:t>The schema declares the rule. The engine decides where it runs.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Integrating inside the flow: payments</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A payment is just another step in the schema</a:t>
            </a:r>
            <a:endParaRPr lang="en-US" sz="1600" dirty="0"/>
          </a:p>
        </p:txBody>
      </p:sp>
      <p:sp>
        <p:nvSpPr>
          <p:cNvPr id="4" name="Shape 2"/>
          <p:cNvSpPr/>
          <p:nvPr/>
        </p:nvSpPr>
        <p:spPr>
          <a:xfrm>
            <a:off x="548640" y="2426313"/>
            <a:ext cx="3566160" cy="2828334"/>
          </a:xfrm>
          <a:prstGeom prst="rect">
            <a:avLst/>
          </a:prstGeom>
          <a:solidFill>
            <a:srgbClr val="FFFFFF"/>
          </a:solidFill>
          <a:ln w="9525">
            <a:solidFill>
              <a:srgbClr val="D5DAE1"/>
            </a:solidFill>
            <a:prstDash val="solid"/>
          </a:ln>
          <a:effectLst>
            <a:outerShdw sx="100000" sy="100000" kx="0" ky="0" algn="bl" rotWithShape="0" blurRad="127000" dist="38100" dir="5400000">
              <a:srgbClr val="000000">
                <a:alpha val="15000"/>
              </a:srgbClr>
            </a:outerShdw>
          </a:effectLst>
        </p:spPr>
      </p:sp>
      <p:pic>
        <p:nvPicPr>
          <p:cNvPr id="5" name="Image 0" descr="/private/tmp/claude-501/-Users-mark-dev-dd-transactions/f282b57c-e8e7-4c69-b84a-ecba442adf8a/scratchpad/crops/pay-summary.png">    </p:cNvPr>
          <p:cNvPicPr>
            <a:picLocks noChangeAspect="1"/>
          </p:cNvPicPr>
          <p:nvPr/>
        </p:nvPicPr>
        <p:blipFill>
          <a:blip r:embed="rId1"/>
          <a:stretch>
            <a:fillRect/>
          </a:stretch>
        </p:blipFill>
        <p:spPr>
          <a:xfrm>
            <a:off x="548640" y="2426313"/>
            <a:ext cx="3566160" cy="2828334"/>
          </a:xfrm>
          <a:prstGeom prst="rect">
            <a:avLst/>
          </a:prstGeom>
        </p:spPr>
      </p:pic>
      <p:sp>
        <p:nvSpPr>
          <p:cNvPr id="6" name="Shape 3"/>
          <p:cNvSpPr/>
          <p:nvPr/>
        </p:nvSpPr>
        <p:spPr>
          <a:xfrm>
            <a:off x="4434840" y="1737360"/>
            <a:ext cx="3566160" cy="2240280"/>
          </a:xfrm>
          <a:prstGeom prst="roundRect">
            <a:avLst>
              <a:gd name="adj" fmla="val 3265"/>
            </a:avLst>
          </a:prstGeom>
          <a:solidFill>
            <a:srgbClr val="0F1623"/>
          </a:solidFill>
          <a:ln w="12700">
            <a:solidFill>
              <a:srgbClr val="0F1623"/>
            </a:solidFill>
            <a:prstDash val="solid"/>
          </a:ln>
        </p:spPr>
      </p:sp>
      <p:sp>
        <p:nvSpPr>
          <p:cNvPr id="7" name="Text 4"/>
          <p:cNvSpPr txBox="1"/>
          <p:nvPr/>
        </p:nvSpPr>
        <p:spPr>
          <a:xfrm>
            <a:off x="4663440" y="1874520"/>
            <a:ext cx="3108960"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Payment step</a:t>
            </a:r>
            <a:endParaRPr lang="en-US" sz="1100" dirty="0"/>
          </a:p>
        </p:txBody>
      </p:sp>
      <p:sp>
        <p:nvSpPr>
          <p:cNvPr id="8" name="Text 5"/>
          <p:cNvSpPr txBox="1"/>
          <p:nvPr/>
        </p:nvSpPr>
        <p:spPr>
          <a:xfrm>
            <a:off x="4663440" y="2194560"/>
            <a:ext cx="3108960" cy="1645920"/>
          </a:xfrm>
          <a:prstGeom prst="rect">
            <a:avLst/>
          </a:prstGeom>
          <a:noFill/>
          <a:ln/>
        </p:spPr>
        <p:txBody>
          <a:bodyPr wrap="square" lIns="0" tIns="0" rIns="0" bIns="0" rtlCol="0" anchor="t"/>
          <a:lstStyle/>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"name"</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"payment"</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"type"</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"payment"</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"amount_cents"</a:t>
            </a:r>
            <a:pPr indent="0" marL="0">
              <a:buNone/>
            </a:pPr>
            <a:r>
              <a:rPr lang="en-US" sz="1250" dirty="0">
                <a:solidFill>
                  <a:srgbClr val="D6DEEB"/>
                </a:solidFill>
                <a:latin typeface="Courier New" pitchFamily="34" charset="0"/>
                <a:ea typeface="Courier New" pitchFamily="34" charset="-122"/>
                <a:cs typeface="Courier New" pitchFamily="34" charset="-120"/>
              </a:rPr>
              <a:t>: 5000,</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"currency"</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"aud"</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"description"</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"Registration fee"</a:t>
            </a:r>
            <a:pPr indent="0" marL="0">
              <a:buNone/>
            </a:pPr>
            <a:r>
              <a:rPr lang="en-US" sz="1250" dirty="0">
                <a:solidFill>
                  <a:srgbClr val="D6DEEB"/>
                </a:solidFill>
                <a:latin typeface="Courier New" pitchFamily="34" charset="0"/>
                <a:ea typeface="Courier New" pitchFamily="34" charset="-122"/>
                <a:cs typeface="Courier New" pitchFamily="34" charset="-120"/>
              </a:rPr>
              <a:t> }</a:t>
            </a:r>
            <a:endParaRPr lang="en-US" sz="1250" dirty="0"/>
          </a:p>
        </p:txBody>
      </p:sp>
      <p:sp>
        <p:nvSpPr>
          <p:cNvPr id="9" name="Text 6"/>
          <p:cNvSpPr txBox="1"/>
          <p:nvPr/>
        </p:nvSpPr>
        <p:spPr>
          <a:xfrm>
            <a:off x="4434840" y="4206240"/>
            <a:ext cx="3566160" cy="1371600"/>
          </a:xfrm>
          <a:prstGeom prst="rect">
            <a:avLst/>
          </a:prstGeom>
          <a:noFill/>
          <a:ln/>
        </p:spPr>
        <p:txBody>
          <a:bodyPr wrap="square" lIns="0" tIns="0" rIns="0" bIns="0" rtlCol="0" anchor="t"/>
          <a:lstStyle/>
          <a:p>
            <a:pPr indent="0" marL="0">
              <a:buNone/>
            </a:pPr>
            <a:r>
              <a:rPr lang="en-US" sz="1400" b="1" dirty="0">
                <a:solidFill>
                  <a:srgbClr val="1B2536"/>
                </a:solidFill>
                <a:latin typeface="Calibri" pitchFamily="34" charset="0"/>
                <a:ea typeface="Calibri" pitchFamily="34" charset="-122"/>
                <a:cs typeface="Calibri" pitchFamily="34" charset="-120"/>
              </a:rPr>
              <a:t>No payment code per form. </a:t>
            </a:r>
            <a:pPr indent="0" marL="0">
              <a:buNone/>
            </a:pPr>
            <a:r>
              <a:rPr lang="en-US" sz="1400" dirty="0">
                <a:solidFill>
                  <a:srgbClr val="3C4A60"/>
                </a:solidFill>
                <a:latin typeface="Calibri" pitchFamily="34" charset="0"/>
                <a:ea typeface="Calibri" pitchFamily="34" charset="-122"/>
                <a:cs typeface="Calibri" pitchFamily="34" charset="-120"/>
              </a:rPr>
              <a:t>Change the fee, currency or description in the definition and it applies to the next applicant.</a:t>
            </a:r>
            <a:endParaRPr lang="en-US" sz="1400" dirty="0"/>
          </a:p>
        </p:txBody>
      </p:sp>
      <p:sp>
        <p:nvSpPr>
          <p:cNvPr id="10" name="Shape 7"/>
          <p:cNvSpPr/>
          <p:nvPr/>
        </p:nvSpPr>
        <p:spPr>
          <a:xfrm>
            <a:off x="8321040" y="1737360"/>
            <a:ext cx="3322015" cy="960120"/>
          </a:xfrm>
          <a:prstGeom prst="roundRect">
            <a:avLst>
              <a:gd name="adj" fmla="val 7619"/>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1" name="Shape 8"/>
          <p:cNvSpPr/>
          <p:nvPr/>
        </p:nvSpPr>
        <p:spPr>
          <a:xfrm>
            <a:off x="8503920" y="1938528"/>
            <a:ext cx="548640" cy="548640"/>
          </a:xfrm>
          <a:prstGeom prst="ellipse">
            <a:avLst/>
          </a:prstGeom>
          <a:solidFill>
            <a:srgbClr val="E3710A"/>
          </a:solidFill>
          <a:ln w="12700">
            <a:solidFill>
              <a:srgbClr val="E3710A"/>
            </a:solidFill>
            <a:prstDash val="solid"/>
          </a:ln>
        </p:spPr>
      </p:sp>
      <p:pic>
        <p:nvPicPr>
          <p:cNvPr id="12" name="Image 1" descr="preencoded.png">    </p:cNvPr>
          <p:cNvPicPr>
            <a:picLocks noChangeAspect="1"/>
          </p:cNvPicPr>
          <p:nvPr/>
        </p:nvPicPr>
        <p:blipFill>
          <a:blip r:embed="rId2"/>
          <a:stretch>
            <a:fillRect/>
          </a:stretch>
        </p:blipFill>
        <p:spPr>
          <a:xfrm>
            <a:off x="8646566" y="2081174"/>
            <a:ext cx="263347" cy="263347"/>
          </a:xfrm>
          <a:prstGeom prst="rect">
            <a:avLst/>
          </a:prstGeom>
        </p:spPr>
      </p:pic>
      <p:sp>
        <p:nvSpPr>
          <p:cNvPr id="13" name="Text 9"/>
          <p:cNvSpPr txBox="1"/>
          <p:nvPr/>
        </p:nvSpPr>
        <p:spPr>
          <a:xfrm>
            <a:off x="9189720" y="1847088"/>
            <a:ext cx="2316175" cy="320040"/>
          </a:xfrm>
          <a:prstGeom prst="rect">
            <a:avLst/>
          </a:prstGeom>
          <a:noFill/>
          <a:ln/>
        </p:spPr>
        <p:txBody>
          <a:bodyPr wrap="square" lIns="0" tIns="0" rIns="0" bIns="0" rtlCol="0" anchor="ctr"/>
          <a:lstStyle/>
          <a:p>
            <a:pPr indent="0" marL="0">
              <a:buNone/>
            </a:pPr>
            <a:r>
              <a:rPr lang="en-US" sz="1500" b="1" dirty="0">
                <a:solidFill>
                  <a:srgbClr val="1B2536"/>
                </a:solidFill>
                <a:latin typeface="Cambria" pitchFamily="34" charset="0"/>
                <a:ea typeface="Cambria" pitchFamily="34" charset="-122"/>
                <a:cs typeface="Cambria" pitchFamily="34" charset="-120"/>
              </a:rPr>
              <a:t>Summary</a:t>
            </a:r>
            <a:endParaRPr lang="en-US" sz="1500" dirty="0"/>
          </a:p>
        </p:txBody>
      </p:sp>
      <p:sp>
        <p:nvSpPr>
          <p:cNvPr id="14" name="Text 10"/>
          <p:cNvSpPr txBox="1"/>
          <p:nvPr/>
        </p:nvSpPr>
        <p:spPr>
          <a:xfrm>
            <a:off x="9189720" y="2167128"/>
            <a:ext cx="2316175" cy="457200"/>
          </a:xfrm>
          <a:prstGeom prst="rect">
            <a:avLst/>
          </a:prstGeom>
          <a:noFill/>
          <a:ln/>
        </p:spPr>
        <p:txBody>
          <a:bodyPr wrap="square" lIns="0" tIns="0" rIns="0" bIns="0" rtlCol="0" anchor="t"/>
          <a:lstStyle/>
          <a:p>
            <a:pPr indent="0" marL="0">
              <a:buNone/>
            </a:pPr>
            <a:r>
              <a:rPr lang="en-US" sz="1200" dirty="0">
                <a:solidFill>
                  <a:srgbClr val="3C4A60"/>
                </a:solidFill>
                <a:latin typeface="Calibri" pitchFamily="34" charset="0"/>
                <a:ea typeface="Calibri" pitchFamily="34" charset="-122"/>
                <a:cs typeface="Calibri" pitchFamily="34" charset="-120"/>
              </a:rPr>
              <a:t>Applicant confirms details and fee</a:t>
            </a:r>
            <a:endParaRPr lang="en-US" sz="1200" dirty="0"/>
          </a:p>
        </p:txBody>
      </p:sp>
      <p:sp>
        <p:nvSpPr>
          <p:cNvPr id="15" name="Shape 11"/>
          <p:cNvSpPr/>
          <p:nvPr/>
        </p:nvSpPr>
        <p:spPr>
          <a:xfrm>
            <a:off x="8321040" y="2834640"/>
            <a:ext cx="3322015" cy="960120"/>
          </a:xfrm>
          <a:prstGeom prst="roundRect">
            <a:avLst>
              <a:gd name="adj" fmla="val 7619"/>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16" name="Shape 12"/>
          <p:cNvSpPr/>
          <p:nvPr/>
        </p:nvSpPr>
        <p:spPr>
          <a:xfrm>
            <a:off x="8503920" y="3035808"/>
            <a:ext cx="548640" cy="548640"/>
          </a:xfrm>
          <a:prstGeom prst="ellipse">
            <a:avLst/>
          </a:prstGeom>
          <a:solidFill>
            <a:srgbClr val="E3710A"/>
          </a:solidFill>
          <a:ln w="12700">
            <a:solidFill>
              <a:srgbClr val="E3710A"/>
            </a:solidFill>
            <a:prstDash val="solid"/>
          </a:ln>
        </p:spPr>
      </p:sp>
      <p:pic>
        <p:nvPicPr>
          <p:cNvPr id="17" name="Image 2" descr="preencoded.png">    </p:cNvPr>
          <p:cNvPicPr>
            <a:picLocks noChangeAspect="1"/>
          </p:cNvPicPr>
          <p:nvPr/>
        </p:nvPicPr>
        <p:blipFill>
          <a:blip r:embed="rId3"/>
          <a:stretch>
            <a:fillRect/>
          </a:stretch>
        </p:blipFill>
        <p:spPr>
          <a:xfrm>
            <a:off x="8646566" y="3178454"/>
            <a:ext cx="263347" cy="263347"/>
          </a:xfrm>
          <a:prstGeom prst="rect">
            <a:avLst/>
          </a:prstGeom>
        </p:spPr>
      </p:pic>
      <p:sp>
        <p:nvSpPr>
          <p:cNvPr id="18" name="Text 13"/>
          <p:cNvSpPr txBox="1"/>
          <p:nvPr/>
        </p:nvSpPr>
        <p:spPr>
          <a:xfrm>
            <a:off x="9189720" y="2944368"/>
            <a:ext cx="2316175" cy="320040"/>
          </a:xfrm>
          <a:prstGeom prst="rect">
            <a:avLst/>
          </a:prstGeom>
          <a:noFill/>
          <a:ln/>
        </p:spPr>
        <p:txBody>
          <a:bodyPr wrap="square" lIns="0" tIns="0" rIns="0" bIns="0" rtlCol="0" anchor="ctr"/>
          <a:lstStyle/>
          <a:p>
            <a:pPr indent="0" marL="0">
              <a:buNone/>
            </a:pPr>
            <a:r>
              <a:rPr lang="en-US" sz="1500" b="1" dirty="0">
                <a:solidFill>
                  <a:srgbClr val="1B2536"/>
                </a:solidFill>
                <a:latin typeface="Cambria" pitchFamily="34" charset="0"/>
                <a:ea typeface="Cambria" pitchFamily="34" charset="-122"/>
                <a:cs typeface="Cambria" pitchFamily="34" charset="-120"/>
              </a:rPr>
              <a:t>Stripe Checkout</a:t>
            </a:r>
            <a:endParaRPr lang="en-US" sz="1500" dirty="0"/>
          </a:p>
        </p:txBody>
      </p:sp>
      <p:sp>
        <p:nvSpPr>
          <p:cNvPr id="19" name="Text 14"/>
          <p:cNvSpPr txBox="1"/>
          <p:nvPr/>
        </p:nvSpPr>
        <p:spPr>
          <a:xfrm>
            <a:off x="9189720" y="3264408"/>
            <a:ext cx="2316175" cy="457200"/>
          </a:xfrm>
          <a:prstGeom prst="rect">
            <a:avLst/>
          </a:prstGeom>
          <a:noFill/>
          <a:ln/>
        </p:spPr>
        <p:txBody>
          <a:bodyPr wrap="square" lIns="0" tIns="0" rIns="0" bIns="0" rtlCol="0" anchor="t"/>
          <a:lstStyle/>
          <a:p>
            <a:pPr indent="0" marL="0">
              <a:buNone/>
            </a:pPr>
            <a:r>
              <a:rPr lang="en-US" sz="1200" dirty="0">
                <a:solidFill>
                  <a:srgbClr val="3C4A60"/>
                </a:solidFill>
                <a:latin typeface="Calibri" pitchFamily="34" charset="0"/>
                <a:ea typeface="Calibri" pitchFamily="34" charset="-122"/>
                <a:cs typeface="Calibri" pitchFamily="34" charset="-120"/>
              </a:rPr>
              <a:t>Hosted page; card data never touches us</a:t>
            </a:r>
            <a:endParaRPr lang="en-US" sz="1200" dirty="0"/>
          </a:p>
        </p:txBody>
      </p:sp>
      <p:sp>
        <p:nvSpPr>
          <p:cNvPr id="20" name="Shape 15"/>
          <p:cNvSpPr/>
          <p:nvPr/>
        </p:nvSpPr>
        <p:spPr>
          <a:xfrm>
            <a:off x="8321040" y="3931920"/>
            <a:ext cx="3322015" cy="960120"/>
          </a:xfrm>
          <a:prstGeom prst="roundRect">
            <a:avLst>
              <a:gd name="adj" fmla="val 7619"/>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21" name="Shape 16"/>
          <p:cNvSpPr/>
          <p:nvPr/>
        </p:nvSpPr>
        <p:spPr>
          <a:xfrm>
            <a:off x="8503920" y="4133088"/>
            <a:ext cx="548640" cy="548640"/>
          </a:xfrm>
          <a:prstGeom prst="ellipse">
            <a:avLst/>
          </a:prstGeom>
          <a:solidFill>
            <a:srgbClr val="E3710A"/>
          </a:solidFill>
          <a:ln w="12700">
            <a:solidFill>
              <a:srgbClr val="E3710A"/>
            </a:solidFill>
            <a:prstDash val="solid"/>
          </a:ln>
        </p:spPr>
      </p:sp>
      <p:pic>
        <p:nvPicPr>
          <p:cNvPr id="22" name="Image 3" descr="preencoded.png">    </p:cNvPr>
          <p:cNvPicPr>
            <a:picLocks noChangeAspect="1"/>
          </p:cNvPicPr>
          <p:nvPr/>
        </p:nvPicPr>
        <p:blipFill>
          <a:blip r:embed="rId4"/>
          <a:stretch>
            <a:fillRect/>
          </a:stretch>
        </p:blipFill>
        <p:spPr>
          <a:xfrm>
            <a:off x="8646566" y="4275734"/>
            <a:ext cx="263347" cy="263347"/>
          </a:xfrm>
          <a:prstGeom prst="rect">
            <a:avLst/>
          </a:prstGeom>
        </p:spPr>
      </p:pic>
      <p:sp>
        <p:nvSpPr>
          <p:cNvPr id="23" name="Text 17"/>
          <p:cNvSpPr txBox="1"/>
          <p:nvPr/>
        </p:nvSpPr>
        <p:spPr>
          <a:xfrm>
            <a:off x="9189720" y="4041648"/>
            <a:ext cx="2316175" cy="320040"/>
          </a:xfrm>
          <a:prstGeom prst="rect">
            <a:avLst/>
          </a:prstGeom>
          <a:noFill/>
          <a:ln/>
        </p:spPr>
        <p:txBody>
          <a:bodyPr wrap="square" lIns="0" tIns="0" rIns="0" bIns="0" rtlCol="0" anchor="ctr"/>
          <a:lstStyle/>
          <a:p>
            <a:pPr indent="0" marL="0">
              <a:buNone/>
            </a:pPr>
            <a:r>
              <a:rPr lang="en-US" sz="1500" b="1" dirty="0">
                <a:solidFill>
                  <a:srgbClr val="1B2536"/>
                </a:solidFill>
                <a:latin typeface="Cambria" pitchFamily="34" charset="0"/>
                <a:ea typeface="Cambria" pitchFamily="34" charset="-122"/>
                <a:cs typeface="Cambria" pitchFamily="34" charset="-120"/>
              </a:rPr>
              <a:t>Confirmed</a:t>
            </a:r>
            <a:endParaRPr lang="en-US" sz="1500" dirty="0"/>
          </a:p>
        </p:txBody>
      </p:sp>
      <p:sp>
        <p:nvSpPr>
          <p:cNvPr id="24" name="Text 18"/>
          <p:cNvSpPr txBox="1"/>
          <p:nvPr/>
        </p:nvSpPr>
        <p:spPr>
          <a:xfrm>
            <a:off x="9189720" y="4361688"/>
            <a:ext cx="2316175" cy="457200"/>
          </a:xfrm>
          <a:prstGeom prst="rect">
            <a:avLst/>
          </a:prstGeom>
          <a:noFill/>
          <a:ln/>
        </p:spPr>
        <p:txBody>
          <a:bodyPr wrap="square" lIns="0" tIns="0" rIns="0" bIns="0" rtlCol="0" anchor="t"/>
          <a:lstStyle/>
          <a:p>
            <a:pPr indent="0" marL="0">
              <a:buNone/>
            </a:pPr>
            <a:r>
              <a:rPr lang="en-US" sz="1200" dirty="0">
                <a:solidFill>
                  <a:srgbClr val="3C4A60"/>
                </a:solidFill>
                <a:latin typeface="Calibri" pitchFamily="34" charset="0"/>
                <a:ea typeface="Calibri" pitchFamily="34" charset="-122"/>
                <a:cs typeface="Calibri" pitchFamily="34" charset="-120"/>
              </a:rPr>
              <a:t>Stripe webhook marks it complete</a:t>
            </a:r>
            <a:endParaRPr lang="en-US" sz="1200" dirty="0"/>
          </a:p>
        </p:txBody>
      </p:sp>
      <p:sp>
        <p:nvSpPr>
          <p:cNvPr id="25" name="Shape 19"/>
          <p:cNvSpPr/>
          <p:nvPr/>
        </p:nvSpPr>
        <p:spPr>
          <a:xfrm>
            <a:off x="8321040" y="5029200"/>
            <a:ext cx="3322015" cy="960120"/>
          </a:xfrm>
          <a:prstGeom prst="roundRect">
            <a:avLst>
              <a:gd name="adj" fmla="val 7619"/>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26" name="Shape 20"/>
          <p:cNvSpPr/>
          <p:nvPr/>
        </p:nvSpPr>
        <p:spPr>
          <a:xfrm>
            <a:off x="8503920" y="5230368"/>
            <a:ext cx="548640" cy="548640"/>
          </a:xfrm>
          <a:prstGeom prst="ellipse">
            <a:avLst/>
          </a:prstGeom>
          <a:solidFill>
            <a:srgbClr val="E3710A"/>
          </a:solidFill>
          <a:ln w="12700">
            <a:solidFill>
              <a:srgbClr val="E3710A"/>
            </a:solidFill>
            <a:prstDash val="solid"/>
          </a:ln>
        </p:spPr>
      </p:sp>
      <p:pic>
        <p:nvPicPr>
          <p:cNvPr id="27" name="Image 4" descr="preencoded.png">    </p:cNvPr>
          <p:cNvPicPr>
            <a:picLocks noChangeAspect="1"/>
          </p:cNvPicPr>
          <p:nvPr/>
        </p:nvPicPr>
        <p:blipFill>
          <a:blip r:embed="rId5"/>
          <a:stretch>
            <a:fillRect/>
          </a:stretch>
        </p:blipFill>
        <p:spPr>
          <a:xfrm>
            <a:off x="8646566" y="5373014"/>
            <a:ext cx="263347" cy="263347"/>
          </a:xfrm>
          <a:prstGeom prst="rect">
            <a:avLst/>
          </a:prstGeom>
        </p:spPr>
      </p:pic>
      <p:sp>
        <p:nvSpPr>
          <p:cNvPr id="28" name="Text 21"/>
          <p:cNvSpPr txBox="1"/>
          <p:nvPr/>
        </p:nvSpPr>
        <p:spPr>
          <a:xfrm>
            <a:off x="9189720" y="5138928"/>
            <a:ext cx="2316175" cy="320040"/>
          </a:xfrm>
          <a:prstGeom prst="rect">
            <a:avLst/>
          </a:prstGeom>
          <a:noFill/>
          <a:ln/>
        </p:spPr>
        <p:txBody>
          <a:bodyPr wrap="square" lIns="0" tIns="0" rIns="0" bIns="0" rtlCol="0" anchor="ctr"/>
          <a:lstStyle/>
          <a:p>
            <a:pPr indent="0" marL="0">
              <a:buNone/>
            </a:pPr>
            <a:r>
              <a:rPr lang="en-US" sz="1500" b="1" dirty="0">
                <a:solidFill>
                  <a:srgbClr val="1B2536"/>
                </a:solidFill>
                <a:latin typeface="Cambria" pitchFamily="34" charset="0"/>
                <a:ea typeface="Cambria" pitchFamily="34" charset="-122"/>
                <a:cs typeface="Cambria" pitchFamily="34" charset="-120"/>
              </a:rPr>
              <a:t>Hand-off</a:t>
            </a:r>
            <a:endParaRPr lang="en-US" sz="1500" dirty="0"/>
          </a:p>
        </p:txBody>
      </p:sp>
      <p:sp>
        <p:nvSpPr>
          <p:cNvPr id="29" name="Text 22"/>
          <p:cNvSpPr txBox="1"/>
          <p:nvPr/>
        </p:nvSpPr>
        <p:spPr>
          <a:xfrm>
            <a:off x="9189720" y="5458968"/>
            <a:ext cx="2316175" cy="457200"/>
          </a:xfrm>
          <a:prstGeom prst="rect">
            <a:avLst/>
          </a:prstGeom>
          <a:noFill/>
          <a:ln/>
        </p:spPr>
        <p:txBody>
          <a:bodyPr wrap="square" lIns="0" tIns="0" rIns="0" bIns="0" rtlCol="0" anchor="t"/>
          <a:lstStyle/>
          <a:p>
            <a:pPr indent="0" marL="0">
              <a:buNone/>
            </a:pPr>
            <a:r>
              <a:rPr lang="en-US" sz="1200" dirty="0">
                <a:solidFill>
                  <a:srgbClr val="3C4A60"/>
                </a:solidFill>
                <a:latin typeface="Calibri" pitchFamily="34" charset="0"/>
                <a:ea typeface="Calibri" pitchFamily="34" charset="-122"/>
                <a:cs typeface="Calibri" pitchFamily="34" charset="-120"/>
              </a:rPr>
              <a:t>Webhook notifies downstream systems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Getting the data out</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Pull on demand, or have it pushed the moment a transaction completes</a:t>
            </a:r>
            <a:endParaRPr lang="en-US" sz="1600" dirty="0"/>
          </a:p>
        </p:txBody>
      </p:sp>
      <p:sp>
        <p:nvSpPr>
          <p:cNvPr id="4" name="Shape 2"/>
          <p:cNvSpPr/>
          <p:nvPr/>
        </p:nvSpPr>
        <p:spPr>
          <a:xfrm>
            <a:off x="548640" y="1783080"/>
            <a:ext cx="548640" cy="548640"/>
          </a:xfrm>
          <a:prstGeom prst="ellipse">
            <a:avLst/>
          </a:prstGeom>
          <a:solidFill>
            <a:srgbClr val="E3710A"/>
          </a:solidFill>
          <a:ln w="12700">
            <a:solidFill>
              <a:srgbClr val="E3710A"/>
            </a:solidFill>
            <a:prstDash val="solid"/>
          </a:ln>
        </p:spPr>
      </p:sp>
      <p:pic>
        <p:nvPicPr>
          <p:cNvPr id="5" name="Image 0" descr="preencoded.png">    </p:cNvPr>
          <p:cNvPicPr>
            <a:picLocks noChangeAspect="1"/>
          </p:cNvPicPr>
          <p:nvPr/>
        </p:nvPicPr>
        <p:blipFill>
          <a:blip r:embed="rId1"/>
          <a:stretch>
            <a:fillRect/>
          </a:stretch>
        </p:blipFill>
        <p:spPr>
          <a:xfrm>
            <a:off x="691286" y="1925726"/>
            <a:ext cx="263347" cy="263347"/>
          </a:xfrm>
          <a:prstGeom prst="rect">
            <a:avLst/>
          </a:prstGeom>
        </p:spPr>
      </p:pic>
      <p:sp>
        <p:nvSpPr>
          <p:cNvPr id="6" name="Text 3"/>
          <p:cNvSpPr txBox="1"/>
          <p:nvPr/>
        </p:nvSpPr>
        <p:spPr>
          <a:xfrm>
            <a:off x="1280160" y="1828800"/>
            <a:ext cx="4389120" cy="457200"/>
          </a:xfrm>
          <a:prstGeom prst="rect">
            <a:avLst/>
          </a:prstGeom>
          <a:noFill/>
          <a:ln/>
        </p:spPr>
        <p:txBody>
          <a:bodyPr wrap="square" lIns="0" tIns="0" rIns="0" bIns="0" rtlCol="0" anchor="ctr"/>
          <a:lstStyle/>
          <a:p>
            <a:pPr indent="0" marL="0">
              <a:buNone/>
            </a:pPr>
            <a:r>
              <a:rPr lang="en-US" sz="2000" b="1" dirty="0">
                <a:solidFill>
                  <a:srgbClr val="1B2536"/>
                </a:solidFill>
                <a:latin typeface="Cambria" pitchFamily="34" charset="0"/>
                <a:ea typeface="Cambria" pitchFamily="34" charset="-122"/>
                <a:cs typeface="Cambria" pitchFamily="34" charset="-120"/>
              </a:rPr>
              <a:t>Pull API</a:t>
            </a:r>
            <a:endParaRPr lang="en-US" sz="2000" dirty="0"/>
          </a:p>
        </p:txBody>
      </p:sp>
      <p:sp>
        <p:nvSpPr>
          <p:cNvPr id="7" name="Shape 4"/>
          <p:cNvSpPr/>
          <p:nvPr/>
        </p:nvSpPr>
        <p:spPr>
          <a:xfrm>
            <a:off x="548640" y="2514600"/>
            <a:ext cx="5349240" cy="3017520"/>
          </a:xfrm>
          <a:prstGeom prst="roundRect">
            <a:avLst>
              <a:gd name="adj" fmla="val 2424"/>
            </a:avLst>
          </a:prstGeom>
          <a:solidFill>
            <a:srgbClr val="0F1623"/>
          </a:solidFill>
          <a:ln w="12700">
            <a:solidFill>
              <a:srgbClr val="0F1623"/>
            </a:solidFill>
            <a:prstDash val="solid"/>
          </a:ln>
        </p:spPr>
      </p:sp>
      <p:sp>
        <p:nvSpPr>
          <p:cNvPr id="8" name="Text 5"/>
          <p:cNvSpPr txBox="1"/>
          <p:nvPr/>
        </p:nvSpPr>
        <p:spPr>
          <a:xfrm>
            <a:off x="777240" y="2651760"/>
            <a:ext cx="4892040"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Returns every complete and free transaction for a definition</a:t>
            </a:r>
            <a:endParaRPr lang="en-US" sz="1100" dirty="0"/>
          </a:p>
        </p:txBody>
      </p:sp>
      <p:sp>
        <p:nvSpPr>
          <p:cNvPr id="9" name="Text 6"/>
          <p:cNvSpPr txBox="1"/>
          <p:nvPr/>
        </p:nvSpPr>
        <p:spPr>
          <a:xfrm>
            <a:off x="777240" y="2971800"/>
            <a:ext cx="4892040" cy="2423160"/>
          </a:xfrm>
          <a:prstGeom prst="rect">
            <a:avLst/>
          </a:prstGeom>
          <a:noFill/>
          <a:ln/>
        </p:spPr>
        <p:txBody>
          <a:bodyPr wrap="square" lIns="0" tIns="0" rIns="0" bIns="0" rtlCol="0" anchor="t"/>
          <a:lstStyle/>
          <a:p>
            <a:pPr indent="0" marL="0">
              <a:buNone/>
            </a:pPr>
            <a:r>
              <a:rPr lang="en-US" sz="1250" dirty="0">
                <a:solidFill>
                  <a:srgbClr val="6A7A92"/>
                </a:solidFill>
                <a:latin typeface="Courier New" pitchFamily="34" charset="0"/>
                <a:ea typeface="Courier New" pitchFamily="34" charset="-122"/>
                <a:cs typeface="Courier New" pitchFamily="34" charset="-120"/>
              </a:rPr>
              <a:t>$ </a:t>
            </a:r>
            <a:pPr indent="0" marL="0">
              <a:buNone/>
            </a:pPr>
            <a:r>
              <a:rPr lang="en-US" sz="1250" dirty="0">
                <a:solidFill>
                  <a:srgbClr val="D6DEEB"/>
                </a:solidFill>
                <a:latin typeface="Courier New" pitchFamily="34" charset="0"/>
                <a:ea typeface="Courier New" pitchFamily="34" charset="-122"/>
                <a:cs typeface="Courier New" pitchFamily="34" charset="-120"/>
              </a:rPr>
              <a:t>curl localhost:5050/api/transactions/{id}</a:t>
            </a:r>
            <a:endParaRPr lang="en-US" sz="1250" dirty="0"/>
          </a:p>
          <a:p>
            <a:pPr indent="0" marL="0">
              <a:buNone/>
            </a:pP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"_id"</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"6a2271ef…6d"</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"status"</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"complete"</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"payment_amount"</a:t>
            </a:r>
            <a:pPr indent="0" marL="0">
              <a:buNone/>
            </a:pPr>
            <a:r>
              <a:rPr lang="en-US" sz="1250" dirty="0">
                <a:solidFill>
                  <a:srgbClr val="D6DEEB"/>
                </a:solidFill>
                <a:latin typeface="Courier New" pitchFamily="34" charset="0"/>
                <a:ea typeface="Courier New" pitchFamily="34" charset="-122"/>
                <a:cs typeface="Courier New" pitchFamily="34" charset="-120"/>
              </a:rPr>
              <a:t>: 5000,</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"data"</a:t>
            </a:r>
            <a:pPr indent="0" marL="0">
              <a:buNone/>
            </a:pPr>
            <a:r>
              <a:rPr lang="en-US" sz="1250" dirty="0">
                <a:solidFill>
                  <a:srgbClr val="D6DEEB"/>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"first_name"</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"Alex"</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"product"</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"bananas"</a:t>
            </a:r>
            <a:pPr indent="0" marL="0">
              <a:buNone/>
            </a:pPr>
            <a:r>
              <a:rPr lang="en-US" sz="1250" dirty="0">
                <a:solidFill>
                  <a:srgbClr val="D6DEEB"/>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 }]</a:t>
            </a:r>
            <a:endParaRPr lang="en-US" sz="1250" dirty="0"/>
          </a:p>
        </p:txBody>
      </p:sp>
      <p:sp>
        <p:nvSpPr>
          <p:cNvPr id="10" name="Shape 7"/>
          <p:cNvSpPr/>
          <p:nvPr/>
        </p:nvSpPr>
        <p:spPr>
          <a:xfrm>
            <a:off x="6263640" y="1783080"/>
            <a:ext cx="548640" cy="548640"/>
          </a:xfrm>
          <a:prstGeom prst="ellipse">
            <a:avLst/>
          </a:prstGeom>
          <a:solidFill>
            <a:srgbClr val="E3710A"/>
          </a:solidFill>
          <a:ln w="12700">
            <a:solidFill>
              <a:srgbClr val="E3710A"/>
            </a:solidFill>
            <a:prstDash val="solid"/>
          </a:ln>
        </p:spPr>
      </p:sp>
      <p:pic>
        <p:nvPicPr>
          <p:cNvPr id="11" name="Image 1" descr="preencoded.png">    </p:cNvPr>
          <p:cNvPicPr>
            <a:picLocks noChangeAspect="1"/>
          </p:cNvPicPr>
          <p:nvPr/>
        </p:nvPicPr>
        <p:blipFill>
          <a:blip r:embed="rId2"/>
          <a:stretch>
            <a:fillRect/>
          </a:stretch>
        </p:blipFill>
        <p:spPr>
          <a:xfrm>
            <a:off x="6406286" y="1925726"/>
            <a:ext cx="263347" cy="263347"/>
          </a:xfrm>
          <a:prstGeom prst="rect">
            <a:avLst/>
          </a:prstGeom>
        </p:spPr>
      </p:pic>
      <p:sp>
        <p:nvSpPr>
          <p:cNvPr id="12" name="Text 8"/>
          <p:cNvSpPr txBox="1"/>
          <p:nvPr/>
        </p:nvSpPr>
        <p:spPr>
          <a:xfrm>
            <a:off x="6995160" y="1828800"/>
            <a:ext cx="4647895" cy="457200"/>
          </a:xfrm>
          <a:prstGeom prst="rect">
            <a:avLst/>
          </a:prstGeom>
          <a:noFill/>
          <a:ln/>
        </p:spPr>
        <p:txBody>
          <a:bodyPr wrap="square" lIns="0" tIns="0" rIns="0" bIns="0" rtlCol="0" anchor="ctr"/>
          <a:lstStyle/>
          <a:p>
            <a:pPr indent="0" marL="0">
              <a:buNone/>
            </a:pPr>
            <a:r>
              <a:rPr lang="en-US" sz="2000" b="1" dirty="0">
                <a:solidFill>
                  <a:srgbClr val="1B2536"/>
                </a:solidFill>
                <a:latin typeface="Cambria" pitchFamily="34" charset="0"/>
                <a:ea typeface="Cambria" pitchFamily="34" charset="-122"/>
                <a:cs typeface="Cambria" pitchFamily="34" charset="-120"/>
              </a:rPr>
              <a:t>Outbound webhook</a:t>
            </a:r>
            <a:endParaRPr lang="en-US" sz="2000" dirty="0"/>
          </a:p>
        </p:txBody>
      </p:sp>
      <p:sp>
        <p:nvSpPr>
          <p:cNvPr id="13" name="Shape 9"/>
          <p:cNvSpPr/>
          <p:nvPr/>
        </p:nvSpPr>
        <p:spPr>
          <a:xfrm>
            <a:off x="6263640" y="2514600"/>
            <a:ext cx="5379415" cy="3017520"/>
          </a:xfrm>
          <a:prstGeom prst="roundRect">
            <a:avLst>
              <a:gd name="adj" fmla="val 2424"/>
            </a:avLst>
          </a:prstGeom>
          <a:solidFill>
            <a:srgbClr val="0F1623"/>
          </a:solidFill>
          <a:ln w="12700">
            <a:solidFill>
              <a:srgbClr val="0F1623"/>
            </a:solidFill>
            <a:prstDash val="solid"/>
          </a:ln>
        </p:spPr>
      </p:sp>
      <p:sp>
        <p:nvSpPr>
          <p:cNvPr id="14" name="Text 10"/>
          <p:cNvSpPr txBox="1"/>
          <p:nvPr/>
        </p:nvSpPr>
        <p:spPr>
          <a:xfrm>
            <a:off x="6492240" y="2651760"/>
            <a:ext cx="4922215"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Fires on completion if webhook_url is set</a:t>
            </a:r>
            <a:endParaRPr lang="en-US" sz="1100" dirty="0"/>
          </a:p>
        </p:txBody>
      </p:sp>
      <p:sp>
        <p:nvSpPr>
          <p:cNvPr id="15" name="Text 11"/>
          <p:cNvSpPr txBox="1"/>
          <p:nvPr/>
        </p:nvSpPr>
        <p:spPr>
          <a:xfrm>
            <a:off x="6492240" y="2971800"/>
            <a:ext cx="4922215" cy="2423160"/>
          </a:xfrm>
          <a:prstGeom prst="rect">
            <a:avLst/>
          </a:prstGeom>
          <a:noFill/>
          <a:ln/>
        </p:spPr>
        <p:txBody>
          <a:bodyPr wrap="square" lIns="0" tIns="0" rIns="0" bIns="0" rtlCol="0" anchor="t"/>
          <a:lstStyle/>
          <a:p>
            <a:pPr indent="0" marL="0">
              <a:buNone/>
            </a:pPr>
            <a:r>
              <a:rPr lang="en-US" sz="1250" dirty="0">
                <a:solidFill>
                  <a:srgbClr val="F4A259"/>
                </a:solidFill>
                <a:latin typeface="Courier New" pitchFamily="34" charset="0"/>
                <a:ea typeface="Courier New" pitchFamily="34" charset="-122"/>
                <a:cs typeface="Courier New" pitchFamily="34" charset="-120"/>
              </a:rPr>
              <a:t>POST</a:t>
            </a:r>
            <a:pPr indent="0" marL="0">
              <a:buNone/>
            </a:pPr>
            <a:r>
              <a:rPr lang="en-US" sz="1250" dirty="0">
                <a:solidFill>
                  <a:srgbClr val="D6DEEB"/>
                </a:solidFill>
                <a:latin typeface="Courier New" pitchFamily="34" charset="0"/>
                <a:ea typeface="Courier New" pitchFamily="34" charset="-122"/>
                <a:cs typeface="Courier New" pitchFamily="34" charset="-120"/>
              </a:rPr>
              <a:t> {webhook_url}</a:t>
            </a:r>
            <a:endParaRPr lang="en-US" sz="1250" dirty="0"/>
          </a:p>
          <a:p>
            <a:pPr indent="0" marL="0">
              <a:buNone/>
            </a:pP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"event"</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"transaction.completed"</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"txndef_name"</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"DWRS"</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"transaction"</a:t>
            </a:r>
            <a:pPr indent="0" marL="0">
              <a:buNone/>
            </a:pPr>
            <a:r>
              <a:rPr lang="en-US" sz="1250" dirty="0">
                <a:solidFill>
                  <a:srgbClr val="D6DEEB"/>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"status"</a:t>
            </a:r>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9CDCFE"/>
                </a:solidFill>
                <a:latin typeface="Courier New" pitchFamily="34" charset="0"/>
                <a:ea typeface="Courier New" pitchFamily="34" charset="-122"/>
                <a:cs typeface="Courier New" pitchFamily="34" charset="-120"/>
              </a:rPr>
              <a:t>"complete"</a:t>
            </a:r>
            <a:pPr indent="0" marL="0">
              <a:buNone/>
            </a:pPr>
            <a:r>
              <a:rPr lang="en-US" sz="1250" dirty="0">
                <a:solidFill>
                  <a:srgbClr val="D6DEEB"/>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D6DEEB"/>
                </a:solidFill>
                <a:latin typeface="Courier New" pitchFamily="34" charset="0"/>
                <a:ea typeface="Courier New" pitchFamily="34" charset="-122"/>
                <a:cs typeface="Courier New" pitchFamily="34" charset="-120"/>
              </a:rPr>
              <a:t>    </a:t>
            </a:r>
            <a:pPr indent="0" marL="0">
              <a:buNone/>
            </a:pPr>
            <a:r>
              <a:rPr lang="en-US" sz="1250" dirty="0">
                <a:solidFill>
                  <a:srgbClr val="F4A259"/>
                </a:solidFill>
                <a:latin typeface="Courier New" pitchFamily="34" charset="0"/>
                <a:ea typeface="Courier New" pitchFamily="34" charset="-122"/>
                <a:cs typeface="Courier New" pitchFamily="34" charset="-120"/>
              </a:rPr>
              <a:t>"data"</a:t>
            </a:r>
            <a:pPr indent="0" marL="0">
              <a:buNone/>
            </a:pPr>
            <a:r>
              <a:rPr lang="en-US" sz="1250" dirty="0">
                <a:solidFill>
                  <a:srgbClr val="D6DEEB"/>
                </a:solidFill>
                <a:latin typeface="Courier New" pitchFamily="34" charset="0"/>
                <a:ea typeface="Courier New" pitchFamily="34" charset="-122"/>
                <a:cs typeface="Courier New" pitchFamily="34" charset="-120"/>
              </a:rPr>
              <a:t>: { … } } }</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Calling the API with curl</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Plain HTTP + JSON — any language, tool or platform can consume it</a:t>
            </a:r>
            <a:endParaRPr lang="en-US" sz="1600" dirty="0"/>
          </a:p>
        </p:txBody>
      </p:sp>
      <p:sp>
        <p:nvSpPr>
          <p:cNvPr id="4" name="Shape 2"/>
          <p:cNvSpPr/>
          <p:nvPr/>
        </p:nvSpPr>
        <p:spPr>
          <a:xfrm>
            <a:off x="548640" y="1691640"/>
            <a:ext cx="11094415" cy="777240"/>
          </a:xfrm>
          <a:prstGeom prst="roundRect">
            <a:avLst>
              <a:gd name="adj" fmla="val 9412"/>
            </a:avLst>
          </a:prstGeom>
          <a:solidFill>
            <a:srgbClr val="0F1623"/>
          </a:solidFill>
          <a:ln w="12700">
            <a:solidFill>
              <a:srgbClr val="0F1623"/>
            </a:solidFill>
            <a:prstDash val="solid"/>
          </a:ln>
        </p:spPr>
      </p:sp>
      <p:sp>
        <p:nvSpPr>
          <p:cNvPr id="5" name="Text 3"/>
          <p:cNvSpPr txBox="1"/>
          <p:nvPr/>
        </p:nvSpPr>
        <p:spPr>
          <a:xfrm>
            <a:off x="777240" y="1874520"/>
            <a:ext cx="10637215" cy="457200"/>
          </a:xfrm>
          <a:prstGeom prst="rect">
            <a:avLst/>
          </a:prstGeom>
          <a:noFill/>
          <a:ln/>
        </p:spPr>
        <p:txBody>
          <a:bodyPr wrap="square" lIns="0" tIns="0" rIns="0" bIns="0" rtlCol="0" anchor="t"/>
          <a:lstStyle/>
          <a:p>
            <a:pPr indent="0" marL="0">
              <a:buNone/>
            </a:pPr>
            <a:r>
              <a:rPr lang="en-US" sz="1200" dirty="0">
                <a:solidFill>
                  <a:srgbClr val="6A7A92"/>
                </a:solidFill>
                <a:latin typeface="Courier New" pitchFamily="34" charset="0"/>
                <a:ea typeface="Courier New" pitchFamily="34" charset="-122"/>
                <a:cs typeface="Courier New" pitchFamily="34" charset="-120"/>
              </a:rPr>
              <a:t>$ </a:t>
            </a:r>
            <a:pPr indent="0" marL="0">
              <a:buNone/>
            </a:pPr>
            <a:r>
              <a:rPr lang="en-US" sz="1200" dirty="0">
                <a:solidFill>
                  <a:srgbClr val="D6DEEB"/>
                </a:solidFill>
                <a:latin typeface="Courier New" pitchFamily="34" charset="0"/>
                <a:ea typeface="Courier New" pitchFamily="34" charset="-122"/>
                <a:cs typeface="Courier New" pitchFamily="34" charset="-120"/>
              </a:rPr>
              <a:t>API=http://localhost:5050</a:t>
            </a:r>
            <a:pPr indent="0" marL="0">
              <a:buNone/>
            </a:pPr>
            <a:r>
              <a:rPr lang="en-US" sz="1200" dirty="0">
                <a:solidFill>
                  <a:srgbClr val="6A7A92"/>
                </a:solidFill>
                <a:latin typeface="Courier New" pitchFamily="34" charset="0"/>
                <a:ea typeface="Courier New" pitchFamily="34" charset="-122"/>
                <a:cs typeface="Courier New" pitchFamily="34" charset="-120"/>
              </a:rPr>
              <a:t>      # the server</a:t>
            </a:r>
            <a:pPr indent="0" marL="0">
              <a:buNone/>
            </a:pPr>
            <a:r>
              <a:rPr lang="en-US" sz="1200" dirty="0">
                <a:solidFill>
                  <a:srgbClr val="D6DEEB"/>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6A7A92"/>
                </a:solidFill>
                <a:latin typeface="Courier New" pitchFamily="34" charset="0"/>
                <a:ea typeface="Courier New" pitchFamily="34" charset="-122"/>
                <a:cs typeface="Courier New" pitchFamily="34" charset="-120"/>
              </a:rPr>
              <a:t>$ </a:t>
            </a:r>
            <a:pPr indent="0" marL="0">
              <a:buNone/>
            </a:pPr>
            <a:r>
              <a:rPr lang="en-US" sz="1200" dirty="0">
                <a:solidFill>
                  <a:srgbClr val="D6DEEB"/>
                </a:solidFill>
                <a:latin typeface="Courier New" pitchFamily="34" charset="0"/>
                <a:ea typeface="Courier New" pitchFamily="34" charset="-122"/>
                <a:cs typeface="Courier New" pitchFamily="34" charset="-120"/>
              </a:rPr>
              <a:t>ID=6a226fff816eba41437ddf38</a:t>
            </a:r>
            <a:pPr indent="0" marL="0">
              <a:buNone/>
            </a:pPr>
            <a:r>
              <a:rPr lang="en-US" sz="1200" dirty="0">
                <a:solidFill>
                  <a:srgbClr val="6A7A92"/>
                </a:solidFill>
                <a:latin typeface="Courier New" pitchFamily="34" charset="0"/>
                <a:ea typeface="Courier New" pitchFamily="34" charset="-122"/>
                <a:cs typeface="Courier New" pitchFamily="34" charset="-120"/>
              </a:rPr>
              <a:t>    # a transaction definition ("pay banana")</a:t>
            </a:r>
            <a:endParaRPr lang="en-US" sz="1200" dirty="0"/>
          </a:p>
        </p:txBody>
      </p:sp>
      <p:sp>
        <p:nvSpPr>
          <p:cNvPr id="6" name="Shape 4"/>
          <p:cNvSpPr/>
          <p:nvPr/>
        </p:nvSpPr>
        <p:spPr>
          <a:xfrm>
            <a:off x="548640" y="2697480"/>
            <a:ext cx="5364328" cy="1463040"/>
          </a:xfrm>
          <a:prstGeom prst="roundRect">
            <a:avLst>
              <a:gd name="adj" fmla="val 5000"/>
            </a:avLst>
          </a:prstGeom>
          <a:solidFill>
            <a:srgbClr val="0F1623"/>
          </a:solidFill>
          <a:ln w="12700">
            <a:solidFill>
              <a:srgbClr val="0F1623"/>
            </a:solidFill>
            <a:prstDash val="solid"/>
          </a:ln>
        </p:spPr>
      </p:sp>
      <p:sp>
        <p:nvSpPr>
          <p:cNvPr id="7" name="Text 5"/>
          <p:cNvSpPr txBox="1"/>
          <p:nvPr/>
        </p:nvSpPr>
        <p:spPr>
          <a:xfrm>
            <a:off x="777240" y="2834640"/>
            <a:ext cx="4907128"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1 · List definitions and their IDs</a:t>
            </a:r>
            <a:endParaRPr lang="en-US" sz="1100" dirty="0"/>
          </a:p>
        </p:txBody>
      </p:sp>
      <p:sp>
        <p:nvSpPr>
          <p:cNvPr id="8" name="Text 6"/>
          <p:cNvSpPr txBox="1"/>
          <p:nvPr/>
        </p:nvSpPr>
        <p:spPr>
          <a:xfrm>
            <a:off x="777240" y="3154680"/>
            <a:ext cx="4907128" cy="868680"/>
          </a:xfrm>
          <a:prstGeom prst="rect">
            <a:avLst/>
          </a:prstGeom>
          <a:noFill/>
          <a:ln/>
        </p:spPr>
        <p:txBody>
          <a:bodyPr wrap="square" lIns="0" tIns="0" rIns="0" bIns="0" rtlCol="0" anchor="t"/>
          <a:lstStyle/>
          <a:p>
            <a:pPr indent="0" marL="0">
              <a:buNone/>
            </a:pPr>
            <a:r>
              <a:rPr lang="en-US" sz="1100" dirty="0">
                <a:solidFill>
                  <a:srgbClr val="6A7A92"/>
                </a:solidFill>
                <a:latin typeface="Courier New" pitchFamily="34" charset="0"/>
                <a:ea typeface="Courier New" pitchFamily="34" charset="-122"/>
                <a:cs typeface="Courier New" pitchFamily="34" charset="-120"/>
              </a:rPr>
              <a:t>$ </a:t>
            </a:r>
            <a:pPr indent="0" marL="0">
              <a:buNone/>
            </a:pPr>
            <a:r>
              <a:rPr lang="en-US" sz="1100" dirty="0">
                <a:solidFill>
                  <a:srgbClr val="D6DEEB"/>
                </a:solidFill>
                <a:latin typeface="Courier New" pitchFamily="34" charset="0"/>
                <a:ea typeface="Courier New" pitchFamily="34" charset="-122"/>
                <a:cs typeface="Courier New" pitchFamily="34" charset="-120"/>
              </a:rPr>
              <a:t>curl -s $API/txndef | jq -r '.[] | "\(._id) \(.name)"'</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66396e466d6b9f2a08710c38 DWRS</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6a226fff816eba41437ddf38 pay banana</a:t>
            </a:r>
            <a:endParaRPr lang="en-US" sz="1100" dirty="0"/>
          </a:p>
        </p:txBody>
      </p:sp>
      <p:sp>
        <p:nvSpPr>
          <p:cNvPr id="9" name="Shape 7"/>
          <p:cNvSpPr/>
          <p:nvPr/>
        </p:nvSpPr>
        <p:spPr>
          <a:xfrm>
            <a:off x="6278728" y="2697480"/>
            <a:ext cx="5364328" cy="1463040"/>
          </a:xfrm>
          <a:prstGeom prst="roundRect">
            <a:avLst>
              <a:gd name="adj" fmla="val 5000"/>
            </a:avLst>
          </a:prstGeom>
          <a:solidFill>
            <a:srgbClr val="0F1623"/>
          </a:solidFill>
          <a:ln w="12700">
            <a:solidFill>
              <a:srgbClr val="0F1623"/>
            </a:solidFill>
            <a:prstDash val="solid"/>
          </a:ln>
        </p:spPr>
      </p:sp>
      <p:sp>
        <p:nvSpPr>
          <p:cNvPr id="10" name="Text 8"/>
          <p:cNvSpPr txBox="1"/>
          <p:nvPr/>
        </p:nvSpPr>
        <p:spPr>
          <a:xfrm>
            <a:off x="6507328" y="2834640"/>
            <a:ext cx="4907128"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2 · Inspect a definition’s steps</a:t>
            </a:r>
            <a:endParaRPr lang="en-US" sz="1100" dirty="0"/>
          </a:p>
        </p:txBody>
      </p:sp>
      <p:sp>
        <p:nvSpPr>
          <p:cNvPr id="11" name="Text 9"/>
          <p:cNvSpPr txBox="1"/>
          <p:nvPr/>
        </p:nvSpPr>
        <p:spPr>
          <a:xfrm>
            <a:off x="6507328" y="3154680"/>
            <a:ext cx="4907128" cy="868680"/>
          </a:xfrm>
          <a:prstGeom prst="rect">
            <a:avLst/>
          </a:prstGeom>
          <a:noFill/>
          <a:ln/>
        </p:spPr>
        <p:txBody>
          <a:bodyPr wrap="square" lIns="0" tIns="0" rIns="0" bIns="0" rtlCol="0" anchor="t"/>
          <a:lstStyle/>
          <a:p>
            <a:pPr indent="0" marL="0">
              <a:buNone/>
            </a:pPr>
            <a:r>
              <a:rPr lang="en-US" sz="1100" dirty="0">
                <a:solidFill>
                  <a:srgbClr val="6A7A92"/>
                </a:solidFill>
                <a:latin typeface="Courier New" pitchFamily="34" charset="0"/>
                <a:ea typeface="Courier New" pitchFamily="34" charset="-122"/>
                <a:cs typeface="Courier New" pitchFamily="34" charset="-120"/>
              </a:rPr>
              <a:t>$ </a:t>
            </a:r>
            <a:pPr indent="0" marL="0">
              <a:buNone/>
            </a:pPr>
            <a:r>
              <a:rPr lang="en-US" sz="1100" dirty="0">
                <a:solidFill>
                  <a:srgbClr val="D6DEEB"/>
                </a:solidFill>
                <a:latin typeface="Courier New" pitchFamily="34" charset="0"/>
                <a:ea typeface="Courier New" pitchFamily="34" charset="-122"/>
                <a:cs typeface="Courier New" pitchFamily="34" charset="-120"/>
              </a:rPr>
              <a:t>curl -s $API/txndef/$ID \</a:t>
            </a:r>
            <a:endParaRPr lang="en-US" sz="1100" dirty="0"/>
          </a:p>
          <a:p>
            <a:pPr indent="0" marL="0">
              <a:buNone/>
            </a:pPr>
            <a:r>
              <a:rPr lang="en-US" sz="1100" dirty="0">
                <a:solidFill>
                  <a:srgbClr val="D6DEEB"/>
                </a:solidFill>
                <a:latin typeface="Courier New" pitchFamily="34" charset="0"/>
                <a:ea typeface="Courier New" pitchFamily="34" charset="-122"/>
                <a:cs typeface="Courier New" pitchFamily="34" charset="-120"/>
              </a:rPr>
              <a:t>    | jq -c '.schema.fields[0].fields[] | {name, type}'</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{"name":"step-details","type":null}</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{"name":"step-payment","type":"payment"}</a:t>
            </a:r>
            <a:endParaRPr lang="en-US" sz="1100" dirty="0"/>
          </a:p>
        </p:txBody>
      </p:sp>
      <p:sp>
        <p:nvSpPr>
          <p:cNvPr id="12" name="Shape 10"/>
          <p:cNvSpPr/>
          <p:nvPr/>
        </p:nvSpPr>
        <p:spPr>
          <a:xfrm>
            <a:off x="548640" y="4389120"/>
            <a:ext cx="5364328" cy="1463040"/>
          </a:xfrm>
          <a:prstGeom prst="roundRect">
            <a:avLst>
              <a:gd name="adj" fmla="val 5000"/>
            </a:avLst>
          </a:prstGeom>
          <a:solidFill>
            <a:srgbClr val="0F1623"/>
          </a:solidFill>
          <a:ln w="12700">
            <a:solidFill>
              <a:srgbClr val="0F1623"/>
            </a:solidFill>
            <a:prstDash val="solid"/>
          </a:ln>
        </p:spPr>
      </p:sp>
      <p:sp>
        <p:nvSpPr>
          <p:cNvPr id="13" name="Text 11"/>
          <p:cNvSpPr txBox="1"/>
          <p:nvPr/>
        </p:nvSpPr>
        <p:spPr>
          <a:xfrm>
            <a:off x="777240" y="4526280"/>
            <a:ext cx="4907128"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3 · Pull completed transactions</a:t>
            </a:r>
            <a:endParaRPr lang="en-US" sz="1100" dirty="0"/>
          </a:p>
        </p:txBody>
      </p:sp>
      <p:sp>
        <p:nvSpPr>
          <p:cNvPr id="14" name="Text 12"/>
          <p:cNvSpPr txBox="1"/>
          <p:nvPr/>
        </p:nvSpPr>
        <p:spPr>
          <a:xfrm>
            <a:off x="777240" y="4846320"/>
            <a:ext cx="4907128" cy="868680"/>
          </a:xfrm>
          <a:prstGeom prst="rect">
            <a:avLst/>
          </a:prstGeom>
          <a:noFill/>
          <a:ln/>
        </p:spPr>
        <p:txBody>
          <a:bodyPr wrap="square" lIns="0" tIns="0" rIns="0" bIns="0" rtlCol="0" anchor="t"/>
          <a:lstStyle/>
          <a:p>
            <a:pPr indent="0" marL="0">
              <a:buNone/>
            </a:pPr>
            <a:r>
              <a:rPr lang="en-US" sz="1100" dirty="0">
                <a:solidFill>
                  <a:srgbClr val="6A7A92"/>
                </a:solidFill>
                <a:latin typeface="Courier New" pitchFamily="34" charset="0"/>
                <a:ea typeface="Courier New" pitchFamily="34" charset="-122"/>
                <a:cs typeface="Courier New" pitchFamily="34" charset="-120"/>
              </a:rPr>
              <a:t>$ </a:t>
            </a:r>
            <a:pPr indent="0" marL="0">
              <a:buNone/>
            </a:pPr>
            <a:r>
              <a:rPr lang="en-US" sz="1100" dirty="0">
                <a:solidFill>
                  <a:srgbClr val="D6DEEB"/>
                </a:solidFill>
                <a:latin typeface="Courier New" pitchFamily="34" charset="0"/>
                <a:ea typeface="Courier New" pitchFamily="34" charset="-122"/>
                <a:cs typeface="Courier New" pitchFamily="34" charset="-120"/>
              </a:rPr>
              <a:t>curl -s $API/api/transactions/$ID \</a:t>
            </a:r>
            <a:endParaRPr lang="en-US" sz="1100" dirty="0"/>
          </a:p>
          <a:p>
            <a:pPr indent="0" marL="0">
              <a:buNone/>
            </a:pPr>
            <a:r>
              <a:rPr lang="en-US" sz="1100" dirty="0">
                <a:solidFill>
                  <a:srgbClr val="D6DEEB"/>
                </a:solidFill>
                <a:latin typeface="Courier New" pitchFamily="34" charset="0"/>
                <a:ea typeface="Courier New" pitchFamily="34" charset="-122"/>
                <a:cs typeface="Courier New" pitchFamily="34" charset="-120"/>
              </a:rPr>
              <a:t>    | jq '.[] | {status, payment_amount, data}'</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 "status": "complete", "payment_amount": 5000,</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  "data": { "first_name": "Alex", … } }</a:t>
            </a:r>
            <a:endParaRPr lang="en-US" sz="1100" dirty="0"/>
          </a:p>
        </p:txBody>
      </p:sp>
      <p:sp>
        <p:nvSpPr>
          <p:cNvPr id="15" name="Shape 13"/>
          <p:cNvSpPr/>
          <p:nvPr/>
        </p:nvSpPr>
        <p:spPr>
          <a:xfrm>
            <a:off x="6278728" y="4389120"/>
            <a:ext cx="5364328" cy="1463040"/>
          </a:xfrm>
          <a:prstGeom prst="roundRect">
            <a:avLst>
              <a:gd name="adj" fmla="val 5000"/>
            </a:avLst>
          </a:prstGeom>
          <a:solidFill>
            <a:srgbClr val="0F1623"/>
          </a:solidFill>
          <a:ln w="12700">
            <a:solidFill>
              <a:srgbClr val="0F1623"/>
            </a:solidFill>
            <a:prstDash val="solid"/>
          </a:ln>
        </p:spPr>
      </p:sp>
      <p:sp>
        <p:nvSpPr>
          <p:cNvPr id="16" name="Text 14"/>
          <p:cNvSpPr txBox="1"/>
          <p:nvPr/>
        </p:nvSpPr>
        <p:spPr>
          <a:xfrm>
            <a:off x="6507328" y="4526280"/>
            <a:ext cx="4907128" cy="274320"/>
          </a:xfrm>
          <a:prstGeom prst="rect">
            <a:avLst/>
          </a:prstGeom>
          <a:noFill/>
          <a:ln/>
        </p:spPr>
        <p:txBody>
          <a:bodyPr wrap="square" lIns="0" tIns="0" rIns="0" bIns="0" rtlCol="0" anchor="ctr"/>
          <a:lstStyle/>
          <a:p>
            <a:pPr indent="0" marL="0">
              <a:buNone/>
            </a:pPr>
            <a:r>
              <a:rPr lang="en-US" sz="1100" dirty="0">
                <a:solidFill>
                  <a:srgbClr val="7A8699"/>
                </a:solidFill>
                <a:latin typeface="Calibri" pitchFamily="34" charset="0"/>
                <a:ea typeface="Calibri" pitchFamily="34" charset="-122"/>
                <a:cs typeface="Calibri" pitchFamily="34" charset="-120"/>
              </a:rPr>
              <a:t>4 · Export straight to CSV</a:t>
            </a:r>
            <a:endParaRPr lang="en-US" sz="1100" dirty="0"/>
          </a:p>
        </p:txBody>
      </p:sp>
      <p:sp>
        <p:nvSpPr>
          <p:cNvPr id="17" name="Text 15"/>
          <p:cNvSpPr txBox="1"/>
          <p:nvPr/>
        </p:nvSpPr>
        <p:spPr>
          <a:xfrm>
            <a:off x="6507328" y="4846320"/>
            <a:ext cx="4907128" cy="868680"/>
          </a:xfrm>
          <a:prstGeom prst="rect">
            <a:avLst/>
          </a:prstGeom>
          <a:noFill/>
          <a:ln/>
        </p:spPr>
        <p:txBody>
          <a:bodyPr wrap="square" lIns="0" tIns="0" rIns="0" bIns="0" rtlCol="0" anchor="t"/>
          <a:lstStyle/>
          <a:p>
            <a:pPr indent="0" marL="0">
              <a:buNone/>
            </a:pPr>
            <a:r>
              <a:rPr lang="en-US" sz="1100" dirty="0">
                <a:solidFill>
                  <a:srgbClr val="6A7A92"/>
                </a:solidFill>
                <a:latin typeface="Courier New" pitchFamily="34" charset="0"/>
                <a:ea typeface="Courier New" pitchFamily="34" charset="-122"/>
                <a:cs typeface="Courier New" pitchFamily="34" charset="-120"/>
              </a:rPr>
              <a:t>$ </a:t>
            </a:r>
            <a:pPr indent="0" marL="0">
              <a:buNone/>
            </a:pPr>
            <a:r>
              <a:rPr lang="en-US" sz="1100" dirty="0">
                <a:solidFill>
                  <a:srgbClr val="D6DEEB"/>
                </a:solidFill>
                <a:latin typeface="Courier New" pitchFamily="34" charset="0"/>
                <a:ea typeface="Courier New" pitchFamily="34" charset="-122"/>
                <a:cs typeface="Courier New" pitchFamily="34" charset="-120"/>
              </a:rPr>
              <a:t>curl -s $API/api/transactions/$ID | jq -r \</a:t>
            </a:r>
            <a:endParaRPr lang="en-US" sz="1100" dirty="0"/>
          </a:p>
          <a:p>
            <a:pPr indent="0" marL="0">
              <a:buNone/>
            </a:pPr>
            <a:r>
              <a:rPr lang="en-US" sz="1100" dirty="0">
                <a:solidFill>
                  <a:srgbClr val="D6DEEB"/>
                </a:solidFill>
                <a:latin typeface="Courier New" pitchFamily="34" charset="0"/>
                <a:ea typeface="Courier New" pitchFamily="34" charset="-122"/>
                <a:cs typeface="Courier New" pitchFamily="34" charset="-120"/>
              </a:rPr>
              <a:t>    '.[] | [.data.email, .status] | @csv' &gt; out.csv</a:t>
            </a:r>
            <a:endParaRPr lang="en-US" sz="1100" dirty="0"/>
          </a:p>
          <a:p>
            <a:pPr indent="0" marL="0">
              <a:buNone/>
            </a:pPr>
            <a:r>
              <a:rPr lang="en-US" sz="1100" dirty="0">
                <a:solidFill>
                  <a:srgbClr val="6A7A92"/>
                </a:solidFill>
                <a:latin typeface="Courier New" pitchFamily="34" charset="0"/>
                <a:ea typeface="Courier New" pitchFamily="34" charset="-122"/>
                <a:cs typeface="Courier New" pitchFamily="34" charset="-120"/>
              </a:rPr>
              <a:t>"alex@example.com","complete"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536"/>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Connects to the systems you already run</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B8C2D3"/>
                </a:solidFill>
                <a:latin typeface="Calibri" pitchFamily="34" charset="0"/>
                <a:ea typeface="Calibri" pitchFamily="34" charset="-122"/>
                <a:cs typeface="Calibri" pitchFamily="34" charset="-120"/>
              </a:rPr>
              <a:t>Anything with an HTTP endpoint can sit before, during or after a transaction</a:t>
            </a:r>
            <a:endParaRPr lang="en-US" sz="1600" dirty="0"/>
          </a:p>
        </p:txBody>
      </p:sp>
      <p:sp>
        <p:nvSpPr>
          <p:cNvPr id="4" name="Shape 2"/>
          <p:cNvSpPr/>
          <p:nvPr/>
        </p:nvSpPr>
        <p:spPr>
          <a:xfrm flipH="1">
            <a:off x="6095848" y="2307031"/>
            <a:ext cx="0" cy="1762049"/>
          </a:xfrm>
          <a:prstGeom prst="line">
            <a:avLst/>
          </a:prstGeom>
          <a:noFill/>
          <a:ln w="19050">
            <a:solidFill>
              <a:srgbClr val="4A5870"/>
            </a:solidFill>
            <a:prstDash val="dash"/>
          </a:ln>
        </p:spPr>
      </p:sp>
      <p:sp>
        <p:nvSpPr>
          <p:cNvPr id="5" name="Shape 3"/>
          <p:cNvSpPr/>
          <p:nvPr/>
        </p:nvSpPr>
        <p:spPr>
          <a:xfrm flipH="1">
            <a:off x="6095848" y="3188056"/>
            <a:ext cx="2884473" cy="881024"/>
          </a:xfrm>
          <a:prstGeom prst="line">
            <a:avLst/>
          </a:prstGeom>
          <a:noFill/>
          <a:ln w="19050">
            <a:solidFill>
              <a:srgbClr val="4A5870"/>
            </a:solidFill>
            <a:prstDash val="dash"/>
          </a:ln>
        </p:spPr>
      </p:sp>
      <p:sp>
        <p:nvSpPr>
          <p:cNvPr id="6" name="Shape 4"/>
          <p:cNvSpPr/>
          <p:nvPr/>
        </p:nvSpPr>
        <p:spPr>
          <a:xfrm>
            <a:off x="6095848" y="4069080"/>
            <a:ext cx="2884473" cy="881024"/>
          </a:xfrm>
          <a:prstGeom prst="line">
            <a:avLst/>
          </a:prstGeom>
          <a:noFill/>
          <a:ln w="19050">
            <a:solidFill>
              <a:srgbClr val="4A5870"/>
            </a:solidFill>
            <a:prstDash val="dash"/>
          </a:ln>
        </p:spPr>
      </p:sp>
      <p:sp>
        <p:nvSpPr>
          <p:cNvPr id="7" name="Shape 5"/>
          <p:cNvSpPr/>
          <p:nvPr/>
        </p:nvSpPr>
        <p:spPr>
          <a:xfrm>
            <a:off x="6095848" y="4069080"/>
            <a:ext cx="0" cy="1762049"/>
          </a:xfrm>
          <a:prstGeom prst="line">
            <a:avLst/>
          </a:prstGeom>
          <a:noFill/>
          <a:ln w="19050">
            <a:solidFill>
              <a:srgbClr val="4A5870"/>
            </a:solidFill>
            <a:prstDash val="dash"/>
          </a:ln>
        </p:spPr>
      </p:sp>
      <p:sp>
        <p:nvSpPr>
          <p:cNvPr id="8" name="Shape 6"/>
          <p:cNvSpPr/>
          <p:nvPr/>
        </p:nvSpPr>
        <p:spPr>
          <a:xfrm flipH="1">
            <a:off x="3211375" y="4069080"/>
            <a:ext cx="2884473" cy="881024"/>
          </a:xfrm>
          <a:prstGeom prst="line">
            <a:avLst/>
          </a:prstGeom>
          <a:noFill/>
          <a:ln w="19050">
            <a:solidFill>
              <a:srgbClr val="4A5870"/>
            </a:solidFill>
            <a:prstDash val="dash"/>
          </a:ln>
        </p:spPr>
      </p:sp>
      <p:sp>
        <p:nvSpPr>
          <p:cNvPr id="9" name="Shape 7"/>
          <p:cNvSpPr/>
          <p:nvPr/>
        </p:nvSpPr>
        <p:spPr>
          <a:xfrm>
            <a:off x="3211375" y="3188056"/>
            <a:ext cx="2884473" cy="881024"/>
          </a:xfrm>
          <a:prstGeom prst="line">
            <a:avLst/>
          </a:prstGeom>
          <a:noFill/>
          <a:ln w="19050">
            <a:solidFill>
              <a:srgbClr val="4A5870"/>
            </a:solidFill>
            <a:prstDash val="dash"/>
          </a:ln>
        </p:spPr>
      </p:sp>
      <p:sp>
        <p:nvSpPr>
          <p:cNvPr id="10" name="Shape 8"/>
          <p:cNvSpPr/>
          <p:nvPr/>
        </p:nvSpPr>
        <p:spPr>
          <a:xfrm>
            <a:off x="5135728" y="3108960"/>
            <a:ext cx="1920240" cy="1920240"/>
          </a:xfrm>
          <a:prstGeom prst="ellipse">
            <a:avLst/>
          </a:prstGeom>
          <a:solidFill>
            <a:srgbClr val="E3710A"/>
          </a:solidFill>
          <a:ln w="12700">
            <a:solidFill>
              <a:srgbClr val="E3710A"/>
            </a:solidFill>
            <a:prstDash val="solid"/>
          </a:ln>
        </p:spPr>
      </p:sp>
      <p:sp>
        <p:nvSpPr>
          <p:cNvPr id="11" name="Text 9"/>
          <p:cNvSpPr txBox="1"/>
          <p:nvPr/>
        </p:nvSpPr>
        <p:spPr>
          <a:xfrm>
            <a:off x="5135728" y="3108960"/>
            <a:ext cx="1920240" cy="1920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Transaction</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engine</a:t>
            </a:r>
            <a:endParaRPr lang="en-US" sz="1700" dirty="0"/>
          </a:p>
        </p:txBody>
      </p:sp>
      <p:sp>
        <p:nvSpPr>
          <p:cNvPr id="12" name="Shape 10"/>
          <p:cNvSpPr/>
          <p:nvPr/>
        </p:nvSpPr>
        <p:spPr>
          <a:xfrm>
            <a:off x="4952848" y="1872691"/>
            <a:ext cx="2286000" cy="868680"/>
          </a:xfrm>
          <a:prstGeom prst="roundRect">
            <a:avLst>
              <a:gd name="adj" fmla="val 10526"/>
            </a:avLst>
          </a:prstGeom>
          <a:solidFill>
            <a:srgbClr val="26324A"/>
          </a:solidFill>
          <a:ln w="15875">
            <a:solidFill>
              <a:srgbClr val="E3710A"/>
            </a:solidFill>
            <a:prstDash val="solid"/>
          </a:ln>
        </p:spPr>
      </p:sp>
      <p:pic>
        <p:nvPicPr>
          <p:cNvPr id="13" name="Image 0" descr="preencoded.png">    </p:cNvPr>
          <p:cNvPicPr>
            <a:picLocks noChangeAspect="1"/>
          </p:cNvPicPr>
          <p:nvPr/>
        </p:nvPicPr>
        <p:blipFill>
          <a:blip r:embed="rId1"/>
          <a:stretch>
            <a:fillRect/>
          </a:stretch>
        </p:blipFill>
        <p:spPr>
          <a:xfrm>
            <a:off x="5135728" y="2124151"/>
            <a:ext cx="365760" cy="365760"/>
          </a:xfrm>
          <a:prstGeom prst="rect">
            <a:avLst/>
          </a:prstGeom>
        </p:spPr>
      </p:pic>
      <p:sp>
        <p:nvSpPr>
          <p:cNvPr id="14" name="Text 11"/>
          <p:cNvSpPr txBox="1"/>
          <p:nvPr/>
        </p:nvSpPr>
        <p:spPr>
          <a:xfrm>
            <a:off x="5638648" y="1977847"/>
            <a:ext cx="1508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Payments</a:t>
            </a:r>
            <a:endParaRPr lang="en-US" sz="1400" dirty="0"/>
          </a:p>
        </p:txBody>
      </p:sp>
      <p:sp>
        <p:nvSpPr>
          <p:cNvPr id="15" name="Text 12"/>
          <p:cNvSpPr txBox="1"/>
          <p:nvPr/>
        </p:nvSpPr>
        <p:spPr>
          <a:xfrm>
            <a:off x="5638648" y="2307031"/>
            <a:ext cx="1508760" cy="292608"/>
          </a:xfrm>
          <a:prstGeom prst="rect">
            <a:avLst/>
          </a:prstGeom>
          <a:noFill/>
          <a:ln/>
        </p:spPr>
        <p:txBody>
          <a:bodyPr wrap="square" lIns="0" tIns="0" rIns="0" bIns="0" rtlCol="0" anchor="ctr"/>
          <a:lstStyle/>
          <a:p>
            <a:pPr indent="0" marL="0">
              <a:buNone/>
            </a:pPr>
            <a:r>
              <a:rPr lang="en-US" sz="1100" dirty="0">
                <a:solidFill>
                  <a:srgbClr val="B8C2D3"/>
                </a:solidFill>
                <a:latin typeface="Calibri" pitchFamily="34" charset="0"/>
                <a:ea typeface="Calibri" pitchFamily="34" charset="-122"/>
                <a:cs typeface="Calibri" pitchFamily="34" charset="-120"/>
              </a:rPr>
              <a:t>Stripe (live today)</a:t>
            </a:r>
            <a:endParaRPr lang="en-US" sz="1100" dirty="0"/>
          </a:p>
        </p:txBody>
      </p:sp>
      <p:sp>
        <p:nvSpPr>
          <p:cNvPr id="16" name="Shape 13"/>
          <p:cNvSpPr/>
          <p:nvPr/>
        </p:nvSpPr>
        <p:spPr>
          <a:xfrm>
            <a:off x="7837320" y="2753716"/>
            <a:ext cx="2286000" cy="868680"/>
          </a:xfrm>
          <a:prstGeom prst="roundRect">
            <a:avLst>
              <a:gd name="adj" fmla="val 10526"/>
            </a:avLst>
          </a:prstGeom>
          <a:solidFill>
            <a:srgbClr val="26324A"/>
          </a:solidFill>
          <a:ln w="15875">
            <a:solidFill>
              <a:srgbClr val="3A4863"/>
            </a:solidFill>
            <a:prstDash val="solid"/>
          </a:ln>
        </p:spPr>
      </p:sp>
      <p:pic>
        <p:nvPicPr>
          <p:cNvPr id="17" name="Image 1" descr="preencoded.png">    </p:cNvPr>
          <p:cNvPicPr>
            <a:picLocks noChangeAspect="1"/>
          </p:cNvPicPr>
          <p:nvPr/>
        </p:nvPicPr>
        <p:blipFill>
          <a:blip r:embed="rId2"/>
          <a:stretch>
            <a:fillRect/>
          </a:stretch>
        </p:blipFill>
        <p:spPr>
          <a:xfrm>
            <a:off x="8020200" y="3005176"/>
            <a:ext cx="365760" cy="365760"/>
          </a:xfrm>
          <a:prstGeom prst="rect">
            <a:avLst/>
          </a:prstGeom>
        </p:spPr>
      </p:pic>
      <p:sp>
        <p:nvSpPr>
          <p:cNvPr id="18" name="Text 14"/>
          <p:cNvSpPr txBox="1"/>
          <p:nvPr/>
        </p:nvSpPr>
        <p:spPr>
          <a:xfrm>
            <a:off x="8523120" y="2858872"/>
            <a:ext cx="1508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Identity</a:t>
            </a:r>
            <a:endParaRPr lang="en-US" sz="1400" dirty="0"/>
          </a:p>
        </p:txBody>
      </p:sp>
      <p:sp>
        <p:nvSpPr>
          <p:cNvPr id="19" name="Text 15"/>
          <p:cNvSpPr txBox="1"/>
          <p:nvPr/>
        </p:nvSpPr>
        <p:spPr>
          <a:xfrm>
            <a:off x="8523120" y="3188056"/>
            <a:ext cx="1508760" cy="292608"/>
          </a:xfrm>
          <a:prstGeom prst="rect">
            <a:avLst/>
          </a:prstGeom>
          <a:noFill/>
          <a:ln/>
        </p:spPr>
        <p:txBody>
          <a:bodyPr wrap="square" lIns="0" tIns="0" rIns="0" bIns="0" rtlCol="0" anchor="ctr"/>
          <a:lstStyle/>
          <a:p>
            <a:pPr indent="0" marL="0">
              <a:buNone/>
            </a:pPr>
            <a:r>
              <a:rPr lang="en-US" sz="1100" dirty="0">
                <a:solidFill>
                  <a:srgbClr val="B8C2D3"/>
                </a:solidFill>
                <a:latin typeface="Calibri" pitchFamily="34" charset="0"/>
                <a:ea typeface="Calibri" pitchFamily="34" charset="-122"/>
                <a:cs typeface="Calibri" pitchFamily="34" charset="-120"/>
              </a:rPr>
              <a:t>Verify before submit</a:t>
            </a:r>
            <a:endParaRPr lang="en-US" sz="1100" dirty="0"/>
          </a:p>
        </p:txBody>
      </p:sp>
      <p:sp>
        <p:nvSpPr>
          <p:cNvPr id="20" name="Shape 16"/>
          <p:cNvSpPr/>
          <p:nvPr/>
        </p:nvSpPr>
        <p:spPr>
          <a:xfrm>
            <a:off x="7837320" y="4515764"/>
            <a:ext cx="2286000" cy="868680"/>
          </a:xfrm>
          <a:prstGeom prst="roundRect">
            <a:avLst>
              <a:gd name="adj" fmla="val 10526"/>
            </a:avLst>
          </a:prstGeom>
          <a:solidFill>
            <a:srgbClr val="26324A"/>
          </a:solidFill>
          <a:ln w="15875">
            <a:solidFill>
              <a:srgbClr val="3A4863"/>
            </a:solidFill>
            <a:prstDash val="solid"/>
          </a:ln>
        </p:spPr>
      </p:sp>
      <p:pic>
        <p:nvPicPr>
          <p:cNvPr id="21" name="Image 2" descr="preencoded.png">    </p:cNvPr>
          <p:cNvPicPr>
            <a:picLocks noChangeAspect="1"/>
          </p:cNvPicPr>
          <p:nvPr/>
        </p:nvPicPr>
        <p:blipFill>
          <a:blip r:embed="rId3"/>
          <a:stretch>
            <a:fillRect/>
          </a:stretch>
        </p:blipFill>
        <p:spPr>
          <a:xfrm>
            <a:off x="8020200" y="4767224"/>
            <a:ext cx="365760" cy="365760"/>
          </a:xfrm>
          <a:prstGeom prst="rect">
            <a:avLst/>
          </a:prstGeom>
        </p:spPr>
      </p:pic>
      <p:sp>
        <p:nvSpPr>
          <p:cNvPr id="22" name="Text 17"/>
          <p:cNvSpPr txBox="1"/>
          <p:nvPr/>
        </p:nvSpPr>
        <p:spPr>
          <a:xfrm>
            <a:off x="8523120" y="4620920"/>
            <a:ext cx="1508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Case management</a:t>
            </a:r>
            <a:endParaRPr lang="en-US" sz="1400" dirty="0"/>
          </a:p>
        </p:txBody>
      </p:sp>
      <p:sp>
        <p:nvSpPr>
          <p:cNvPr id="23" name="Text 18"/>
          <p:cNvSpPr txBox="1"/>
          <p:nvPr/>
        </p:nvSpPr>
        <p:spPr>
          <a:xfrm>
            <a:off x="8523120" y="4950104"/>
            <a:ext cx="1508760" cy="292608"/>
          </a:xfrm>
          <a:prstGeom prst="rect">
            <a:avLst/>
          </a:prstGeom>
          <a:noFill/>
          <a:ln/>
        </p:spPr>
        <p:txBody>
          <a:bodyPr wrap="square" lIns="0" tIns="0" rIns="0" bIns="0" rtlCol="0" anchor="ctr"/>
          <a:lstStyle/>
          <a:p>
            <a:pPr indent="0" marL="0">
              <a:buNone/>
            </a:pPr>
            <a:r>
              <a:rPr lang="en-US" sz="1100" dirty="0">
                <a:solidFill>
                  <a:srgbClr val="B8C2D3"/>
                </a:solidFill>
                <a:latin typeface="Calibri" pitchFamily="34" charset="0"/>
                <a:ea typeface="Calibri" pitchFamily="34" charset="-122"/>
                <a:cs typeface="Calibri" pitchFamily="34" charset="-120"/>
              </a:rPr>
              <a:t>Open a case on completion</a:t>
            </a:r>
            <a:endParaRPr lang="en-US" sz="1100" dirty="0"/>
          </a:p>
        </p:txBody>
      </p:sp>
      <p:sp>
        <p:nvSpPr>
          <p:cNvPr id="24" name="Shape 19"/>
          <p:cNvSpPr/>
          <p:nvPr/>
        </p:nvSpPr>
        <p:spPr>
          <a:xfrm>
            <a:off x="4952848" y="5396789"/>
            <a:ext cx="2286000" cy="868680"/>
          </a:xfrm>
          <a:prstGeom prst="roundRect">
            <a:avLst>
              <a:gd name="adj" fmla="val 10526"/>
            </a:avLst>
          </a:prstGeom>
          <a:solidFill>
            <a:srgbClr val="26324A"/>
          </a:solidFill>
          <a:ln w="15875">
            <a:solidFill>
              <a:srgbClr val="3A4863"/>
            </a:solidFill>
            <a:prstDash val="solid"/>
          </a:ln>
        </p:spPr>
      </p:sp>
      <p:pic>
        <p:nvPicPr>
          <p:cNvPr id="25" name="Image 3" descr="preencoded.png">    </p:cNvPr>
          <p:cNvPicPr>
            <a:picLocks noChangeAspect="1"/>
          </p:cNvPicPr>
          <p:nvPr/>
        </p:nvPicPr>
        <p:blipFill>
          <a:blip r:embed="rId4"/>
          <a:stretch>
            <a:fillRect/>
          </a:stretch>
        </p:blipFill>
        <p:spPr>
          <a:xfrm>
            <a:off x="5135728" y="5648249"/>
            <a:ext cx="365760" cy="365760"/>
          </a:xfrm>
          <a:prstGeom prst="rect">
            <a:avLst/>
          </a:prstGeom>
        </p:spPr>
      </p:pic>
      <p:sp>
        <p:nvSpPr>
          <p:cNvPr id="26" name="Text 20"/>
          <p:cNvSpPr txBox="1"/>
          <p:nvPr/>
        </p:nvSpPr>
        <p:spPr>
          <a:xfrm>
            <a:off x="5638648" y="5501945"/>
            <a:ext cx="1508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Notifications</a:t>
            </a:r>
            <a:endParaRPr lang="en-US" sz="1400" dirty="0"/>
          </a:p>
        </p:txBody>
      </p:sp>
      <p:sp>
        <p:nvSpPr>
          <p:cNvPr id="27" name="Text 21"/>
          <p:cNvSpPr txBox="1"/>
          <p:nvPr/>
        </p:nvSpPr>
        <p:spPr>
          <a:xfrm>
            <a:off x="5638648" y="5831129"/>
            <a:ext cx="1508760" cy="292608"/>
          </a:xfrm>
          <a:prstGeom prst="rect">
            <a:avLst/>
          </a:prstGeom>
          <a:noFill/>
          <a:ln/>
        </p:spPr>
        <p:txBody>
          <a:bodyPr wrap="square" lIns="0" tIns="0" rIns="0" bIns="0" rtlCol="0" anchor="ctr"/>
          <a:lstStyle/>
          <a:p>
            <a:pPr indent="0" marL="0">
              <a:buNone/>
            </a:pPr>
            <a:r>
              <a:rPr lang="en-US" sz="1100" dirty="0">
                <a:solidFill>
                  <a:srgbClr val="B8C2D3"/>
                </a:solidFill>
                <a:latin typeface="Calibri" pitchFamily="34" charset="0"/>
                <a:ea typeface="Calibri" pitchFamily="34" charset="-122"/>
                <a:cs typeface="Calibri" pitchFamily="34" charset="-120"/>
              </a:rPr>
              <a:t>Email / SMS receipts</a:t>
            </a:r>
            <a:endParaRPr lang="en-US" sz="1100" dirty="0"/>
          </a:p>
        </p:txBody>
      </p:sp>
      <p:sp>
        <p:nvSpPr>
          <p:cNvPr id="28" name="Shape 22"/>
          <p:cNvSpPr/>
          <p:nvPr/>
        </p:nvSpPr>
        <p:spPr>
          <a:xfrm>
            <a:off x="2068375" y="4515764"/>
            <a:ext cx="2286000" cy="868680"/>
          </a:xfrm>
          <a:prstGeom prst="roundRect">
            <a:avLst>
              <a:gd name="adj" fmla="val 10526"/>
            </a:avLst>
          </a:prstGeom>
          <a:solidFill>
            <a:srgbClr val="26324A"/>
          </a:solidFill>
          <a:ln w="15875">
            <a:solidFill>
              <a:srgbClr val="3A4863"/>
            </a:solidFill>
            <a:prstDash val="solid"/>
          </a:ln>
        </p:spPr>
      </p:sp>
      <p:pic>
        <p:nvPicPr>
          <p:cNvPr id="29" name="Image 4" descr="preencoded.png">    </p:cNvPr>
          <p:cNvPicPr>
            <a:picLocks noChangeAspect="1"/>
          </p:cNvPicPr>
          <p:nvPr/>
        </p:nvPicPr>
        <p:blipFill>
          <a:blip r:embed="rId5"/>
          <a:stretch>
            <a:fillRect/>
          </a:stretch>
        </p:blipFill>
        <p:spPr>
          <a:xfrm>
            <a:off x="2251255" y="4767224"/>
            <a:ext cx="365760" cy="365760"/>
          </a:xfrm>
          <a:prstGeom prst="rect">
            <a:avLst/>
          </a:prstGeom>
        </p:spPr>
      </p:pic>
      <p:sp>
        <p:nvSpPr>
          <p:cNvPr id="30" name="Text 23"/>
          <p:cNvSpPr txBox="1"/>
          <p:nvPr/>
        </p:nvSpPr>
        <p:spPr>
          <a:xfrm>
            <a:off x="2754175" y="4620920"/>
            <a:ext cx="1508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Reporting / BI</a:t>
            </a:r>
            <a:endParaRPr lang="en-US" sz="1400" dirty="0"/>
          </a:p>
        </p:txBody>
      </p:sp>
      <p:sp>
        <p:nvSpPr>
          <p:cNvPr id="31" name="Text 24"/>
          <p:cNvSpPr txBox="1"/>
          <p:nvPr/>
        </p:nvSpPr>
        <p:spPr>
          <a:xfrm>
            <a:off x="2754175" y="4950104"/>
            <a:ext cx="1508760" cy="292608"/>
          </a:xfrm>
          <a:prstGeom prst="rect">
            <a:avLst/>
          </a:prstGeom>
          <a:noFill/>
          <a:ln/>
        </p:spPr>
        <p:txBody>
          <a:bodyPr wrap="square" lIns="0" tIns="0" rIns="0" bIns="0" rtlCol="0" anchor="ctr"/>
          <a:lstStyle/>
          <a:p>
            <a:pPr indent="0" marL="0">
              <a:buNone/>
            </a:pPr>
            <a:r>
              <a:rPr lang="en-US" sz="1100" dirty="0">
                <a:solidFill>
                  <a:srgbClr val="B8C2D3"/>
                </a:solidFill>
                <a:latin typeface="Calibri" pitchFamily="34" charset="0"/>
                <a:ea typeface="Calibri" pitchFamily="34" charset="-122"/>
                <a:cs typeface="Calibri" pitchFamily="34" charset="-120"/>
              </a:rPr>
              <a:t>Pull API feeds dashboards</a:t>
            </a:r>
            <a:endParaRPr lang="en-US" sz="1100" dirty="0"/>
          </a:p>
        </p:txBody>
      </p:sp>
      <p:sp>
        <p:nvSpPr>
          <p:cNvPr id="32" name="Shape 25"/>
          <p:cNvSpPr/>
          <p:nvPr/>
        </p:nvSpPr>
        <p:spPr>
          <a:xfrm>
            <a:off x="2068375" y="2753716"/>
            <a:ext cx="2286000" cy="868680"/>
          </a:xfrm>
          <a:prstGeom prst="roundRect">
            <a:avLst>
              <a:gd name="adj" fmla="val 10526"/>
            </a:avLst>
          </a:prstGeom>
          <a:solidFill>
            <a:srgbClr val="26324A"/>
          </a:solidFill>
          <a:ln w="15875">
            <a:solidFill>
              <a:srgbClr val="3A4863"/>
            </a:solidFill>
            <a:prstDash val="solid"/>
          </a:ln>
        </p:spPr>
      </p:sp>
      <p:pic>
        <p:nvPicPr>
          <p:cNvPr id="33" name="Image 5" descr="preencoded.png">    </p:cNvPr>
          <p:cNvPicPr>
            <a:picLocks noChangeAspect="1"/>
          </p:cNvPicPr>
          <p:nvPr/>
        </p:nvPicPr>
        <p:blipFill>
          <a:blip r:embed="rId6"/>
          <a:stretch>
            <a:fillRect/>
          </a:stretch>
        </p:blipFill>
        <p:spPr>
          <a:xfrm>
            <a:off x="2251255" y="3005176"/>
            <a:ext cx="365760" cy="365760"/>
          </a:xfrm>
          <a:prstGeom prst="rect">
            <a:avLst/>
          </a:prstGeom>
        </p:spPr>
      </p:pic>
      <p:sp>
        <p:nvSpPr>
          <p:cNvPr id="34" name="Text 26"/>
          <p:cNvSpPr txBox="1"/>
          <p:nvPr/>
        </p:nvSpPr>
        <p:spPr>
          <a:xfrm>
            <a:off x="2754175" y="2858872"/>
            <a:ext cx="1508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Compliance checks</a:t>
            </a:r>
            <a:endParaRPr lang="en-US" sz="1400" dirty="0"/>
          </a:p>
        </p:txBody>
      </p:sp>
      <p:sp>
        <p:nvSpPr>
          <p:cNvPr id="35" name="Text 27"/>
          <p:cNvSpPr txBox="1"/>
          <p:nvPr/>
        </p:nvSpPr>
        <p:spPr>
          <a:xfrm>
            <a:off x="2754175" y="3188056"/>
            <a:ext cx="1508760" cy="292608"/>
          </a:xfrm>
          <a:prstGeom prst="rect">
            <a:avLst/>
          </a:prstGeom>
          <a:noFill/>
          <a:ln/>
        </p:spPr>
        <p:txBody>
          <a:bodyPr wrap="square" lIns="0" tIns="0" rIns="0" bIns="0" rtlCol="0" anchor="ctr"/>
          <a:lstStyle/>
          <a:p>
            <a:pPr indent="0" marL="0">
              <a:buNone/>
            </a:pPr>
            <a:r>
              <a:rPr lang="en-US" sz="1100" dirty="0">
                <a:solidFill>
                  <a:srgbClr val="B8C2D3"/>
                </a:solidFill>
                <a:latin typeface="Calibri" pitchFamily="34" charset="0"/>
                <a:ea typeface="Calibri" pitchFamily="34" charset="-122"/>
                <a:cs typeface="Calibri" pitchFamily="34" charset="-120"/>
              </a:rPr>
              <a:t>Police check, registries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Under the hood</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The demo stack — open-source, containerised, runs on a laptop</a:t>
            </a:r>
            <a:endParaRPr lang="en-US" sz="1600" dirty="0"/>
          </a:p>
        </p:txBody>
      </p:sp>
      <p:sp>
        <p:nvSpPr>
          <p:cNvPr id="4" name="Shape 2"/>
          <p:cNvSpPr/>
          <p:nvPr/>
        </p:nvSpPr>
        <p:spPr>
          <a:xfrm>
            <a:off x="548640" y="1737360"/>
            <a:ext cx="5212080" cy="566928"/>
          </a:xfrm>
          <a:prstGeom prst="roundRect">
            <a:avLst>
              <a:gd name="adj" fmla="val 1290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5" name="Image 0" descr="preencoded.png">    </p:cNvPr>
          <p:cNvPicPr>
            <a:picLocks noChangeAspect="1"/>
          </p:cNvPicPr>
          <p:nvPr/>
        </p:nvPicPr>
        <p:blipFill>
          <a:blip r:embed="rId1"/>
          <a:stretch>
            <a:fillRect/>
          </a:stretch>
        </p:blipFill>
        <p:spPr>
          <a:xfrm>
            <a:off x="731520" y="1883664"/>
            <a:ext cx="274320" cy="274320"/>
          </a:xfrm>
          <a:prstGeom prst="rect">
            <a:avLst/>
          </a:prstGeom>
        </p:spPr>
      </p:pic>
      <p:sp>
        <p:nvSpPr>
          <p:cNvPr id="6" name="Text 3"/>
          <p:cNvSpPr txBox="1"/>
          <p:nvPr/>
        </p:nvSpPr>
        <p:spPr>
          <a:xfrm>
            <a:off x="1143000" y="1737360"/>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Browser</a:t>
            </a:r>
            <a:endParaRPr lang="en-US" sz="1300" dirty="0"/>
          </a:p>
        </p:txBody>
      </p:sp>
      <p:sp>
        <p:nvSpPr>
          <p:cNvPr id="7" name="Shape 4"/>
          <p:cNvSpPr/>
          <p:nvPr/>
        </p:nvSpPr>
        <p:spPr>
          <a:xfrm>
            <a:off x="2240280" y="1874520"/>
            <a:ext cx="804672" cy="292608"/>
          </a:xfrm>
          <a:prstGeom prst="roundRect">
            <a:avLst>
              <a:gd name="adj" fmla="val 50000"/>
            </a:avLst>
          </a:prstGeom>
          <a:solidFill>
            <a:srgbClr val="F4F4F4"/>
          </a:solidFill>
          <a:ln w="6350">
            <a:solidFill>
              <a:srgbClr val="D5DAE1"/>
            </a:solidFill>
            <a:prstDash val="solid"/>
          </a:ln>
        </p:spPr>
      </p:sp>
      <p:sp>
        <p:nvSpPr>
          <p:cNvPr id="8" name="Text 5"/>
          <p:cNvSpPr txBox="1"/>
          <p:nvPr/>
        </p:nvSpPr>
        <p:spPr>
          <a:xfrm>
            <a:off x="2240280" y="1874520"/>
            <a:ext cx="804672"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React 18</a:t>
            </a:r>
            <a:endParaRPr lang="en-US" sz="1100" dirty="0"/>
          </a:p>
        </p:txBody>
      </p:sp>
      <p:sp>
        <p:nvSpPr>
          <p:cNvPr id="9" name="Shape 6"/>
          <p:cNvSpPr/>
          <p:nvPr/>
        </p:nvSpPr>
        <p:spPr>
          <a:xfrm>
            <a:off x="3136392" y="1874520"/>
            <a:ext cx="493776" cy="292608"/>
          </a:xfrm>
          <a:prstGeom prst="roundRect">
            <a:avLst>
              <a:gd name="adj" fmla="val 50000"/>
            </a:avLst>
          </a:prstGeom>
          <a:solidFill>
            <a:srgbClr val="F4F4F4"/>
          </a:solidFill>
          <a:ln w="6350">
            <a:solidFill>
              <a:srgbClr val="D5DAE1"/>
            </a:solidFill>
            <a:prstDash val="solid"/>
          </a:ln>
        </p:spPr>
      </p:sp>
      <p:sp>
        <p:nvSpPr>
          <p:cNvPr id="10" name="Text 7"/>
          <p:cNvSpPr txBox="1"/>
          <p:nvPr/>
        </p:nvSpPr>
        <p:spPr>
          <a:xfrm>
            <a:off x="3136392" y="1874520"/>
            <a:ext cx="493776"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Vite</a:t>
            </a:r>
            <a:endParaRPr lang="en-US" sz="1100" dirty="0"/>
          </a:p>
        </p:txBody>
      </p:sp>
      <p:sp>
        <p:nvSpPr>
          <p:cNvPr id="11" name="Shape 8"/>
          <p:cNvSpPr/>
          <p:nvPr/>
        </p:nvSpPr>
        <p:spPr>
          <a:xfrm>
            <a:off x="3721608" y="1874520"/>
            <a:ext cx="571500" cy="292608"/>
          </a:xfrm>
          <a:prstGeom prst="roundRect">
            <a:avLst>
              <a:gd name="adj" fmla="val 50000"/>
            </a:avLst>
          </a:prstGeom>
          <a:solidFill>
            <a:srgbClr val="F4F4F4"/>
          </a:solidFill>
          <a:ln w="6350">
            <a:solidFill>
              <a:srgbClr val="D5DAE1"/>
            </a:solidFill>
            <a:prstDash val="solid"/>
          </a:ln>
        </p:spPr>
      </p:sp>
      <p:sp>
        <p:nvSpPr>
          <p:cNvPr id="12" name="Text 9"/>
          <p:cNvSpPr txBox="1"/>
          <p:nvPr/>
        </p:nvSpPr>
        <p:spPr>
          <a:xfrm>
            <a:off x="3721608" y="1874520"/>
            <a:ext cx="571500"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MUI 5</a:t>
            </a:r>
            <a:endParaRPr lang="en-US" sz="1100" dirty="0"/>
          </a:p>
        </p:txBody>
      </p:sp>
      <p:sp>
        <p:nvSpPr>
          <p:cNvPr id="13" name="Shape 10"/>
          <p:cNvSpPr/>
          <p:nvPr/>
        </p:nvSpPr>
        <p:spPr>
          <a:xfrm>
            <a:off x="4384548" y="1874520"/>
            <a:ext cx="1115568" cy="292608"/>
          </a:xfrm>
          <a:prstGeom prst="roundRect">
            <a:avLst>
              <a:gd name="adj" fmla="val 50000"/>
            </a:avLst>
          </a:prstGeom>
          <a:solidFill>
            <a:srgbClr val="F4F4F4"/>
          </a:solidFill>
          <a:ln w="6350">
            <a:solidFill>
              <a:srgbClr val="D5DAE1"/>
            </a:solidFill>
            <a:prstDash val="solid"/>
          </a:ln>
        </p:spPr>
      </p:sp>
      <p:sp>
        <p:nvSpPr>
          <p:cNvPr id="14" name="Text 11"/>
          <p:cNvSpPr txBox="1"/>
          <p:nvPr/>
        </p:nvSpPr>
        <p:spPr>
          <a:xfrm>
            <a:off x="4384548" y="1874520"/>
            <a:ext cx="1115568"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React Router</a:t>
            </a:r>
            <a:endParaRPr lang="en-US" sz="1100" dirty="0"/>
          </a:p>
        </p:txBody>
      </p:sp>
      <p:sp>
        <p:nvSpPr>
          <p:cNvPr id="15" name="Shape 12"/>
          <p:cNvSpPr/>
          <p:nvPr/>
        </p:nvSpPr>
        <p:spPr>
          <a:xfrm>
            <a:off x="548640" y="2395728"/>
            <a:ext cx="5212080" cy="566928"/>
          </a:xfrm>
          <a:prstGeom prst="roundRect">
            <a:avLst>
              <a:gd name="adj" fmla="val 12903"/>
            </a:avLst>
          </a:prstGeom>
          <a:solidFill>
            <a:srgbClr val="FDF1E6"/>
          </a:solidFill>
          <a:ln w="19050">
            <a:solidFill>
              <a:srgbClr val="E3710A"/>
            </a:solidFill>
            <a:prstDash val="solid"/>
          </a:ln>
        </p:spPr>
      </p:sp>
      <p:pic>
        <p:nvPicPr>
          <p:cNvPr id="16" name="Image 1" descr="preencoded.png">    </p:cNvPr>
          <p:cNvPicPr>
            <a:picLocks noChangeAspect="1"/>
          </p:cNvPicPr>
          <p:nvPr/>
        </p:nvPicPr>
        <p:blipFill>
          <a:blip r:embed="rId2"/>
          <a:stretch>
            <a:fillRect/>
          </a:stretch>
        </p:blipFill>
        <p:spPr>
          <a:xfrm>
            <a:off x="731520" y="2542032"/>
            <a:ext cx="274320" cy="274320"/>
          </a:xfrm>
          <a:prstGeom prst="rect">
            <a:avLst/>
          </a:prstGeom>
        </p:spPr>
      </p:pic>
      <p:sp>
        <p:nvSpPr>
          <p:cNvPr id="17" name="Text 13"/>
          <p:cNvSpPr txBox="1"/>
          <p:nvPr/>
        </p:nvSpPr>
        <p:spPr>
          <a:xfrm>
            <a:off x="1143000" y="2395728"/>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Forms</a:t>
            </a:r>
            <a:endParaRPr lang="en-US" sz="1300" dirty="0"/>
          </a:p>
        </p:txBody>
      </p:sp>
      <p:sp>
        <p:nvSpPr>
          <p:cNvPr id="18" name="Shape 14"/>
          <p:cNvSpPr/>
          <p:nvPr/>
        </p:nvSpPr>
        <p:spPr>
          <a:xfrm>
            <a:off x="2240280" y="2532888"/>
            <a:ext cx="1659636" cy="292608"/>
          </a:xfrm>
          <a:prstGeom prst="roundRect">
            <a:avLst>
              <a:gd name="adj" fmla="val 50000"/>
            </a:avLst>
          </a:prstGeom>
          <a:solidFill>
            <a:srgbClr val="E3710A"/>
          </a:solidFill>
          <a:ln w="6350">
            <a:solidFill>
              <a:srgbClr val="E3710A"/>
            </a:solidFill>
            <a:prstDash val="solid"/>
          </a:ln>
        </p:spPr>
      </p:sp>
      <p:sp>
        <p:nvSpPr>
          <p:cNvPr id="19" name="Text 15"/>
          <p:cNvSpPr txBox="1"/>
          <p:nvPr/>
        </p:nvSpPr>
        <p:spPr>
          <a:xfrm>
            <a:off x="2240280" y="2532888"/>
            <a:ext cx="165963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Driven Forms 3</a:t>
            </a:r>
            <a:endParaRPr lang="en-US" sz="1100" dirty="0"/>
          </a:p>
        </p:txBody>
      </p:sp>
      <p:sp>
        <p:nvSpPr>
          <p:cNvPr id="20" name="Shape 16"/>
          <p:cNvSpPr/>
          <p:nvPr/>
        </p:nvSpPr>
        <p:spPr>
          <a:xfrm>
            <a:off x="3991356" y="2532888"/>
            <a:ext cx="1426464" cy="292608"/>
          </a:xfrm>
          <a:prstGeom prst="roundRect">
            <a:avLst>
              <a:gd name="adj" fmla="val 50000"/>
            </a:avLst>
          </a:prstGeom>
          <a:solidFill>
            <a:srgbClr val="E3710A"/>
          </a:solidFill>
          <a:ln w="6350">
            <a:solidFill>
              <a:srgbClr val="E3710A"/>
            </a:solidFill>
            <a:prstDash val="solid"/>
          </a:ln>
        </p:spPr>
      </p:sp>
      <p:sp>
        <p:nvSpPr>
          <p:cNvPr id="21" name="Text 17"/>
          <p:cNvSpPr txBox="1"/>
          <p:nvPr/>
        </p:nvSpPr>
        <p:spPr>
          <a:xfrm>
            <a:off x="3991356" y="2532888"/>
            <a:ext cx="14264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React Final Form</a:t>
            </a:r>
            <a:endParaRPr lang="en-US" sz="1100" dirty="0"/>
          </a:p>
        </p:txBody>
      </p:sp>
      <p:sp>
        <p:nvSpPr>
          <p:cNvPr id="22" name="Shape 18"/>
          <p:cNvSpPr/>
          <p:nvPr/>
        </p:nvSpPr>
        <p:spPr>
          <a:xfrm>
            <a:off x="548640" y="3054096"/>
            <a:ext cx="5212080" cy="566928"/>
          </a:xfrm>
          <a:prstGeom prst="roundRect">
            <a:avLst>
              <a:gd name="adj" fmla="val 1290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23" name="Image 2" descr="preencoded.png">    </p:cNvPr>
          <p:cNvPicPr>
            <a:picLocks noChangeAspect="1"/>
          </p:cNvPicPr>
          <p:nvPr/>
        </p:nvPicPr>
        <p:blipFill>
          <a:blip r:embed="rId3"/>
          <a:stretch>
            <a:fillRect/>
          </a:stretch>
        </p:blipFill>
        <p:spPr>
          <a:xfrm>
            <a:off x="731520" y="3200400"/>
            <a:ext cx="274320" cy="274320"/>
          </a:xfrm>
          <a:prstGeom prst="rect">
            <a:avLst/>
          </a:prstGeom>
        </p:spPr>
      </p:pic>
      <p:sp>
        <p:nvSpPr>
          <p:cNvPr id="24" name="Text 19"/>
          <p:cNvSpPr txBox="1"/>
          <p:nvPr/>
        </p:nvSpPr>
        <p:spPr>
          <a:xfrm>
            <a:off x="1143000" y="3054096"/>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Editor</a:t>
            </a:r>
            <a:endParaRPr lang="en-US" sz="1300" dirty="0"/>
          </a:p>
        </p:txBody>
      </p:sp>
      <p:sp>
        <p:nvSpPr>
          <p:cNvPr id="25" name="Shape 20"/>
          <p:cNvSpPr/>
          <p:nvPr/>
        </p:nvSpPr>
        <p:spPr>
          <a:xfrm>
            <a:off x="2240280" y="3191256"/>
            <a:ext cx="1115568" cy="292608"/>
          </a:xfrm>
          <a:prstGeom prst="roundRect">
            <a:avLst>
              <a:gd name="adj" fmla="val 50000"/>
            </a:avLst>
          </a:prstGeom>
          <a:solidFill>
            <a:srgbClr val="F4F4F4"/>
          </a:solidFill>
          <a:ln w="6350">
            <a:solidFill>
              <a:srgbClr val="D5DAE1"/>
            </a:solidFill>
            <a:prstDash val="solid"/>
          </a:ln>
        </p:spPr>
      </p:sp>
      <p:sp>
        <p:nvSpPr>
          <p:cNvPr id="26" name="Text 21"/>
          <p:cNvSpPr txBox="1"/>
          <p:nvPr/>
        </p:nvSpPr>
        <p:spPr>
          <a:xfrm>
            <a:off x="2240280" y="3191256"/>
            <a:ext cx="1115568"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CodeMirror 6</a:t>
            </a:r>
            <a:endParaRPr lang="en-US" sz="1100" dirty="0"/>
          </a:p>
        </p:txBody>
      </p:sp>
      <p:sp>
        <p:nvSpPr>
          <p:cNvPr id="27" name="Shape 22"/>
          <p:cNvSpPr/>
          <p:nvPr/>
        </p:nvSpPr>
        <p:spPr>
          <a:xfrm>
            <a:off x="3447288" y="3191256"/>
            <a:ext cx="1737360" cy="292608"/>
          </a:xfrm>
          <a:prstGeom prst="roundRect">
            <a:avLst>
              <a:gd name="adj" fmla="val 50000"/>
            </a:avLst>
          </a:prstGeom>
          <a:solidFill>
            <a:srgbClr val="F4F4F4"/>
          </a:solidFill>
          <a:ln w="6350">
            <a:solidFill>
              <a:srgbClr val="D5DAE1"/>
            </a:solidFill>
            <a:prstDash val="solid"/>
          </a:ln>
        </p:spPr>
      </p:sp>
      <p:sp>
        <p:nvSpPr>
          <p:cNvPr id="28" name="Text 23"/>
          <p:cNvSpPr txBox="1"/>
          <p:nvPr/>
        </p:nvSpPr>
        <p:spPr>
          <a:xfrm>
            <a:off x="3447288" y="3191256"/>
            <a:ext cx="1737360"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Visual schema editor</a:t>
            </a:r>
            <a:endParaRPr lang="en-US" sz="1100" dirty="0"/>
          </a:p>
        </p:txBody>
      </p:sp>
      <p:sp>
        <p:nvSpPr>
          <p:cNvPr id="29" name="Shape 24"/>
          <p:cNvSpPr/>
          <p:nvPr/>
        </p:nvSpPr>
        <p:spPr>
          <a:xfrm>
            <a:off x="548640" y="3712464"/>
            <a:ext cx="5212080" cy="566928"/>
          </a:xfrm>
          <a:prstGeom prst="roundRect">
            <a:avLst>
              <a:gd name="adj" fmla="val 1290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30" name="Image 3" descr="preencoded.png">    </p:cNvPr>
          <p:cNvPicPr>
            <a:picLocks noChangeAspect="1"/>
          </p:cNvPicPr>
          <p:nvPr/>
        </p:nvPicPr>
        <p:blipFill>
          <a:blip r:embed="rId4"/>
          <a:stretch>
            <a:fillRect/>
          </a:stretch>
        </p:blipFill>
        <p:spPr>
          <a:xfrm>
            <a:off x="731520" y="3858768"/>
            <a:ext cx="274320" cy="274320"/>
          </a:xfrm>
          <a:prstGeom prst="rect">
            <a:avLst/>
          </a:prstGeom>
        </p:spPr>
      </p:pic>
      <p:sp>
        <p:nvSpPr>
          <p:cNvPr id="31" name="Text 25"/>
          <p:cNvSpPr txBox="1"/>
          <p:nvPr/>
        </p:nvSpPr>
        <p:spPr>
          <a:xfrm>
            <a:off x="1143000" y="3712464"/>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API</a:t>
            </a:r>
            <a:endParaRPr lang="en-US" sz="1300" dirty="0"/>
          </a:p>
        </p:txBody>
      </p:sp>
      <p:sp>
        <p:nvSpPr>
          <p:cNvPr id="32" name="Shape 26"/>
          <p:cNvSpPr/>
          <p:nvPr/>
        </p:nvSpPr>
        <p:spPr>
          <a:xfrm>
            <a:off x="2240280" y="3849624"/>
            <a:ext cx="726948" cy="292608"/>
          </a:xfrm>
          <a:prstGeom prst="roundRect">
            <a:avLst>
              <a:gd name="adj" fmla="val 50000"/>
            </a:avLst>
          </a:prstGeom>
          <a:solidFill>
            <a:srgbClr val="F4F4F4"/>
          </a:solidFill>
          <a:ln w="6350">
            <a:solidFill>
              <a:srgbClr val="D5DAE1"/>
            </a:solidFill>
            <a:prstDash val="solid"/>
          </a:ln>
        </p:spPr>
      </p:sp>
      <p:sp>
        <p:nvSpPr>
          <p:cNvPr id="33" name="Text 27"/>
          <p:cNvSpPr txBox="1"/>
          <p:nvPr/>
        </p:nvSpPr>
        <p:spPr>
          <a:xfrm>
            <a:off x="2240280" y="3849624"/>
            <a:ext cx="726948"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Node 20</a:t>
            </a:r>
            <a:endParaRPr lang="en-US" sz="1100" dirty="0"/>
          </a:p>
        </p:txBody>
      </p:sp>
      <p:sp>
        <p:nvSpPr>
          <p:cNvPr id="34" name="Shape 28"/>
          <p:cNvSpPr/>
          <p:nvPr/>
        </p:nvSpPr>
        <p:spPr>
          <a:xfrm>
            <a:off x="3058668" y="3849624"/>
            <a:ext cx="882396" cy="292608"/>
          </a:xfrm>
          <a:prstGeom prst="roundRect">
            <a:avLst>
              <a:gd name="adj" fmla="val 50000"/>
            </a:avLst>
          </a:prstGeom>
          <a:solidFill>
            <a:srgbClr val="F4F4F4"/>
          </a:solidFill>
          <a:ln w="6350">
            <a:solidFill>
              <a:srgbClr val="D5DAE1"/>
            </a:solidFill>
            <a:prstDash val="solid"/>
          </a:ln>
        </p:spPr>
      </p:sp>
      <p:sp>
        <p:nvSpPr>
          <p:cNvPr id="35" name="Text 29"/>
          <p:cNvSpPr txBox="1"/>
          <p:nvPr/>
        </p:nvSpPr>
        <p:spPr>
          <a:xfrm>
            <a:off x="3058668" y="3849624"/>
            <a:ext cx="882396"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Express 4</a:t>
            </a:r>
            <a:endParaRPr lang="en-US" sz="1100" dirty="0"/>
          </a:p>
        </p:txBody>
      </p:sp>
      <p:sp>
        <p:nvSpPr>
          <p:cNvPr id="36" name="Shape 30"/>
          <p:cNvSpPr/>
          <p:nvPr/>
        </p:nvSpPr>
        <p:spPr>
          <a:xfrm>
            <a:off x="548640" y="4370832"/>
            <a:ext cx="5212080" cy="566928"/>
          </a:xfrm>
          <a:prstGeom prst="roundRect">
            <a:avLst>
              <a:gd name="adj" fmla="val 1290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37" name="Image 4" descr="preencoded.png">    </p:cNvPr>
          <p:cNvPicPr>
            <a:picLocks noChangeAspect="1"/>
          </p:cNvPicPr>
          <p:nvPr/>
        </p:nvPicPr>
        <p:blipFill>
          <a:blip r:embed="rId5"/>
          <a:stretch>
            <a:fillRect/>
          </a:stretch>
        </p:blipFill>
        <p:spPr>
          <a:xfrm>
            <a:off x="731520" y="4517136"/>
            <a:ext cx="274320" cy="274320"/>
          </a:xfrm>
          <a:prstGeom prst="rect">
            <a:avLst/>
          </a:prstGeom>
        </p:spPr>
      </p:pic>
      <p:sp>
        <p:nvSpPr>
          <p:cNvPr id="38" name="Text 31"/>
          <p:cNvSpPr txBox="1"/>
          <p:nvPr/>
        </p:nvSpPr>
        <p:spPr>
          <a:xfrm>
            <a:off x="1143000" y="4370832"/>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Data</a:t>
            </a:r>
            <a:endParaRPr lang="en-US" sz="1300" dirty="0"/>
          </a:p>
        </p:txBody>
      </p:sp>
      <p:sp>
        <p:nvSpPr>
          <p:cNvPr id="39" name="Shape 32"/>
          <p:cNvSpPr/>
          <p:nvPr/>
        </p:nvSpPr>
        <p:spPr>
          <a:xfrm>
            <a:off x="2240280" y="4507992"/>
            <a:ext cx="882396" cy="292608"/>
          </a:xfrm>
          <a:prstGeom prst="roundRect">
            <a:avLst>
              <a:gd name="adj" fmla="val 50000"/>
            </a:avLst>
          </a:prstGeom>
          <a:solidFill>
            <a:srgbClr val="F4F4F4"/>
          </a:solidFill>
          <a:ln w="6350">
            <a:solidFill>
              <a:srgbClr val="D5DAE1"/>
            </a:solidFill>
            <a:prstDash val="solid"/>
          </a:ln>
        </p:spPr>
      </p:sp>
      <p:sp>
        <p:nvSpPr>
          <p:cNvPr id="40" name="Text 33"/>
          <p:cNvSpPr txBox="1"/>
          <p:nvPr/>
        </p:nvSpPr>
        <p:spPr>
          <a:xfrm>
            <a:off x="2240280" y="4507992"/>
            <a:ext cx="882396"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MongoDB 7</a:t>
            </a:r>
            <a:endParaRPr lang="en-US" sz="1100" dirty="0"/>
          </a:p>
        </p:txBody>
      </p:sp>
      <p:sp>
        <p:nvSpPr>
          <p:cNvPr id="41" name="Shape 34"/>
          <p:cNvSpPr/>
          <p:nvPr/>
        </p:nvSpPr>
        <p:spPr>
          <a:xfrm>
            <a:off x="548640" y="5029200"/>
            <a:ext cx="5212080" cy="566928"/>
          </a:xfrm>
          <a:prstGeom prst="roundRect">
            <a:avLst>
              <a:gd name="adj" fmla="val 1290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42" name="Image 5" descr="preencoded.png">    </p:cNvPr>
          <p:cNvPicPr>
            <a:picLocks noChangeAspect="1"/>
          </p:cNvPicPr>
          <p:nvPr/>
        </p:nvPicPr>
        <p:blipFill>
          <a:blip r:embed="rId6"/>
          <a:stretch>
            <a:fillRect/>
          </a:stretch>
        </p:blipFill>
        <p:spPr>
          <a:xfrm>
            <a:off x="731520" y="5175504"/>
            <a:ext cx="274320" cy="274320"/>
          </a:xfrm>
          <a:prstGeom prst="rect">
            <a:avLst/>
          </a:prstGeom>
        </p:spPr>
      </p:pic>
      <p:sp>
        <p:nvSpPr>
          <p:cNvPr id="43" name="Text 35"/>
          <p:cNvSpPr txBox="1"/>
          <p:nvPr/>
        </p:nvSpPr>
        <p:spPr>
          <a:xfrm>
            <a:off x="1143000" y="5029200"/>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Payments</a:t>
            </a:r>
            <a:endParaRPr lang="en-US" sz="1300" dirty="0"/>
          </a:p>
        </p:txBody>
      </p:sp>
      <p:sp>
        <p:nvSpPr>
          <p:cNvPr id="44" name="Shape 36"/>
          <p:cNvSpPr/>
          <p:nvPr/>
        </p:nvSpPr>
        <p:spPr>
          <a:xfrm>
            <a:off x="2240280" y="5166360"/>
            <a:ext cx="1348740" cy="292608"/>
          </a:xfrm>
          <a:prstGeom prst="roundRect">
            <a:avLst>
              <a:gd name="adj" fmla="val 50000"/>
            </a:avLst>
          </a:prstGeom>
          <a:solidFill>
            <a:srgbClr val="F4F4F4"/>
          </a:solidFill>
          <a:ln w="6350">
            <a:solidFill>
              <a:srgbClr val="D5DAE1"/>
            </a:solidFill>
            <a:prstDash val="solid"/>
          </a:ln>
        </p:spPr>
      </p:sp>
      <p:sp>
        <p:nvSpPr>
          <p:cNvPr id="45" name="Text 37"/>
          <p:cNvSpPr txBox="1"/>
          <p:nvPr/>
        </p:nvSpPr>
        <p:spPr>
          <a:xfrm>
            <a:off x="2240280" y="5166360"/>
            <a:ext cx="1348740"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Stripe Checkout</a:t>
            </a:r>
            <a:endParaRPr lang="en-US" sz="1100" dirty="0"/>
          </a:p>
        </p:txBody>
      </p:sp>
      <p:sp>
        <p:nvSpPr>
          <p:cNvPr id="46" name="Shape 38"/>
          <p:cNvSpPr/>
          <p:nvPr/>
        </p:nvSpPr>
        <p:spPr>
          <a:xfrm>
            <a:off x="3680460" y="5166360"/>
            <a:ext cx="804672" cy="292608"/>
          </a:xfrm>
          <a:prstGeom prst="roundRect">
            <a:avLst>
              <a:gd name="adj" fmla="val 50000"/>
            </a:avLst>
          </a:prstGeom>
          <a:solidFill>
            <a:srgbClr val="F4F4F4"/>
          </a:solidFill>
          <a:ln w="6350">
            <a:solidFill>
              <a:srgbClr val="D5DAE1"/>
            </a:solidFill>
            <a:prstDash val="solid"/>
          </a:ln>
        </p:spPr>
      </p:sp>
      <p:sp>
        <p:nvSpPr>
          <p:cNvPr id="47" name="Text 39"/>
          <p:cNvSpPr txBox="1"/>
          <p:nvPr/>
        </p:nvSpPr>
        <p:spPr>
          <a:xfrm>
            <a:off x="3680460" y="5166360"/>
            <a:ext cx="804672"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Webhooks</a:t>
            </a:r>
            <a:endParaRPr lang="en-US" sz="1100" dirty="0"/>
          </a:p>
        </p:txBody>
      </p:sp>
      <p:sp>
        <p:nvSpPr>
          <p:cNvPr id="48" name="Shape 40"/>
          <p:cNvSpPr/>
          <p:nvPr/>
        </p:nvSpPr>
        <p:spPr>
          <a:xfrm>
            <a:off x="548640" y="5687568"/>
            <a:ext cx="5212080" cy="566928"/>
          </a:xfrm>
          <a:prstGeom prst="roundRect">
            <a:avLst>
              <a:gd name="adj" fmla="val 12903"/>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49" name="Image 6" descr="preencoded.png">    </p:cNvPr>
          <p:cNvPicPr>
            <a:picLocks noChangeAspect="1"/>
          </p:cNvPicPr>
          <p:nvPr/>
        </p:nvPicPr>
        <p:blipFill>
          <a:blip r:embed="rId7"/>
          <a:stretch>
            <a:fillRect/>
          </a:stretch>
        </p:blipFill>
        <p:spPr>
          <a:xfrm>
            <a:off x="731520" y="5833872"/>
            <a:ext cx="274320" cy="274320"/>
          </a:xfrm>
          <a:prstGeom prst="rect">
            <a:avLst/>
          </a:prstGeom>
        </p:spPr>
      </p:pic>
      <p:sp>
        <p:nvSpPr>
          <p:cNvPr id="50" name="Text 41"/>
          <p:cNvSpPr txBox="1"/>
          <p:nvPr/>
        </p:nvSpPr>
        <p:spPr>
          <a:xfrm>
            <a:off x="1143000" y="5687568"/>
            <a:ext cx="1051560" cy="566928"/>
          </a:xfrm>
          <a:prstGeom prst="rect">
            <a:avLst/>
          </a:prstGeom>
          <a:noFill/>
          <a:ln/>
        </p:spPr>
        <p:txBody>
          <a:bodyPr wrap="square" lIns="0" tIns="0" rIns="0" bIns="0" rtlCol="0" anchor="ctr"/>
          <a:lstStyle/>
          <a:p>
            <a:pPr indent="0" marL="0">
              <a:buNone/>
            </a:pPr>
            <a:r>
              <a:rPr lang="en-US" sz="1300" b="1" dirty="0">
                <a:solidFill>
                  <a:srgbClr val="1B2536"/>
                </a:solidFill>
                <a:latin typeface="Calibri" pitchFamily="34" charset="0"/>
                <a:ea typeface="Calibri" pitchFamily="34" charset="-122"/>
                <a:cs typeface="Calibri" pitchFamily="34" charset="-120"/>
              </a:rPr>
              <a:t>Runtime</a:t>
            </a:r>
            <a:endParaRPr lang="en-US" sz="1300" dirty="0"/>
          </a:p>
        </p:txBody>
      </p:sp>
      <p:sp>
        <p:nvSpPr>
          <p:cNvPr id="51" name="Shape 42"/>
          <p:cNvSpPr/>
          <p:nvPr/>
        </p:nvSpPr>
        <p:spPr>
          <a:xfrm>
            <a:off x="2240280" y="5824728"/>
            <a:ext cx="1271016" cy="292608"/>
          </a:xfrm>
          <a:prstGeom prst="roundRect">
            <a:avLst>
              <a:gd name="adj" fmla="val 50000"/>
            </a:avLst>
          </a:prstGeom>
          <a:solidFill>
            <a:srgbClr val="F4F4F4"/>
          </a:solidFill>
          <a:ln w="6350">
            <a:solidFill>
              <a:srgbClr val="D5DAE1"/>
            </a:solidFill>
            <a:prstDash val="solid"/>
          </a:ln>
        </p:spPr>
      </p:sp>
      <p:sp>
        <p:nvSpPr>
          <p:cNvPr id="52" name="Text 43"/>
          <p:cNvSpPr txBox="1"/>
          <p:nvPr/>
        </p:nvSpPr>
        <p:spPr>
          <a:xfrm>
            <a:off x="2240280" y="5824728"/>
            <a:ext cx="1271016" cy="292608"/>
          </a:xfrm>
          <a:prstGeom prst="rect">
            <a:avLst/>
          </a:prstGeom>
          <a:noFill/>
          <a:ln/>
        </p:spPr>
        <p:txBody>
          <a:bodyPr wrap="square" lIns="0" tIns="0" rIns="0" bIns="0" rtlCol="0" anchor="ctr"/>
          <a:lstStyle/>
          <a:p>
            <a:pPr algn="ctr" indent="0" marL="0">
              <a:buNone/>
            </a:pPr>
            <a:r>
              <a:rPr lang="en-US" sz="1100" dirty="0">
                <a:solidFill>
                  <a:srgbClr val="3C4A60"/>
                </a:solidFill>
                <a:latin typeface="Calibri" pitchFamily="34" charset="0"/>
                <a:ea typeface="Calibri" pitchFamily="34" charset="-122"/>
                <a:cs typeface="Calibri" pitchFamily="34" charset="-120"/>
              </a:rPr>
              <a:t>Docker Compose</a:t>
            </a:r>
            <a:endParaRPr lang="en-US" sz="1100" dirty="0"/>
          </a:p>
        </p:txBody>
      </p:sp>
      <p:sp>
        <p:nvSpPr>
          <p:cNvPr id="53" name="Shape 44"/>
          <p:cNvSpPr/>
          <p:nvPr/>
        </p:nvSpPr>
        <p:spPr>
          <a:xfrm>
            <a:off x="6172200" y="1737360"/>
            <a:ext cx="5470855" cy="4517136"/>
          </a:xfrm>
          <a:prstGeom prst="roundRect">
            <a:avLst>
              <a:gd name="adj" fmla="val 1619"/>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54" name="Shape 45"/>
          <p:cNvSpPr/>
          <p:nvPr/>
        </p:nvSpPr>
        <p:spPr>
          <a:xfrm>
            <a:off x="6446520" y="1993392"/>
            <a:ext cx="640080" cy="640080"/>
          </a:xfrm>
          <a:prstGeom prst="ellipse">
            <a:avLst/>
          </a:prstGeom>
          <a:solidFill>
            <a:srgbClr val="E3710A"/>
          </a:solidFill>
          <a:ln w="12700">
            <a:solidFill>
              <a:srgbClr val="E3710A"/>
            </a:solidFill>
            <a:prstDash val="solid"/>
          </a:ln>
        </p:spPr>
      </p:sp>
      <p:pic>
        <p:nvPicPr>
          <p:cNvPr id="55" name="Image 7" descr="preencoded.png">    </p:cNvPr>
          <p:cNvPicPr>
            <a:picLocks noChangeAspect="1"/>
          </p:cNvPicPr>
          <p:nvPr/>
        </p:nvPicPr>
        <p:blipFill>
          <a:blip r:embed="rId8"/>
          <a:stretch>
            <a:fillRect/>
          </a:stretch>
        </p:blipFill>
        <p:spPr>
          <a:xfrm>
            <a:off x="6612941" y="2159813"/>
            <a:ext cx="307238" cy="307238"/>
          </a:xfrm>
          <a:prstGeom prst="rect">
            <a:avLst/>
          </a:prstGeom>
        </p:spPr>
      </p:pic>
      <p:sp>
        <p:nvSpPr>
          <p:cNvPr id="56" name="Text 46"/>
          <p:cNvSpPr txBox="1"/>
          <p:nvPr/>
        </p:nvSpPr>
        <p:spPr>
          <a:xfrm>
            <a:off x="7269480" y="1975104"/>
            <a:ext cx="4190695" cy="411480"/>
          </a:xfrm>
          <a:prstGeom prst="rect">
            <a:avLst/>
          </a:prstGeom>
          <a:noFill/>
          <a:ln/>
        </p:spPr>
        <p:txBody>
          <a:bodyPr wrap="square" lIns="0" tIns="0" rIns="0" bIns="0" rtlCol="0" anchor="ctr"/>
          <a:lstStyle/>
          <a:p>
            <a:pPr indent="0" marL="0">
              <a:buNone/>
            </a:pPr>
            <a:r>
              <a:rPr lang="en-US" sz="2200" b="1" dirty="0">
                <a:solidFill>
                  <a:srgbClr val="1B2536"/>
                </a:solidFill>
                <a:latin typeface="Cambria" pitchFamily="34" charset="0"/>
                <a:ea typeface="Cambria" pitchFamily="34" charset="-122"/>
                <a:cs typeface="Cambria" pitchFamily="34" charset="-120"/>
              </a:rPr>
              <a:t>Data Driven Forms</a:t>
            </a:r>
            <a:endParaRPr lang="en-US" sz="2200" dirty="0"/>
          </a:p>
        </p:txBody>
      </p:sp>
      <p:sp>
        <p:nvSpPr>
          <p:cNvPr id="57" name="Text 47"/>
          <p:cNvSpPr txBox="1"/>
          <p:nvPr/>
        </p:nvSpPr>
        <p:spPr>
          <a:xfrm>
            <a:off x="7269480" y="2377440"/>
            <a:ext cx="4190695" cy="411480"/>
          </a:xfrm>
          <a:prstGeom prst="rect">
            <a:avLst/>
          </a:prstGeom>
          <a:noFill/>
          <a:ln/>
        </p:spPr>
        <p:txBody>
          <a:bodyPr wrap="square" lIns="0" tIns="0" rIns="0" bIns="0" rtlCol="0" anchor="ctr"/>
          <a:lstStyle/>
          <a:p>
            <a:pPr indent="0" marL="0">
              <a:buNone/>
            </a:pPr>
            <a:r>
              <a:rPr lang="en-US" sz="1200" dirty="0">
                <a:solidFill>
                  <a:srgbClr val="7A8699"/>
                </a:solidFill>
                <a:latin typeface="Calibri" pitchFamily="34" charset="0"/>
                <a:ea typeface="Calibri" pitchFamily="34" charset="-122"/>
                <a:cs typeface="Calibri" pitchFamily="34" charset="-120"/>
              </a:rPr>
              <a:t>Open-source React library that renders forms from JSON schemas — started by Red Hat</a:t>
            </a:r>
            <a:endParaRPr lang="en-US" sz="1200" dirty="0"/>
          </a:p>
        </p:txBody>
      </p:sp>
      <p:sp>
        <p:nvSpPr>
          <p:cNvPr id="58" name="Shape 48"/>
          <p:cNvSpPr/>
          <p:nvPr/>
        </p:nvSpPr>
        <p:spPr>
          <a:xfrm>
            <a:off x="6446520" y="2971800"/>
            <a:ext cx="4922215" cy="1691640"/>
          </a:xfrm>
          <a:prstGeom prst="roundRect">
            <a:avLst>
              <a:gd name="adj" fmla="val 4324"/>
            </a:avLst>
          </a:prstGeom>
          <a:solidFill>
            <a:srgbClr val="0F1623"/>
          </a:solidFill>
          <a:ln w="12700">
            <a:solidFill>
              <a:srgbClr val="0F1623"/>
            </a:solidFill>
            <a:prstDash val="solid"/>
          </a:ln>
        </p:spPr>
      </p:sp>
      <p:sp>
        <p:nvSpPr>
          <p:cNvPr id="59" name="Text 49"/>
          <p:cNvSpPr txBox="1"/>
          <p:nvPr/>
        </p:nvSpPr>
        <p:spPr>
          <a:xfrm>
            <a:off x="6675120" y="3154680"/>
            <a:ext cx="4465015" cy="1371600"/>
          </a:xfrm>
          <a:prstGeom prst="rect">
            <a:avLst/>
          </a:prstGeom>
          <a:noFill/>
          <a:ln/>
        </p:spPr>
        <p:txBody>
          <a:bodyPr wrap="square" lIns="0" tIns="0" rIns="0" bIns="0" rtlCol="0" anchor="t"/>
          <a:lstStyle/>
          <a:p>
            <a:pPr indent="0" marL="0">
              <a:buNone/>
            </a:pPr>
            <a:r>
              <a:rPr lang="en-US" sz="1050" dirty="0">
                <a:solidFill>
                  <a:srgbClr val="D6DEEB"/>
                </a:solidFill>
                <a:latin typeface="Courier New" pitchFamily="34" charset="0"/>
                <a:ea typeface="Courier New" pitchFamily="34" charset="-122"/>
                <a:cs typeface="Courier New" pitchFamily="34" charset="-120"/>
              </a:rPr>
              <a:t>&lt;</a:t>
            </a:r>
            <a:pPr indent="0" marL="0">
              <a:buNone/>
            </a:pPr>
            <a:r>
              <a:rPr lang="en-US" sz="1050" dirty="0">
                <a:solidFill>
                  <a:srgbClr val="F4A259"/>
                </a:solidFill>
                <a:latin typeface="Courier New" pitchFamily="34" charset="0"/>
                <a:ea typeface="Courier New" pitchFamily="34" charset="-122"/>
                <a:cs typeface="Courier New" pitchFamily="34" charset="-120"/>
              </a:rPr>
              <a:t>FormRenderer</a:t>
            </a:r>
            <a:endParaRPr lang="en-US" sz="1050" dirty="0"/>
          </a:p>
          <a:p>
            <a:pPr indent="0" marL="0">
              <a:buNone/>
            </a:pPr>
            <a:r>
              <a:rPr lang="en-US" sz="1050" dirty="0">
                <a:solidFill>
                  <a:srgbClr val="D6DEEB"/>
                </a:solidFill>
                <a:latin typeface="Courier New" pitchFamily="34" charset="0"/>
                <a:ea typeface="Courier New" pitchFamily="34" charset="-122"/>
                <a:cs typeface="Courier New" pitchFamily="34" charset="-120"/>
              </a:rPr>
              <a:t>  schema={txndef.schema}</a:t>
            </a:r>
            <a:pPr indent="0" marL="0">
              <a:buNone/>
            </a:pPr>
            <a:r>
              <a:rPr lang="en-US" sz="1050" dirty="0">
                <a:solidFill>
                  <a:srgbClr val="6A7A92"/>
                </a:solidFill>
                <a:latin typeface="Courier New" pitchFamily="34" charset="0"/>
                <a:ea typeface="Courier New" pitchFamily="34" charset="-122"/>
                <a:cs typeface="Courier New" pitchFamily="34" charset="-120"/>
              </a:rPr>
              <a:t>   // straight from MongoDB</a:t>
            </a:r>
            <a:endParaRPr lang="en-US" sz="1050" dirty="0"/>
          </a:p>
          <a:p>
            <a:pPr indent="0" marL="0">
              <a:buNone/>
            </a:pPr>
            <a:r>
              <a:rPr lang="en-US" sz="1050" dirty="0">
                <a:solidFill>
                  <a:srgbClr val="D6DEEB"/>
                </a:solidFill>
                <a:latin typeface="Courier New" pitchFamily="34" charset="0"/>
                <a:ea typeface="Courier New" pitchFamily="34" charset="-122"/>
                <a:cs typeface="Courier New" pitchFamily="34" charset="-120"/>
              </a:rPr>
              <a:t>  componentMapper={mui + payment-summary + …}</a:t>
            </a:r>
            <a:endParaRPr lang="en-US" sz="1050" dirty="0"/>
          </a:p>
          <a:p>
            <a:pPr indent="0" marL="0">
              <a:buNone/>
            </a:pPr>
            <a:r>
              <a:rPr lang="en-US" sz="1050" dirty="0">
                <a:solidFill>
                  <a:srgbClr val="D6DEEB"/>
                </a:solidFill>
                <a:latin typeface="Courier New" pitchFamily="34" charset="0"/>
                <a:ea typeface="Courier New" pitchFamily="34" charset="-122"/>
                <a:cs typeface="Courier New" pitchFamily="34" charset="-120"/>
              </a:rPr>
              <a:t>  validatorMapper={{ </a:t>
            </a:r>
            <a:pPr indent="0" marL="0">
              <a:buNone/>
            </a:pPr>
            <a:r>
              <a:rPr lang="en-US" sz="1050" dirty="0">
                <a:solidFill>
                  <a:srgbClr val="9CDCFE"/>
                </a:solidFill>
                <a:latin typeface="Courier New" pitchFamily="34" charset="0"/>
                <a:ea typeface="Courier New" pitchFamily="34" charset="-122"/>
                <a:cs typeface="Courier New" pitchFamily="34" charset="-120"/>
              </a:rPr>
              <a:t>'same-email'</a:t>
            </a:r>
            <a:pPr indent="0" marL="0">
              <a:buNone/>
            </a:pPr>
            <a:r>
              <a:rPr lang="en-US" sz="1050" dirty="0">
                <a:solidFill>
                  <a:srgbClr val="D6DEEB"/>
                </a:solidFill>
                <a:latin typeface="Courier New" pitchFamily="34" charset="0"/>
                <a:ea typeface="Courier New" pitchFamily="34" charset="-122"/>
                <a:cs typeface="Courier New" pitchFamily="34" charset="-120"/>
              </a:rPr>
              <a:t>: () =&gt;</a:t>
            </a:r>
            <a:endParaRPr lang="en-US" sz="1050" dirty="0"/>
          </a:p>
          <a:p>
            <a:pPr indent="0" marL="0">
              <a:buNone/>
            </a:pPr>
            <a:r>
              <a:rPr lang="en-US" sz="1050" dirty="0">
                <a:solidFill>
                  <a:srgbClr val="D6DEEB"/>
                </a:solidFill>
                <a:latin typeface="Courier New" pitchFamily="34" charset="0"/>
                <a:ea typeface="Courier New" pitchFamily="34" charset="-122"/>
                <a:cs typeface="Courier New" pitchFamily="34" charset="-120"/>
              </a:rPr>
              <a:t>    (value, all) =&gt; value !== all.email</a:t>
            </a:r>
            <a:endParaRPr lang="en-US" sz="1050" dirty="0"/>
          </a:p>
          <a:p>
            <a:pPr indent="0" marL="0">
              <a:buNone/>
            </a:pPr>
            <a:r>
              <a:rPr lang="en-US" sz="1050" dirty="0">
                <a:solidFill>
                  <a:srgbClr val="D6DEEB"/>
                </a:solidFill>
                <a:latin typeface="Courier New" pitchFamily="34" charset="0"/>
                <a:ea typeface="Courier New" pitchFamily="34" charset="-122"/>
                <a:cs typeface="Courier New" pitchFamily="34" charset="-120"/>
              </a:rPr>
              <a:t>      ? </a:t>
            </a:r>
            <a:pPr indent="0" marL="0">
              <a:buNone/>
            </a:pPr>
            <a:r>
              <a:rPr lang="en-US" sz="1050" dirty="0">
                <a:solidFill>
                  <a:srgbClr val="9CDCFE"/>
                </a:solidFill>
                <a:latin typeface="Courier New" pitchFamily="34" charset="0"/>
                <a:ea typeface="Courier New" pitchFamily="34" charset="-122"/>
                <a:cs typeface="Courier New" pitchFamily="34" charset="-120"/>
              </a:rPr>
              <a:t>'Email does not match'</a:t>
            </a:r>
            <a:pPr indent="0" marL="0">
              <a:buNone/>
            </a:pPr>
            <a:r>
              <a:rPr lang="en-US" sz="1050" dirty="0">
                <a:solidFill>
                  <a:srgbClr val="D6DEEB"/>
                </a:solidFill>
                <a:latin typeface="Courier New" pitchFamily="34" charset="0"/>
                <a:ea typeface="Courier New" pitchFamily="34" charset="-122"/>
                <a:cs typeface="Courier New" pitchFamily="34" charset="-120"/>
              </a:rPr>
              <a:t> : undefined }} /&gt;</a:t>
            </a:r>
            <a:endParaRPr lang="en-US" sz="1050" dirty="0"/>
          </a:p>
        </p:txBody>
      </p:sp>
      <p:sp>
        <p:nvSpPr>
          <p:cNvPr id="60" name="Text 50"/>
          <p:cNvSpPr txBox="1"/>
          <p:nvPr/>
        </p:nvSpPr>
        <p:spPr>
          <a:xfrm>
            <a:off x="6446520" y="4846320"/>
            <a:ext cx="4922215" cy="365760"/>
          </a:xfrm>
          <a:prstGeom prst="rect">
            <a:avLst/>
          </a:prstGeom>
          <a:noFill/>
          <a:ln/>
        </p:spPr>
        <p:txBody>
          <a:bodyPr wrap="square" lIns="0" tIns="0" rIns="0" bIns="0" rtlCol="0" anchor="ctr"/>
          <a:lstStyle/>
          <a:p>
            <a:pPr indent="0" marL="0">
              <a:buNone/>
            </a:pPr>
            <a:r>
              <a:rPr lang="en-US" sz="1250" b="1" dirty="0">
                <a:solidFill>
                  <a:srgbClr val="1B2536"/>
                </a:solidFill>
                <a:latin typeface="Calibri" pitchFamily="34" charset="0"/>
                <a:ea typeface="Calibri" pitchFamily="34" charset="-122"/>
                <a:cs typeface="Calibri" pitchFamily="34" charset="-120"/>
              </a:rPr>
              <a:t>Component mapper  </a:t>
            </a:r>
            <a:pPr indent="0" marL="0">
              <a:buNone/>
            </a:pPr>
            <a:r>
              <a:rPr lang="en-US" sz="1250" dirty="0">
                <a:solidFill>
                  <a:srgbClr val="3C4A60"/>
                </a:solidFill>
                <a:latin typeface="Calibri" pitchFamily="34" charset="0"/>
                <a:ea typeface="Calibri" pitchFamily="34" charset="-122"/>
                <a:cs typeface="Calibri" pitchFamily="34" charset="-120"/>
              </a:rPr>
              <a:t>schema names → MUI components, plus our own</a:t>
            </a:r>
            <a:endParaRPr lang="en-US" sz="1250" dirty="0"/>
          </a:p>
        </p:txBody>
      </p:sp>
      <p:sp>
        <p:nvSpPr>
          <p:cNvPr id="61" name="Text 51"/>
          <p:cNvSpPr txBox="1"/>
          <p:nvPr/>
        </p:nvSpPr>
        <p:spPr>
          <a:xfrm>
            <a:off x="6446520" y="5276088"/>
            <a:ext cx="4922215" cy="365760"/>
          </a:xfrm>
          <a:prstGeom prst="rect">
            <a:avLst/>
          </a:prstGeom>
          <a:noFill/>
          <a:ln/>
        </p:spPr>
        <p:txBody>
          <a:bodyPr wrap="square" lIns="0" tIns="0" rIns="0" bIns="0" rtlCol="0" anchor="ctr"/>
          <a:lstStyle/>
          <a:p>
            <a:pPr indent="0" marL="0">
              <a:buNone/>
            </a:pPr>
            <a:r>
              <a:rPr lang="en-US" sz="1250" b="1" dirty="0">
                <a:solidFill>
                  <a:srgbClr val="1B2536"/>
                </a:solidFill>
                <a:latin typeface="Calibri" pitchFamily="34" charset="0"/>
                <a:ea typeface="Calibri" pitchFamily="34" charset="-122"/>
                <a:cs typeface="Calibri" pitchFamily="34" charset="-120"/>
              </a:rPr>
              <a:t>Validator mapper  </a:t>
            </a:r>
            <a:pPr indent="0" marL="0">
              <a:buNone/>
            </a:pPr>
            <a:r>
              <a:rPr lang="en-US" sz="1250" dirty="0">
                <a:solidFill>
                  <a:srgbClr val="3C4A60"/>
                </a:solidFill>
                <a:latin typeface="Calibri" pitchFamily="34" charset="0"/>
                <a:ea typeface="Calibri" pitchFamily="34" charset="-122"/>
                <a:cs typeface="Calibri" pitchFamily="34" charset="-120"/>
              </a:rPr>
              <a:t>built-in rules + custom, cross-field and async</a:t>
            </a:r>
            <a:endParaRPr lang="en-US" sz="1250" dirty="0"/>
          </a:p>
        </p:txBody>
      </p:sp>
      <p:sp>
        <p:nvSpPr>
          <p:cNvPr id="62" name="Text 52"/>
          <p:cNvSpPr txBox="1"/>
          <p:nvPr/>
        </p:nvSpPr>
        <p:spPr>
          <a:xfrm>
            <a:off x="6446520" y="5705856"/>
            <a:ext cx="4922215" cy="365760"/>
          </a:xfrm>
          <a:prstGeom prst="rect">
            <a:avLst/>
          </a:prstGeom>
          <a:noFill/>
          <a:ln/>
        </p:spPr>
        <p:txBody>
          <a:bodyPr wrap="square" lIns="0" tIns="0" rIns="0" bIns="0" rtlCol="0" anchor="ctr"/>
          <a:lstStyle/>
          <a:p>
            <a:pPr indent="0" marL="0">
              <a:buNone/>
            </a:pPr>
            <a:r>
              <a:rPr lang="en-US" sz="1250" b="1" dirty="0">
                <a:solidFill>
                  <a:srgbClr val="1B2536"/>
                </a:solidFill>
                <a:latin typeface="Calibri" pitchFamily="34" charset="0"/>
                <a:ea typeface="Calibri" pitchFamily="34" charset="-122"/>
                <a:cs typeface="Calibri" pitchFamily="34" charset="-120"/>
              </a:rPr>
              <a:t>Conditions &amp; wizard  </a:t>
            </a:r>
            <a:pPr indent="0" marL="0">
              <a:buNone/>
            </a:pPr>
            <a:r>
              <a:rPr lang="en-US" sz="1250" dirty="0">
                <a:solidFill>
                  <a:srgbClr val="3C4A60"/>
                </a:solidFill>
                <a:latin typeface="Calibri" pitchFamily="34" charset="0"/>
                <a:ea typeface="Calibri" pitchFamily="34" charset="-122"/>
                <a:cs typeface="Calibri" pitchFamily="34" charset="-120"/>
              </a:rPr>
              <a:t>show/hide on answers, branching step paths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Demo walkthrough</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About 10 minutes — follows Configure → Integrate → Extract</a:t>
            </a:r>
            <a:endParaRPr lang="en-US" sz="1600" dirty="0"/>
          </a:p>
        </p:txBody>
      </p:sp>
      <p:sp>
        <p:nvSpPr>
          <p:cNvPr id="4" name="Shape 2"/>
          <p:cNvSpPr/>
          <p:nvPr/>
        </p:nvSpPr>
        <p:spPr>
          <a:xfrm>
            <a:off x="548640" y="1783080"/>
            <a:ext cx="548640" cy="548640"/>
          </a:xfrm>
          <a:prstGeom prst="ellipse">
            <a:avLst/>
          </a:prstGeom>
          <a:solidFill>
            <a:srgbClr val="1B2536"/>
          </a:solidFill>
          <a:ln w="12700">
            <a:solidFill>
              <a:srgbClr val="1B2536"/>
            </a:solidFill>
            <a:prstDash val="solid"/>
          </a:ln>
        </p:spPr>
      </p:sp>
      <p:sp>
        <p:nvSpPr>
          <p:cNvPr id="5" name="Text 3"/>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280160" y="175564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Open the definition</a:t>
            </a:r>
            <a:endParaRPr lang="en-US" sz="1700" dirty="0"/>
          </a:p>
        </p:txBody>
      </p:sp>
      <p:sp>
        <p:nvSpPr>
          <p:cNvPr id="7" name="Text 5"/>
          <p:cNvSpPr txBox="1"/>
          <p:nvPr/>
        </p:nvSpPr>
        <p:spPr>
          <a:xfrm>
            <a:off x="1280160" y="208483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Transaction Definitions → DWRS → Edit. Flip Visual Editor ↔ JSON.</a:t>
            </a:r>
            <a:endParaRPr lang="en-US" sz="1350" dirty="0"/>
          </a:p>
        </p:txBody>
      </p:sp>
      <p:sp>
        <p:nvSpPr>
          <p:cNvPr id="8" name="Shape 6"/>
          <p:cNvSpPr/>
          <p:nvPr/>
        </p:nvSpPr>
        <p:spPr>
          <a:xfrm>
            <a:off x="548640" y="2880360"/>
            <a:ext cx="548640" cy="548640"/>
          </a:xfrm>
          <a:prstGeom prst="ellipse">
            <a:avLst/>
          </a:prstGeom>
          <a:solidFill>
            <a:srgbClr val="1B2536"/>
          </a:solidFill>
          <a:ln w="12700">
            <a:solidFill>
              <a:srgbClr val="1B2536"/>
            </a:solidFill>
            <a:prstDash val="solid"/>
          </a:ln>
        </p:spPr>
      </p:sp>
      <p:sp>
        <p:nvSpPr>
          <p:cNvPr id="9" name="Text 7"/>
          <p:cNvSpPr txBox="1"/>
          <p:nvPr/>
        </p:nvSpPr>
        <p:spPr>
          <a:xfrm>
            <a:off x="54864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280160" y="285292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Change a step live</a:t>
            </a:r>
            <a:endParaRPr lang="en-US" sz="1700" dirty="0"/>
          </a:p>
        </p:txBody>
      </p:sp>
      <p:sp>
        <p:nvSpPr>
          <p:cNvPr id="11" name="Text 9"/>
          <p:cNvSpPr txBox="1"/>
          <p:nvPr/>
        </p:nvSpPr>
        <p:spPr>
          <a:xfrm>
            <a:off x="1280160" y="318211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Add a field or edit a step title; save. Nothing redeploys.</a:t>
            </a:r>
            <a:endParaRPr lang="en-US" sz="1350" dirty="0"/>
          </a:p>
        </p:txBody>
      </p:sp>
      <p:sp>
        <p:nvSpPr>
          <p:cNvPr id="12" name="Shape 10"/>
          <p:cNvSpPr/>
          <p:nvPr/>
        </p:nvSpPr>
        <p:spPr>
          <a:xfrm>
            <a:off x="548640" y="3977640"/>
            <a:ext cx="548640" cy="548640"/>
          </a:xfrm>
          <a:prstGeom prst="ellipse">
            <a:avLst/>
          </a:prstGeom>
          <a:solidFill>
            <a:srgbClr val="1B2536"/>
          </a:solidFill>
          <a:ln w="12700">
            <a:solidFill>
              <a:srgbClr val="1B2536"/>
            </a:solidFill>
            <a:prstDash val="solid"/>
          </a:ln>
        </p:spPr>
      </p:sp>
      <p:sp>
        <p:nvSpPr>
          <p:cNvPr id="13" name="Text 11"/>
          <p:cNvSpPr txBox="1"/>
          <p:nvPr/>
        </p:nvSpPr>
        <p:spPr>
          <a:xfrm>
            <a:off x="548640" y="3977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280160" y="395020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Fill a transaction</a:t>
            </a:r>
            <a:endParaRPr lang="en-US" sz="1700" dirty="0"/>
          </a:p>
        </p:txBody>
      </p:sp>
      <p:sp>
        <p:nvSpPr>
          <p:cNvPr id="15" name="Text 13"/>
          <p:cNvSpPr txBox="1"/>
          <p:nvPr/>
        </p:nvSpPr>
        <p:spPr>
          <a:xfrm>
            <a:off x="1280160" y="427939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Transaction Definitions → Create Transaction. Walk the tabs and pick a registration type.</a:t>
            </a:r>
            <a:endParaRPr lang="en-US" sz="1350" dirty="0"/>
          </a:p>
        </p:txBody>
      </p:sp>
      <p:sp>
        <p:nvSpPr>
          <p:cNvPr id="16" name="Shape 14"/>
          <p:cNvSpPr/>
          <p:nvPr/>
        </p:nvSpPr>
        <p:spPr>
          <a:xfrm>
            <a:off x="548640" y="5074920"/>
            <a:ext cx="548640" cy="548640"/>
          </a:xfrm>
          <a:prstGeom prst="ellipse">
            <a:avLst/>
          </a:prstGeom>
          <a:solidFill>
            <a:srgbClr val="1B2536"/>
          </a:solidFill>
          <a:ln w="12700">
            <a:solidFill>
              <a:srgbClr val="1B2536"/>
            </a:solidFill>
            <a:prstDash val="solid"/>
          </a:ln>
        </p:spPr>
      </p:sp>
      <p:sp>
        <p:nvSpPr>
          <p:cNvPr id="17" name="Text 15"/>
          <p:cNvSpPr txBox="1"/>
          <p:nvPr/>
        </p:nvSpPr>
        <p:spPr>
          <a:xfrm>
            <a:off x="548640" y="5074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280160" y="504748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Trip the validation</a:t>
            </a:r>
            <a:endParaRPr lang="en-US" sz="1700" dirty="0"/>
          </a:p>
        </p:txBody>
      </p:sp>
      <p:sp>
        <p:nvSpPr>
          <p:cNvPr id="19" name="Text 17"/>
          <p:cNvSpPr txBox="1"/>
          <p:nvPr/>
        </p:nvSpPr>
        <p:spPr>
          <a:xfrm>
            <a:off x="1280160" y="537667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Enter a 7-digit or alphabetic NWSD ID — the step won’t advance.</a:t>
            </a:r>
            <a:endParaRPr lang="en-US" sz="1350" dirty="0"/>
          </a:p>
        </p:txBody>
      </p:sp>
      <p:sp>
        <p:nvSpPr>
          <p:cNvPr id="20" name="Shape 18"/>
          <p:cNvSpPr/>
          <p:nvPr/>
        </p:nvSpPr>
        <p:spPr>
          <a:xfrm>
            <a:off x="6309360" y="1783080"/>
            <a:ext cx="548640" cy="548640"/>
          </a:xfrm>
          <a:prstGeom prst="ellipse">
            <a:avLst/>
          </a:prstGeom>
          <a:solidFill>
            <a:srgbClr val="E3710A"/>
          </a:solidFill>
          <a:ln w="12700">
            <a:solidFill>
              <a:srgbClr val="E3710A"/>
            </a:solidFill>
            <a:prstDash val="solid"/>
          </a:ln>
        </p:spPr>
      </p:sp>
      <p:sp>
        <p:nvSpPr>
          <p:cNvPr id="21" name="Text 19"/>
          <p:cNvSpPr txBox="1"/>
          <p:nvPr/>
        </p:nvSpPr>
        <p:spPr>
          <a:xfrm>
            <a:off x="630936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7040880" y="175564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Pay</a:t>
            </a:r>
            <a:endParaRPr lang="en-US" sz="1700" dirty="0"/>
          </a:p>
        </p:txBody>
      </p:sp>
      <p:sp>
        <p:nvSpPr>
          <p:cNvPr id="23" name="Text 21"/>
          <p:cNvSpPr txBox="1"/>
          <p:nvPr/>
        </p:nvSpPr>
        <p:spPr>
          <a:xfrm>
            <a:off x="7040880" y="208483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Use “pay banana”: confirm $50.00 → Stripe Checkout with test card 4242 4242 4242 4242.</a:t>
            </a:r>
            <a:endParaRPr lang="en-US" sz="1350" dirty="0"/>
          </a:p>
        </p:txBody>
      </p:sp>
      <p:sp>
        <p:nvSpPr>
          <p:cNvPr id="24" name="Shape 22"/>
          <p:cNvSpPr/>
          <p:nvPr/>
        </p:nvSpPr>
        <p:spPr>
          <a:xfrm>
            <a:off x="6309360" y="2880360"/>
            <a:ext cx="548640" cy="548640"/>
          </a:xfrm>
          <a:prstGeom prst="ellipse">
            <a:avLst/>
          </a:prstGeom>
          <a:solidFill>
            <a:srgbClr val="1B2536"/>
          </a:solidFill>
          <a:ln w="12700">
            <a:solidFill>
              <a:srgbClr val="1B2536"/>
            </a:solidFill>
            <a:prstDash val="solid"/>
          </a:ln>
        </p:spPr>
      </p:sp>
      <p:sp>
        <p:nvSpPr>
          <p:cNvPr id="25" name="Text 23"/>
          <p:cNvSpPr txBox="1"/>
          <p:nvPr/>
        </p:nvSpPr>
        <p:spPr>
          <a:xfrm>
            <a:off x="6309360" y="2880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txBox="1"/>
          <p:nvPr/>
        </p:nvSpPr>
        <p:spPr>
          <a:xfrm>
            <a:off x="7040880" y="285292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Watch the hand-off</a:t>
            </a:r>
            <a:endParaRPr lang="en-US" sz="1700" dirty="0"/>
          </a:p>
        </p:txBody>
      </p:sp>
      <p:sp>
        <p:nvSpPr>
          <p:cNvPr id="27" name="Text 25"/>
          <p:cNvSpPr txBox="1"/>
          <p:nvPr/>
        </p:nvSpPr>
        <p:spPr>
          <a:xfrm>
            <a:off x="7040880" y="318211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Status flips to complete; webhook payload lands at the webhook URL.</a:t>
            </a:r>
            <a:endParaRPr lang="en-US" sz="1350" dirty="0"/>
          </a:p>
        </p:txBody>
      </p:sp>
      <p:sp>
        <p:nvSpPr>
          <p:cNvPr id="28" name="Shape 26"/>
          <p:cNvSpPr/>
          <p:nvPr/>
        </p:nvSpPr>
        <p:spPr>
          <a:xfrm>
            <a:off x="6309360" y="3977640"/>
            <a:ext cx="548640" cy="548640"/>
          </a:xfrm>
          <a:prstGeom prst="ellipse">
            <a:avLst/>
          </a:prstGeom>
          <a:solidFill>
            <a:srgbClr val="1B2536"/>
          </a:solidFill>
          <a:ln w="12700">
            <a:solidFill>
              <a:srgbClr val="1B2536"/>
            </a:solidFill>
            <a:prstDash val="solid"/>
          </a:ln>
        </p:spPr>
      </p:sp>
      <p:sp>
        <p:nvSpPr>
          <p:cNvPr id="29" name="Text 27"/>
          <p:cNvSpPr txBox="1"/>
          <p:nvPr/>
        </p:nvSpPr>
        <p:spPr>
          <a:xfrm>
            <a:off x="6309360" y="3977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txBox="1"/>
          <p:nvPr/>
        </p:nvSpPr>
        <p:spPr>
          <a:xfrm>
            <a:off x="7040880" y="3950208"/>
            <a:ext cx="4617720" cy="329184"/>
          </a:xfrm>
          <a:prstGeom prst="rect">
            <a:avLst/>
          </a:prstGeom>
          <a:noFill/>
          <a:ln/>
        </p:spPr>
        <p:txBody>
          <a:bodyPr wrap="square" lIns="0" tIns="0" rIns="0" bIns="0" rtlCol="0" anchor="ctr"/>
          <a:lstStyle/>
          <a:p>
            <a:pPr indent="0" marL="0">
              <a:buNone/>
            </a:pPr>
            <a:r>
              <a:rPr lang="en-US" sz="1700" b="1" dirty="0">
                <a:solidFill>
                  <a:srgbClr val="1B2536"/>
                </a:solidFill>
                <a:latin typeface="Cambria" pitchFamily="34" charset="0"/>
                <a:ea typeface="Cambria" pitchFamily="34" charset="-122"/>
                <a:cs typeface="Cambria" pitchFamily="34" charset="-120"/>
              </a:rPr>
              <a:t>Pull the data</a:t>
            </a:r>
            <a:endParaRPr lang="en-US" sz="1700" dirty="0"/>
          </a:p>
        </p:txBody>
      </p:sp>
      <p:sp>
        <p:nvSpPr>
          <p:cNvPr id="31" name="Text 29"/>
          <p:cNvSpPr txBox="1"/>
          <p:nvPr/>
        </p:nvSpPr>
        <p:spPr>
          <a:xfrm>
            <a:off x="7040880" y="4279392"/>
            <a:ext cx="4617720" cy="548640"/>
          </a:xfrm>
          <a:prstGeom prst="rect">
            <a:avLst/>
          </a:prstGeom>
          <a:noFill/>
          <a:ln/>
        </p:spPr>
        <p:txBody>
          <a:bodyPr wrap="square" lIns="0" tIns="0" rIns="0" bIns="0" rtlCol="0" anchor="t"/>
          <a:lstStyle/>
          <a:p>
            <a:pPr indent="0" marL="0">
              <a:buNone/>
            </a:pPr>
            <a:r>
              <a:rPr lang="en-US" sz="1350" dirty="0">
                <a:solidFill>
                  <a:srgbClr val="3C4A60"/>
                </a:solidFill>
                <a:latin typeface="Calibri" pitchFamily="34" charset="0"/>
                <a:ea typeface="Calibri" pitchFamily="34" charset="-122"/>
                <a:cs typeface="Calibri" pitchFamily="34" charset="-120"/>
              </a:rPr>
              <a:t>Run the curl recipes in a terminal — the new record is there, ready for CSV.</a:t>
            </a:r>
            <a:endParaRPr lang="en-US" sz="1350" dirty="0"/>
          </a:p>
        </p:txBody>
      </p:sp>
      <p:sp>
        <p:nvSpPr>
          <p:cNvPr id="32" name="Shape 30"/>
          <p:cNvSpPr/>
          <p:nvPr/>
        </p:nvSpPr>
        <p:spPr>
          <a:xfrm>
            <a:off x="6309360" y="5029200"/>
            <a:ext cx="5349240" cy="960120"/>
          </a:xfrm>
          <a:prstGeom prst="roundRect">
            <a:avLst>
              <a:gd name="adj" fmla="val 7619"/>
            </a:avLst>
          </a:prstGeom>
          <a:solidFill>
            <a:srgbClr val="FDF1E6"/>
          </a:solidFill>
          <a:ln w="9525">
            <a:solidFill>
              <a:srgbClr val="E2E5EA"/>
            </a:solidFill>
            <a:prstDash val="solid"/>
          </a:ln>
          <a:effectLst>
            <a:outerShdw sx="100000" sy="100000" kx="0" ky="0" algn="bl" rotWithShape="0" blurRad="76200" dist="25400" dir="5400000">
              <a:srgbClr val="000000">
                <a:alpha val="8000"/>
              </a:srgbClr>
            </a:outerShdw>
          </a:effectLst>
        </p:spPr>
      </p:sp>
      <p:sp>
        <p:nvSpPr>
          <p:cNvPr id="33" name="Text 31"/>
          <p:cNvSpPr txBox="1"/>
          <p:nvPr/>
        </p:nvSpPr>
        <p:spPr>
          <a:xfrm>
            <a:off x="6537960" y="5120640"/>
            <a:ext cx="4892040" cy="777240"/>
          </a:xfrm>
          <a:prstGeom prst="rect">
            <a:avLst/>
          </a:prstGeom>
          <a:noFill/>
          <a:ln/>
        </p:spPr>
        <p:txBody>
          <a:bodyPr wrap="square" lIns="0" tIns="0" rIns="0" bIns="0" rtlCol="0" anchor="ctr"/>
          <a:lstStyle/>
          <a:p>
            <a:pPr indent="0" marL="0">
              <a:buNone/>
            </a:pPr>
            <a:r>
              <a:rPr lang="en-US" sz="1300" b="1" dirty="0">
                <a:solidFill>
                  <a:srgbClr val="9D5B00"/>
                </a:solidFill>
                <a:latin typeface="Calibri" pitchFamily="34" charset="0"/>
                <a:ea typeface="Calibri" pitchFamily="34" charset="-122"/>
                <a:cs typeface="Calibri" pitchFamily="34" charset="-120"/>
              </a:rPr>
              <a:t>Tip: </a:t>
            </a:r>
            <a:pPr indent="0" marL="0">
              <a:buNone/>
            </a:pPr>
            <a:r>
              <a:rPr lang="en-US" sz="1300" dirty="0">
                <a:solidFill>
                  <a:srgbClr val="3C4A60"/>
                </a:solidFill>
                <a:latin typeface="Calibri" pitchFamily="34" charset="0"/>
                <a:ea typeface="Calibri" pitchFamily="34" charset="-122"/>
                <a:cs typeface="Calibri" pitchFamily="34" charset="-120"/>
              </a:rPr>
              <a:t>point webhook_url at a request inspector (e.g. webhook.site) so the audience sees the push arrive live.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4"/>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Before you present</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Local environment checklist</a:t>
            </a:r>
            <a:endParaRPr lang="en-US" sz="1600" dirty="0"/>
          </a:p>
        </p:txBody>
      </p:sp>
      <p:sp>
        <p:nvSpPr>
          <p:cNvPr id="4" name="Shape 2"/>
          <p:cNvSpPr/>
          <p:nvPr/>
        </p:nvSpPr>
        <p:spPr>
          <a:xfrm>
            <a:off x="548640" y="1737360"/>
            <a:ext cx="6400800" cy="3931920"/>
          </a:xfrm>
          <a:prstGeom prst="roundRect">
            <a:avLst>
              <a:gd name="adj" fmla="val 1860"/>
            </a:avLst>
          </a:prstGeom>
          <a:solidFill>
            <a:srgbClr val="0F1623"/>
          </a:solidFill>
          <a:ln w="12700">
            <a:solidFill>
              <a:srgbClr val="0F1623"/>
            </a:solidFill>
            <a:prstDash val="solid"/>
          </a:ln>
        </p:spPr>
      </p:sp>
      <p:sp>
        <p:nvSpPr>
          <p:cNvPr id="5" name="Text 3"/>
          <p:cNvSpPr txBox="1"/>
          <p:nvPr/>
        </p:nvSpPr>
        <p:spPr>
          <a:xfrm>
            <a:off x="777240" y="1920240"/>
            <a:ext cx="5943600" cy="3611880"/>
          </a:xfrm>
          <a:prstGeom prst="rect">
            <a:avLst/>
          </a:prstGeom>
          <a:noFill/>
          <a:ln/>
        </p:spPr>
        <p:txBody>
          <a:bodyPr wrap="square" lIns="0" tIns="0" rIns="0" bIns="0" rtlCol="0" anchor="t"/>
          <a:lstStyle/>
          <a:p>
            <a:pPr indent="0" marL="0">
              <a:buNone/>
            </a:pPr>
            <a:r>
              <a:rPr lang="en-US" sz="1300" dirty="0">
                <a:solidFill>
                  <a:srgbClr val="6A7A92"/>
                </a:solidFill>
                <a:latin typeface="Courier New" pitchFamily="34" charset="0"/>
                <a:ea typeface="Courier New" pitchFamily="34" charset="-122"/>
                <a:cs typeface="Courier New" pitchFamily="34" charset="-120"/>
              </a:rPr>
              <a:t># 1. Start the stack (client :8081, server :5050, mongo)</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docker compose up --build</a:t>
            </a:r>
            <a:endParaRPr lang="en-US" sz="1300" dirty="0"/>
          </a:p>
          <a:p>
            <a:pPr indent="0" marL="0">
              <a:buNone/>
            </a:pPr>
            <a:endParaRPr lang="en-US" sz="1300" dirty="0"/>
          </a:p>
          <a:p>
            <a:pPr indent="0" marL="0">
              <a:buNone/>
            </a:pPr>
            <a:r>
              <a:rPr lang="en-US" sz="1300" dirty="0">
                <a:solidFill>
                  <a:srgbClr val="6A7A92"/>
                </a:solidFill>
                <a:latin typeface="Courier New" pitchFamily="34" charset="0"/>
                <a:ea typeface="Courier New" pitchFamily="34" charset="-122"/>
                <a:cs typeface="Courier New" pitchFamily="34" charset="-120"/>
              </a:rPr>
              <a:t># 2. Load the demo data (first run only)</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docker compose exec mongo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mongorestore --noOptionsRestore --gzip /dump</a:t>
            </a:r>
            <a:endParaRPr lang="en-US" sz="1300" dirty="0"/>
          </a:p>
          <a:p>
            <a:pPr indent="0" marL="0">
              <a:buNone/>
            </a:pPr>
            <a:endParaRPr lang="en-US" sz="1300" dirty="0"/>
          </a:p>
          <a:p>
            <a:pPr indent="0" marL="0">
              <a:buNone/>
            </a:pPr>
            <a:r>
              <a:rPr lang="en-US" sz="1300" dirty="0">
                <a:solidFill>
                  <a:srgbClr val="6A7A92"/>
                </a:solidFill>
                <a:latin typeface="Courier New" pitchFamily="34" charset="0"/>
                <a:ea typeface="Courier New" pitchFamily="34" charset="-122"/>
                <a:cs typeface="Courier New" pitchFamily="34" charset="-120"/>
              </a:rPr>
              <a:t># 3. Forward Stripe events (separate terminal)</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stripe listen --forward-to \</a:t>
            </a:r>
            <a:endParaRPr lang="en-US" sz="1300" dirty="0"/>
          </a:p>
          <a:p>
            <a:pPr indent="0" marL="0">
              <a:buNone/>
            </a:pPr>
            <a:r>
              <a:rPr lang="en-US" sz="1300" dirty="0">
                <a:solidFill>
                  <a:srgbClr val="D6DEEB"/>
                </a:solidFill>
                <a:latin typeface="Courier New" pitchFamily="34" charset="0"/>
                <a:ea typeface="Courier New" pitchFamily="34" charset="-122"/>
                <a:cs typeface="Courier New" pitchFamily="34" charset="-120"/>
              </a:rPr>
              <a:t>  localhost:5050/payment/webhook</a:t>
            </a:r>
            <a:endParaRPr lang="en-US" sz="1300" dirty="0"/>
          </a:p>
        </p:txBody>
      </p:sp>
      <p:sp>
        <p:nvSpPr>
          <p:cNvPr id="6" name="Shape 4"/>
          <p:cNvSpPr/>
          <p:nvPr/>
        </p:nvSpPr>
        <p:spPr>
          <a:xfrm>
            <a:off x="7315200" y="1783080"/>
            <a:ext cx="411480" cy="411480"/>
          </a:xfrm>
          <a:prstGeom prst="ellipse">
            <a:avLst/>
          </a:prstGeom>
          <a:solidFill>
            <a:srgbClr val="E3710A"/>
          </a:solidFill>
          <a:ln w="12700">
            <a:solidFill>
              <a:srgbClr val="E3710A"/>
            </a:solidFill>
            <a:prstDash val="solid"/>
          </a:ln>
        </p:spPr>
      </p:sp>
      <p:pic>
        <p:nvPicPr>
          <p:cNvPr id="7" name="Image 0" descr="preencoded.png">    </p:cNvPr>
          <p:cNvPicPr>
            <a:picLocks noChangeAspect="1"/>
          </p:cNvPicPr>
          <p:nvPr/>
        </p:nvPicPr>
        <p:blipFill>
          <a:blip r:embed="rId1"/>
          <a:stretch>
            <a:fillRect/>
          </a:stretch>
        </p:blipFill>
        <p:spPr>
          <a:xfrm>
            <a:off x="7422185" y="1890065"/>
            <a:ext cx="197510" cy="197510"/>
          </a:xfrm>
          <a:prstGeom prst="rect">
            <a:avLst/>
          </a:prstGeom>
        </p:spPr>
      </p:pic>
      <p:sp>
        <p:nvSpPr>
          <p:cNvPr id="8" name="Text 5"/>
          <p:cNvSpPr txBox="1"/>
          <p:nvPr/>
        </p:nvSpPr>
        <p:spPr>
          <a:xfrm>
            <a:off x="7909560" y="1737360"/>
            <a:ext cx="3733495" cy="68580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.env has STRIPE_SECRET_KEY (test) and STRIPE_WEBHOOK_SECRET from stripe listen</a:t>
            </a:r>
            <a:endParaRPr lang="en-US" sz="1400" dirty="0"/>
          </a:p>
        </p:txBody>
      </p:sp>
      <p:sp>
        <p:nvSpPr>
          <p:cNvPr id="9" name="Shape 6"/>
          <p:cNvSpPr/>
          <p:nvPr/>
        </p:nvSpPr>
        <p:spPr>
          <a:xfrm>
            <a:off x="7315200" y="2569464"/>
            <a:ext cx="411480" cy="411480"/>
          </a:xfrm>
          <a:prstGeom prst="ellipse">
            <a:avLst/>
          </a:prstGeom>
          <a:solidFill>
            <a:srgbClr val="E3710A"/>
          </a:solidFill>
          <a:ln w="12700">
            <a:solidFill>
              <a:srgbClr val="E3710A"/>
            </a:solidFill>
            <a:prstDash val="solid"/>
          </a:ln>
        </p:spPr>
      </p:sp>
      <p:pic>
        <p:nvPicPr>
          <p:cNvPr id="10" name="Image 1" descr="preencoded.png">    </p:cNvPr>
          <p:cNvPicPr>
            <a:picLocks noChangeAspect="1"/>
          </p:cNvPicPr>
          <p:nvPr/>
        </p:nvPicPr>
        <p:blipFill>
          <a:blip r:embed="rId2"/>
          <a:stretch>
            <a:fillRect/>
          </a:stretch>
        </p:blipFill>
        <p:spPr>
          <a:xfrm>
            <a:off x="7422185" y="2676449"/>
            <a:ext cx="197510" cy="197510"/>
          </a:xfrm>
          <a:prstGeom prst="rect">
            <a:avLst/>
          </a:prstGeom>
        </p:spPr>
      </p:pic>
      <p:sp>
        <p:nvSpPr>
          <p:cNvPr id="11" name="Text 7"/>
          <p:cNvSpPr txBox="1"/>
          <p:nvPr/>
        </p:nvSpPr>
        <p:spPr>
          <a:xfrm>
            <a:off x="7909560" y="2523744"/>
            <a:ext cx="3733495" cy="68580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DWRS definition has a payment step and webhook_url set</a:t>
            </a:r>
            <a:endParaRPr lang="en-US" sz="1400" dirty="0"/>
          </a:p>
        </p:txBody>
      </p:sp>
      <p:sp>
        <p:nvSpPr>
          <p:cNvPr id="12" name="Shape 8"/>
          <p:cNvSpPr/>
          <p:nvPr/>
        </p:nvSpPr>
        <p:spPr>
          <a:xfrm>
            <a:off x="7315200" y="3355848"/>
            <a:ext cx="411480" cy="411480"/>
          </a:xfrm>
          <a:prstGeom prst="ellipse">
            <a:avLst/>
          </a:prstGeom>
          <a:solidFill>
            <a:srgbClr val="E3710A"/>
          </a:solidFill>
          <a:ln w="12700">
            <a:solidFill>
              <a:srgbClr val="E3710A"/>
            </a:solidFill>
            <a:prstDash val="solid"/>
          </a:ln>
        </p:spPr>
      </p:sp>
      <p:pic>
        <p:nvPicPr>
          <p:cNvPr id="13" name="Image 2" descr="preencoded.png">    </p:cNvPr>
          <p:cNvPicPr>
            <a:picLocks noChangeAspect="1"/>
          </p:cNvPicPr>
          <p:nvPr/>
        </p:nvPicPr>
        <p:blipFill>
          <a:blip r:embed="rId3"/>
          <a:stretch>
            <a:fillRect/>
          </a:stretch>
        </p:blipFill>
        <p:spPr>
          <a:xfrm>
            <a:off x="7422185" y="3462833"/>
            <a:ext cx="197510" cy="197510"/>
          </a:xfrm>
          <a:prstGeom prst="rect">
            <a:avLst/>
          </a:prstGeom>
        </p:spPr>
      </p:pic>
      <p:sp>
        <p:nvSpPr>
          <p:cNvPr id="14" name="Text 9"/>
          <p:cNvSpPr txBox="1"/>
          <p:nvPr/>
        </p:nvSpPr>
        <p:spPr>
          <a:xfrm>
            <a:off x="7909560" y="3310128"/>
            <a:ext cx="3733495" cy="68580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Webhook inspector open in a browser tab</a:t>
            </a:r>
            <a:endParaRPr lang="en-US" sz="1400" dirty="0"/>
          </a:p>
        </p:txBody>
      </p:sp>
      <p:sp>
        <p:nvSpPr>
          <p:cNvPr id="15" name="Shape 10"/>
          <p:cNvSpPr/>
          <p:nvPr/>
        </p:nvSpPr>
        <p:spPr>
          <a:xfrm>
            <a:off x="7315200" y="4142232"/>
            <a:ext cx="411480" cy="411480"/>
          </a:xfrm>
          <a:prstGeom prst="ellipse">
            <a:avLst/>
          </a:prstGeom>
          <a:solidFill>
            <a:srgbClr val="E3710A"/>
          </a:solidFill>
          <a:ln w="12700">
            <a:solidFill>
              <a:srgbClr val="E3710A"/>
            </a:solidFill>
            <a:prstDash val="solid"/>
          </a:ln>
        </p:spPr>
      </p:sp>
      <p:pic>
        <p:nvPicPr>
          <p:cNvPr id="16" name="Image 3" descr="preencoded.png">    </p:cNvPr>
          <p:cNvPicPr>
            <a:picLocks noChangeAspect="1"/>
          </p:cNvPicPr>
          <p:nvPr/>
        </p:nvPicPr>
        <p:blipFill>
          <a:blip r:embed="rId4"/>
          <a:stretch>
            <a:fillRect/>
          </a:stretch>
        </p:blipFill>
        <p:spPr>
          <a:xfrm>
            <a:off x="7422185" y="4249217"/>
            <a:ext cx="197510" cy="197510"/>
          </a:xfrm>
          <a:prstGeom prst="rect">
            <a:avLst/>
          </a:prstGeom>
        </p:spPr>
      </p:pic>
      <p:sp>
        <p:nvSpPr>
          <p:cNvPr id="17" name="Text 11"/>
          <p:cNvSpPr txBox="1"/>
          <p:nvPr/>
        </p:nvSpPr>
        <p:spPr>
          <a:xfrm>
            <a:off x="7909560" y="4096512"/>
            <a:ext cx="3733495" cy="68580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Terminal ready with API and ID set for the curl recipes (jq installed)</a:t>
            </a:r>
            <a:endParaRPr lang="en-US" sz="1400" dirty="0"/>
          </a:p>
        </p:txBody>
      </p:sp>
      <p:sp>
        <p:nvSpPr>
          <p:cNvPr id="18" name="Shape 12"/>
          <p:cNvSpPr/>
          <p:nvPr/>
        </p:nvSpPr>
        <p:spPr>
          <a:xfrm>
            <a:off x="7315200" y="4928616"/>
            <a:ext cx="411480" cy="411480"/>
          </a:xfrm>
          <a:prstGeom prst="ellipse">
            <a:avLst/>
          </a:prstGeom>
          <a:solidFill>
            <a:srgbClr val="E3710A"/>
          </a:solidFill>
          <a:ln w="12700">
            <a:solidFill>
              <a:srgbClr val="E3710A"/>
            </a:solidFill>
            <a:prstDash val="solid"/>
          </a:ln>
        </p:spPr>
      </p:sp>
      <p:pic>
        <p:nvPicPr>
          <p:cNvPr id="19" name="Image 4" descr="preencoded.png">    </p:cNvPr>
          <p:cNvPicPr>
            <a:picLocks noChangeAspect="1"/>
          </p:cNvPicPr>
          <p:nvPr/>
        </p:nvPicPr>
        <p:blipFill>
          <a:blip r:embed="rId5"/>
          <a:stretch>
            <a:fillRect/>
          </a:stretch>
        </p:blipFill>
        <p:spPr>
          <a:xfrm>
            <a:off x="7422185" y="5035601"/>
            <a:ext cx="197510" cy="197510"/>
          </a:xfrm>
          <a:prstGeom prst="rect">
            <a:avLst/>
          </a:prstGeom>
        </p:spPr>
      </p:pic>
      <p:sp>
        <p:nvSpPr>
          <p:cNvPr id="20" name="Text 13"/>
          <p:cNvSpPr txBox="1"/>
          <p:nvPr/>
        </p:nvSpPr>
        <p:spPr>
          <a:xfrm>
            <a:off x="7909560" y="4882896"/>
            <a:ext cx="3733495" cy="685800"/>
          </a:xfrm>
          <a:prstGeom prst="rect">
            <a:avLst/>
          </a:prstGeom>
          <a:noFill/>
          <a:ln/>
        </p:spPr>
        <p:txBody>
          <a:bodyPr wrap="square" lIns="0" tIns="0" rIns="0" bIns="0" rtlCol="0" anchor="t"/>
          <a:lstStyle/>
          <a:p>
            <a:pPr indent="0" marL="0">
              <a:buNone/>
            </a:pPr>
            <a:r>
              <a:rPr lang="en-US" sz="1400" dirty="0">
                <a:solidFill>
                  <a:srgbClr val="3C4A60"/>
                </a:solidFill>
                <a:latin typeface="Calibri" pitchFamily="34" charset="0"/>
                <a:ea typeface="Calibri" pitchFamily="34" charset="-122"/>
                <a:cs typeface="Calibri" pitchFamily="34" charset="-120"/>
              </a:rPr>
              <a:t>Browser tabs: /txndefs and /transactions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600" b="1" dirty="0">
                <a:solidFill>
                  <a:srgbClr val="1B2536"/>
                </a:solidFill>
                <a:latin typeface="Cambria" pitchFamily="34" charset="0"/>
                <a:ea typeface="Cambria" pitchFamily="34" charset="-122"/>
                <a:cs typeface="Cambria" pitchFamily="34" charset="-120"/>
              </a:rPr>
              <a:t>Get the code</a:t>
            </a:r>
            <a:endParaRPr lang="en-US" sz="3600" dirty="0"/>
          </a:p>
        </p:txBody>
      </p:sp>
      <p:sp>
        <p:nvSpPr>
          <p:cNvPr id="3" name="Text 1"/>
          <p:cNvSpPr txBox="1"/>
          <p:nvPr/>
        </p:nvSpPr>
        <p:spPr>
          <a:xfrm>
            <a:off x="548640" y="1051560"/>
            <a:ext cx="11094415" cy="411480"/>
          </a:xfrm>
          <a:prstGeom prst="rect">
            <a:avLst/>
          </a:prstGeom>
          <a:noFill/>
          <a:ln/>
        </p:spPr>
        <p:txBody>
          <a:bodyPr wrap="square" lIns="0" tIns="0" rIns="0" bIns="0" rtlCol="0" anchor="ctr"/>
          <a:lstStyle/>
          <a:p>
            <a:pPr indent="0" marL="0">
              <a:buNone/>
            </a:pPr>
            <a:r>
              <a:rPr lang="en-US" sz="1600" dirty="0">
                <a:solidFill>
                  <a:srgbClr val="7A8699"/>
                </a:solidFill>
                <a:latin typeface="Calibri" pitchFamily="34" charset="0"/>
                <a:ea typeface="Calibri" pitchFamily="34" charset="-122"/>
                <a:cs typeface="Calibri" pitchFamily="34" charset="-120"/>
              </a:rPr>
              <a:t>Open source — clone it, run it locally, build your own transactions</a:t>
            </a:r>
            <a:endParaRPr lang="en-US" sz="1600" dirty="0"/>
          </a:p>
        </p:txBody>
      </p:sp>
      <p:sp>
        <p:nvSpPr>
          <p:cNvPr id="4" name="Shape 2"/>
          <p:cNvSpPr/>
          <p:nvPr/>
        </p:nvSpPr>
        <p:spPr>
          <a:xfrm>
            <a:off x="548640" y="2011680"/>
            <a:ext cx="777240" cy="777240"/>
          </a:xfrm>
          <a:prstGeom prst="ellipse">
            <a:avLst/>
          </a:prstGeom>
          <a:solidFill>
            <a:srgbClr val="1B2536"/>
          </a:solidFill>
          <a:ln w="12700">
            <a:solidFill>
              <a:srgbClr val="1B2536"/>
            </a:solidFill>
            <a:prstDash val="solid"/>
          </a:ln>
        </p:spPr>
      </p:sp>
      <p:pic>
        <p:nvPicPr>
          <p:cNvPr id="5" name="Image 0" descr="preencoded.png">    </p:cNvPr>
          <p:cNvPicPr>
            <a:picLocks noChangeAspect="1"/>
          </p:cNvPicPr>
          <p:nvPr/>
        </p:nvPicPr>
        <p:blipFill>
          <a:blip r:embed="rId1"/>
          <a:stretch>
            <a:fillRect/>
          </a:stretch>
        </p:blipFill>
        <p:spPr>
          <a:xfrm>
            <a:off x="750722" y="2213762"/>
            <a:ext cx="373075" cy="373075"/>
          </a:xfrm>
          <a:prstGeom prst="rect">
            <a:avLst/>
          </a:prstGeom>
        </p:spPr>
      </p:pic>
      <p:sp>
        <p:nvSpPr>
          <p:cNvPr id="6" name="Text 3">
            <a:hlinkClick r:id="rId2" tooltip=""/>
          </p:cNvPr>
          <p:cNvSpPr txBox="1"/>
          <p:nvPr/>
        </p:nvSpPr>
        <p:spPr>
          <a:xfrm>
            <a:off x="548640" y="2971800"/>
            <a:ext cx="6583680" cy="640080"/>
          </a:xfrm>
          <a:prstGeom prst="rect">
            <a:avLst/>
          </a:prstGeom>
          <a:noFill/>
          <a:ln/>
        </p:spPr>
        <p:txBody>
          <a:bodyPr wrap="square" lIns="0" tIns="0" rIns="0" bIns="0" rtlCol="0" anchor="ctr"/>
          <a:lstStyle/>
          <a:p>
            <a:pPr indent="0" marL="0">
              <a:buNone/>
            </a:pPr>
            <a:r>
              <a:rPr lang="en-US" sz="3000" b="1" u="sng" dirty="0">
                <a:solidFill>
                  <a:srgbClr val="E3710A"/>
                </a:solidFill>
                <a:latin typeface="Cambria" pitchFamily="34" charset="0"/>
                <a:ea typeface="Cambria" pitchFamily="34" charset="-122"/>
                <a:cs typeface="Cambria"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github.com/ideapod/dd-transactions</a:t>
            </a:r>
            <a:endParaRPr lang="en-US" sz="3000" dirty="0"/>
          </a:p>
        </p:txBody>
      </p:sp>
      <p:sp>
        <p:nvSpPr>
          <p:cNvPr id="7" name="Shape 4"/>
          <p:cNvSpPr/>
          <p:nvPr/>
        </p:nvSpPr>
        <p:spPr>
          <a:xfrm>
            <a:off x="548640" y="3886200"/>
            <a:ext cx="6583680" cy="1097280"/>
          </a:xfrm>
          <a:prstGeom prst="roundRect">
            <a:avLst>
              <a:gd name="adj" fmla="val 6667"/>
            </a:avLst>
          </a:prstGeom>
          <a:solidFill>
            <a:srgbClr val="0F1623"/>
          </a:solidFill>
          <a:ln w="12700">
            <a:solidFill>
              <a:srgbClr val="0F1623"/>
            </a:solidFill>
            <a:prstDash val="solid"/>
          </a:ln>
        </p:spPr>
      </p:sp>
      <p:sp>
        <p:nvSpPr>
          <p:cNvPr id="8" name="Text 5"/>
          <p:cNvSpPr txBox="1"/>
          <p:nvPr/>
        </p:nvSpPr>
        <p:spPr>
          <a:xfrm>
            <a:off x="777240" y="4069080"/>
            <a:ext cx="6126480" cy="777240"/>
          </a:xfrm>
          <a:prstGeom prst="rect">
            <a:avLst/>
          </a:prstGeom>
          <a:noFill/>
          <a:ln/>
        </p:spPr>
        <p:txBody>
          <a:bodyPr wrap="square" lIns="0" tIns="0" rIns="0" bIns="0" rtlCol="0" anchor="t"/>
          <a:lstStyle/>
          <a:p>
            <a:pPr indent="0" marL="0">
              <a:buNone/>
            </a:pPr>
            <a:r>
              <a:rPr lang="en-US" sz="1150" dirty="0">
                <a:solidFill>
                  <a:srgbClr val="6A7A92"/>
                </a:solidFill>
                <a:latin typeface="Courier New" pitchFamily="34" charset="0"/>
                <a:ea typeface="Courier New" pitchFamily="34" charset="-122"/>
                <a:cs typeface="Courier New" pitchFamily="34" charset="-120"/>
              </a:rPr>
              <a:t>$ </a:t>
            </a:r>
            <a:pPr indent="0" marL="0">
              <a:buNone/>
            </a:pPr>
            <a:r>
              <a:rPr lang="en-US" sz="1150" dirty="0">
                <a:solidFill>
                  <a:srgbClr val="D6DEEB"/>
                </a:solidFill>
                <a:latin typeface="Courier New" pitchFamily="34" charset="0"/>
                <a:ea typeface="Courier New" pitchFamily="34" charset="-122"/>
                <a:cs typeface="Courier New" pitchFamily="34" charset="-120"/>
              </a:rPr>
              <a:t>git clone https://github.com/ideapod/dd-transactions.git</a:t>
            </a:r>
            <a:endParaRPr lang="en-US" sz="1150" dirty="0"/>
          </a:p>
          <a:p>
            <a:pPr indent="0" marL="0">
              <a:buNone/>
            </a:pPr>
            <a:r>
              <a:rPr lang="en-US" sz="1150" dirty="0">
                <a:solidFill>
                  <a:srgbClr val="6A7A92"/>
                </a:solidFill>
                <a:latin typeface="Courier New" pitchFamily="34" charset="0"/>
                <a:ea typeface="Courier New" pitchFamily="34" charset="-122"/>
                <a:cs typeface="Courier New" pitchFamily="34" charset="-120"/>
              </a:rPr>
              <a:t>$ </a:t>
            </a:r>
            <a:pPr indent="0" marL="0">
              <a:buNone/>
            </a:pPr>
            <a:r>
              <a:rPr lang="en-US" sz="1150" dirty="0">
                <a:solidFill>
                  <a:srgbClr val="D6DEEB"/>
                </a:solidFill>
                <a:latin typeface="Courier New" pitchFamily="34" charset="0"/>
                <a:ea typeface="Courier New" pitchFamily="34" charset="-122"/>
                <a:cs typeface="Courier New" pitchFamily="34" charset="-120"/>
              </a:rPr>
              <a:t>cd dd-transactions &amp;&amp; docker compose up --build</a:t>
            </a:r>
            <a:endParaRPr lang="en-US" sz="1150" dirty="0"/>
          </a:p>
          <a:p>
            <a:pPr indent="0" marL="0">
              <a:buNone/>
            </a:pPr>
            <a:r>
              <a:rPr lang="en-US" sz="1150" dirty="0">
                <a:solidFill>
                  <a:srgbClr val="6A7A92"/>
                </a:solidFill>
                <a:latin typeface="Courier New" pitchFamily="34" charset="0"/>
                <a:ea typeface="Courier New" pitchFamily="34" charset="-122"/>
                <a:cs typeface="Courier New" pitchFamily="34" charset="-120"/>
              </a:rPr>
              <a:t>$ </a:t>
            </a:r>
            <a:pPr indent="0" marL="0">
              <a:buNone/>
            </a:pPr>
            <a:r>
              <a:rPr lang="en-US" sz="1150" dirty="0">
                <a:solidFill>
                  <a:srgbClr val="D6DEEB"/>
                </a:solidFill>
                <a:latin typeface="Courier New" pitchFamily="34" charset="0"/>
                <a:ea typeface="Courier New" pitchFamily="34" charset="-122"/>
                <a:cs typeface="Courier New" pitchFamily="34" charset="-120"/>
              </a:rPr>
              <a:t>docker compose exec mongo mongorestore --noOptionsRestore --gzip /dump</a:t>
            </a:r>
            <a:endParaRPr lang="en-US" sz="1150" dirty="0"/>
          </a:p>
        </p:txBody>
      </p:sp>
      <p:sp>
        <p:nvSpPr>
          <p:cNvPr id="9" name="Text 6"/>
          <p:cNvSpPr txBox="1"/>
          <p:nvPr/>
        </p:nvSpPr>
        <p:spPr>
          <a:xfrm>
            <a:off x="548640" y="5257800"/>
            <a:ext cx="6583680" cy="365760"/>
          </a:xfrm>
          <a:prstGeom prst="rect">
            <a:avLst/>
          </a:prstGeom>
          <a:noFill/>
          <a:ln/>
        </p:spPr>
        <p:txBody>
          <a:bodyPr wrap="square" lIns="0" tIns="0" rIns="0" bIns="0" rtlCol="0" anchor="ctr"/>
          <a:lstStyle/>
          <a:p>
            <a:pPr indent="0" marL="0">
              <a:buNone/>
            </a:pPr>
            <a:r>
              <a:rPr lang="en-US" sz="1400" dirty="0">
                <a:solidFill>
                  <a:srgbClr val="3C4A60"/>
                </a:solidFill>
                <a:latin typeface="Calibri" pitchFamily="34" charset="0"/>
                <a:ea typeface="Calibri" pitchFamily="34" charset="-122"/>
                <a:cs typeface="Calibri" pitchFamily="34" charset="-120"/>
              </a:rPr>
              <a:t>Includes demo data, a Bruno API collection and a full README.</a:t>
            </a:r>
            <a:endParaRPr lang="en-US" sz="1400" dirty="0"/>
          </a:p>
        </p:txBody>
      </p:sp>
      <p:sp>
        <p:nvSpPr>
          <p:cNvPr id="10" name="Shape 7"/>
          <p:cNvSpPr/>
          <p:nvPr/>
        </p:nvSpPr>
        <p:spPr>
          <a:xfrm>
            <a:off x="7528255" y="1554480"/>
            <a:ext cx="4114800" cy="4526280"/>
          </a:xfrm>
          <a:prstGeom prst="roundRect">
            <a:avLst>
              <a:gd name="adj" fmla="val 1778"/>
            </a:avLst>
          </a:prstGeom>
          <a:solidFill>
            <a:srgbClr val="FFFFFF"/>
          </a:solidFill>
          <a:ln w="9525">
            <a:solidFill>
              <a:srgbClr val="E2E5EA"/>
            </a:solidFill>
            <a:prstDash val="solid"/>
          </a:ln>
          <a:effectLst>
            <a:outerShdw sx="100000" sy="100000" kx="0" ky="0" algn="bl" rotWithShape="0" blurRad="76200" dist="25400" dir="5400000">
              <a:srgbClr val="000000">
                <a:alpha val="8000"/>
              </a:srgbClr>
            </a:outerShdw>
          </a:effectLst>
        </p:spPr>
      </p:sp>
      <p:pic>
        <p:nvPicPr>
          <p:cNvPr id="11" name="Image 1" descr="preencoded.png">    </p:cNvPr>
          <p:cNvPicPr>
            <a:picLocks noChangeAspect="1"/>
          </p:cNvPicPr>
          <p:nvPr/>
        </p:nvPicPr>
        <p:blipFill>
          <a:blip r:embed="rId3"/>
          <a:stretch>
            <a:fillRect/>
          </a:stretch>
        </p:blipFill>
        <p:spPr>
          <a:xfrm>
            <a:off x="7802575" y="1828800"/>
            <a:ext cx="3566160" cy="3566160"/>
          </a:xfrm>
          <a:prstGeom prst="rect">
            <a:avLst/>
          </a:prstGeom>
        </p:spPr>
      </p:pic>
      <p:sp>
        <p:nvSpPr>
          <p:cNvPr id="12" name="Text 8"/>
          <p:cNvSpPr txBox="1"/>
          <p:nvPr/>
        </p:nvSpPr>
        <p:spPr>
          <a:xfrm>
            <a:off x="7528255" y="5504688"/>
            <a:ext cx="4114800" cy="365760"/>
          </a:xfrm>
          <a:prstGeom prst="rect">
            <a:avLst/>
          </a:prstGeom>
          <a:noFill/>
          <a:ln/>
        </p:spPr>
        <p:txBody>
          <a:bodyPr wrap="square" lIns="0" tIns="0" rIns="0" bIns="0" rtlCol="0" anchor="ctr"/>
          <a:lstStyle/>
          <a:p>
            <a:pPr algn="ctr" indent="0" marL="0">
              <a:buNone/>
            </a:pPr>
            <a:r>
              <a:rPr lang="en-US" sz="1400" dirty="0">
                <a:solidFill>
                  <a:srgbClr val="7A8699"/>
                </a:solidFill>
                <a:latin typeface="Calibri" pitchFamily="34" charset="0"/>
                <a:ea typeface="Calibri" pitchFamily="34" charset="-122"/>
                <a:cs typeface="Calibri" pitchFamily="34" charset="-120"/>
              </a:rPr>
              <a:t>Scan to open the repo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536"/>
        </a:solidFill>
      </p:bgPr>
    </p:bg>
    <p:spTree>
      <p:nvGrpSpPr>
        <p:cNvPr id="1" name=""/>
        <p:cNvGrpSpPr/>
        <p:nvPr/>
      </p:nvGrpSpPr>
      <p:grpSpPr>
        <a:xfrm>
          <a:off x="0" y="0"/>
          <a:ext cx="0" cy="0"/>
          <a:chOff x="0" y="0"/>
          <a:chExt cx="0" cy="0"/>
        </a:xfrm>
      </p:grpSpPr>
      <p:sp>
        <p:nvSpPr>
          <p:cNvPr id="2" name="Shape 0"/>
          <p:cNvSpPr/>
          <p:nvPr/>
        </p:nvSpPr>
        <p:spPr>
          <a:xfrm>
            <a:off x="8503920" y="2926080"/>
            <a:ext cx="5486400" cy="5486400"/>
          </a:xfrm>
          <a:prstGeom prst="ellipse">
            <a:avLst/>
          </a:prstGeom>
          <a:solidFill>
            <a:srgbClr val="E3710A">
              <a:alpha val="15000"/>
            </a:srgbClr>
          </a:solidFill>
          <a:ln w="12700">
            <a:solidFill>
              <a:srgbClr val="E3710A">
                <a:alpha val="0"/>
              </a:srgbClr>
            </a:solidFill>
            <a:prstDash val="solid"/>
          </a:ln>
        </p:spPr>
      </p:sp>
      <p:sp>
        <p:nvSpPr>
          <p:cNvPr id="3" name="Text 1"/>
          <p:cNvSpPr txBox="1"/>
          <p:nvPr/>
        </p:nvSpPr>
        <p:spPr>
          <a:xfrm>
            <a:off x="548640" y="640080"/>
            <a:ext cx="8229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Why it matters</a:t>
            </a:r>
            <a:endParaRPr lang="en-US" sz="4000" dirty="0"/>
          </a:p>
        </p:txBody>
      </p:sp>
      <p:sp>
        <p:nvSpPr>
          <p:cNvPr id="4" name="Text 2"/>
          <p:cNvSpPr txBox="1"/>
          <p:nvPr/>
        </p:nvSpPr>
        <p:spPr>
          <a:xfrm>
            <a:off x="548640" y="1920240"/>
            <a:ext cx="4937760" cy="502920"/>
          </a:xfrm>
          <a:prstGeom prst="rect">
            <a:avLst/>
          </a:prstGeom>
          <a:noFill/>
          <a:ln/>
        </p:spPr>
        <p:txBody>
          <a:bodyPr wrap="square" lIns="0" tIns="0" rIns="0" bIns="0" rtlCol="0" anchor="ctr"/>
          <a:lstStyle/>
          <a:p>
            <a:pPr indent="0" marL="0">
              <a:buNone/>
            </a:pPr>
            <a:r>
              <a:rPr lang="en-US" sz="2400" b="1" dirty="0">
                <a:solidFill>
                  <a:srgbClr val="E3710A"/>
                </a:solidFill>
                <a:latin typeface="Cambria" pitchFamily="34" charset="0"/>
                <a:ea typeface="Cambria" pitchFamily="34" charset="-122"/>
                <a:cs typeface="Cambria" pitchFamily="34" charset="-120"/>
              </a:rPr>
              <a:t>Days, not sprints</a:t>
            </a:r>
            <a:endParaRPr lang="en-US" sz="2400" dirty="0"/>
          </a:p>
        </p:txBody>
      </p:sp>
      <p:sp>
        <p:nvSpPr>
          <p:cNvPr id="5" name="Text 3"/>
          <p:cNvSpPr txBox="1"/>
          <p:nvPr/>
        </p:nvSpPr>
        <p:spPr>
          <a:xfrm>
            <a:off x="548640" y="2468880"/>
            <a:ext cx="4937760" cy="731520"/>
          </a:xfrm>
          <a:prstGeom prst="rect">
            <a:avLst/>
          </a:prstGeom>
          <a:noFill/>
          <a:ln/>
        </p:spPr>
        <p:txBody>
          <a:bodyPr wrap="square" lIns="0" tIns="0" rIns="0" bIns="0" rtlCol="0" anchor="t"/>
          <a:lstStyle/>
          <a:p>
            <a:pPr indent="0" marL="0">
              <a:buNone/>
            </a:pPr>
            <a:r>
              <a:rPr lang="en-US" sz="1600" dirty="0">
                <a:solidFill>
                  <a:srgbClr val="D5DCE7"/>
                </a:solidFill>
                <a:latin typeface="Calibri" pitchFamily="34" charset="0"/>
                <a:ea typeface="Calibri" pitchFamily="34" charset="-122"/>
                <a:cs typeface="Calibri" pitchFamily="34" charset="-120"/>
              </a:rPr>
              <a:t>New transactions are configured, not built</a:t>
            </a:r>
            <a:endParaRPr lang="en-US" sz="1600" dirty="0"/>
          </a:p>
        </p:txBody>
      </p:sp>
      <p:sp>
        <p:nvSpPr>
          <p:cNvPr id="6" name="Text 4"/>
          <p:cNvSpPr txBox="1"/>
          <p:nvPr/>
        </p:nvSpPr>
        <p:spPr>
          <a:xfrm>
            <a:off x="5943600" y="1920240"/>
            <a:ext cx="4937760" cy="502920"/>
          </a:xfrm>
          <a:prstGeom prst="rect">
            <a:avLst/>
          </a:prstGeom>
          <a:noFill/>
          <a:ln/>
        </p:spPr>
        <p:txBody>
          <a:bodyPr wrap="square" lIns="0" tIns="0" rIns="0" bIns="0" rtlCol="0" anchor="ctr"/>
          <a:lstStyle/>
          <a:p>
            <a:pPr indent="0" marL="0">
              <a:buNone/>
            </a:pPr>
            <a:r>
              <a:rPr lang="en-US" sz="2400" b="1" dirty="0">
                <a:solidFill>
                  <a:srgbClr val="E3710A"/>
                </a:solidFill>
                <a:latin typeface="Cambria" pitchFamily="34" charset="0"/>
                <a:ea typeface="Cambria" pitchFamily="34" charset="-122"/>
                <a:cs typeface="Cambria" pitchFamily="34" charset="-120"/>
              </a:rPr>
              <a:t>One engine, every form</a:t>
            </a:r>
            <a:endParaRPr lang="en-US" sz="2400" dirty="0"/>
          </a:p>
        </p:txBody>
      </p:sp>
      <p:sp>
        <p:nvSpPr>
          <p:cNvPr id="7" name="Text 5"/>
          <p:cNvSpPr txBox="1"/>
          <p:nvPr/>
        </p:nvSpPr>
        <p:spPr>
          <a:xfrm>
            <a:off x="5943600" y="2468880"/>
            <a:ext cx="4937760" cy="731520"/>
          </a:xfrm>
          <a:prstGeom prst="rect">
            <a:avLst/>
          </a:prstGeom>
          <a:noFill/>
          <a:ln/>
        </p:spPr>
        <p:txBody>
          <a:bodyPr wrap="square" lIns="0" tIns="0" rIns="0" bIns="0" rtlCol="0" anchor="t"/>
          <a:lstStyle/>
          <a:p>
            <a:pPr indent="0" marL="0">
              <a:buNone/>
            </a:pPr>
            <a:r>
              <a:rPr lang="en-US" sz="1600" dirty="0">
                <a:solidFill>
                  <a:srgbClr val="D5DCE7"/>
                </a:solidFill>
                <a:latin typeface="Calibri" pitchFamily="34" charset="0"/>
                <a:ea typeface="Calibri" pitchFamily="34" charset="-122"/>
                <a:cs typeface="Calibri" pitchFamily="34" charset="-120"/>
              </a:rPr>
              <a:t>Consistent branding, validation and accessibility</a:t>
            </a:r>
            <a:endParaRPr lang="en-US" sz="1600" dirty="0"/>
          </a:p>
        </p:txBody>
      </p:sp>
      <p:sp>
        <p:nvSpPr>
          <p:cNvPr id="8" name="Text 6"/>
          <p:cNvSpPr txBox="1"/>
          <p:nvPr/>
        </p:nvSpPr>
        <p:spPr>
          <a:xfrm>
            <a:off x="548640" y="3703320"/>
            <a:ext cx="4937760" cy="502920"/>
          </a:xfrm>
          <a:prstGeom prst="rect">
            <a:avLst/>
          </a:prstGeom>
          <a:noFill/>
          <a:ln/>
        </p:spPr>
        <p:txBody>
          <a:bodyPr wrap="square" lIns="0" tIns="0" rIns="0" bIns="0" rtlCol="0" anchor="ctr"/>
          <a:lstStyle/>
          <a:p>
            <a:pPr indent="0" marL="0">
              <a:buNone/>
            </a:pPr>
            <a:r>
              <a:rPr lang="en-US" sz="2400" b="1" dirty="0">
                <a:solidFill>
                  <a:srgbClr val="E3710A"/>
                </a:solidFill>
                <a:latin typeface="Cambria" pitchFamily="34" charset="0"/>
                <a:ea typeface="Cambria" pitchFamily="34" charset="-122"/>
                <a:cs typeface="Cambria" pitchFamily="34" charset="-120"/>
              </a:rPr>
              <a:t>Open by default</a:t>
            </a:r>
            <a:endParaRPr lang="en-US" sz="2400" dirty="0"/>
          </a:p>
        </p:txBody>
      </p:sp>
      <p:sp>
        <p:nvSpPr>
          <p:cNvPr id="9" name="Text 7"/>
          <p:cNvSpPr txBox="1"/>
          <p:nvPr/>
        </p:nvSpPr>
        <p:spPr>
          <a:xfrm>
            <a:off x="548640" y="4251960"/>
            <a:ext cx="4937760" cy="731520"/>
          </a:xfrm>
          <a:prstGeom prst="rect">
            <a:avLst/>
          </a:prstGeom>
          <a:noFill/>
          <a:ln/>
        </p:spPr>
        <p:txBody>
          <a:bodyPr wrap="square" lIns="0" tIns="0" rIns="0" bIns="0" rtlCol="0" anchor="t"/>
          <a:lstStyle/>
          <a:p>
            <a:pPr indent="0" marL="0">
              <a:buNone/>
            </a:pPr>
            <a:r>
              <a:rPr lang="en-US" sz="1600" dirty="0">
                <a:solidFill>
                  <a:srgbClr val="D5DCE7"/>
                </a:solidFill>
                <a:latin typeface="Calibri" pitchFamily="34" charset="0"/>
                <a:ea typeface="Calibri" pitchFamily="34" charset="-122"/>
                <a:cs typeface="Calibri" pitchFamily="34" charset="-120"/>
              </a:rPr>
              <a:t>Payments, APIs and webhooks connect it to everything else</a:t>
            </a:r>
            <a:endParaRPr lang="en-US" sz="1600" dirty="0"/>
          </a:p>
        </p:txBody>
      </p:sp>
      <p:sp>
        <p:nvSpPr>
          <p:cNvPr id="10" name="Text 8"/>
          <p:cNvSpPr txBox="1"/>
          <p:nvPr/>
        </p:nvSpPr>
        <p:spPr>
          <a:xfrm>
            <a:off x="5943600" y="3703320"/>
            <a:ext cx="4937760" cy="502920"/>
          </a:xfrm>
          <a:prstGeom prst="rect">
            <a:avLst/>
          </a:prstGeom>
          <a:noFill/>
          <a:ln/>
        </p:spPr>
        <p:txBody>
          <a:bodyPr wrap="square" lIns="0" tIns="0" rIns="0" bIns="0" rtlCol="0" anchor="ctr"/>
          <a:lstStyle/>
          <a:p>
            <a:pPr indent="0" marL="0">
              <a:buNone/>
            </a:pPr>
            <a:r>
              <a:rPr lang="en-US" sz="2400" b="1" dirty="0">
                <a:solidFill>
                  <a:srgbClr val="E3710A"/>
                </a:solidFill>
                <a:latin typeface="Cambria" pitchFamily="34" charset="0"/>
                <a:ea typeface="Cambria" pitchFamily="34" charset="-122"/>
                <a:cs typeface="Cambria" pitchFamily="34" charset="-120"/>
              </a:rPr>
              <a:t>Complexity stays hidden</a:t>
            </a:r>
            <a:endParaRPr lang="en-US" sz="2400" dirty="0"/>
          </a:p>
        </p:txBody>
      </p:sp>
      <p:sp>
        <p:nvSpPr>
          <p:cNvPr id="11" name="Text 9"/>
          <p:cNvSpPr txBox="1"/>
          <p:nvPr/>
        </p:nvSpPr>
        <p:spPr>
          <a:xfrm>
            <a:off x="5943600" y="4251960"/>
            <a:ext cx="4937760" cy="731520"/>
          </a:xfrm>
          <a:prstGeom prst="rect">
            <a:avLst/>
          </a:prstGeom>
          <a:noFill/>
          <a:ln/>
        </p:spPr>
        <p:txBody>
          <a:bodyPr wrap="square" lIns="0" tIns="0" rIns="0" bIns="0" rtlCol="0" anchor="t"/>
          <a:lstStyle/>
          <a:p>
            <a:pPr indent="0" marL="0">
              <a:buNone/>
            </a:pPr>
            <a:r>
              <a:rPr lang="en-US" sz="1600" dirty="0">
                <a:solidFill>
                  <a:srgbClr val="D5DCE7"/>
                </a:solidFill>
                <a:latin typeface="Calibri" pitchFamily="34" charset="0"/>
                <a:ea typeface="Calibri" pitchFamily="34" charset="-122"/>
                <a:cs typeface="Calibri" pitchFamily="34" charset="-120"/>
              </a:rPr>
              <a:t>Deep rules and checks run behind a simple applicant journey</a:t>
            </a:r>
            <a:endParaRPr lang="en-US" sz="1600" dirty="0"/>
          </a:p>
        </p:txBody>
      </p:sp>
      <p:sp>
        <p:nvSpPr>
          <p:cNvPr id="12" name="Text 10"/>
          <p:cNvSpPr txBox="1"/>
          <p:nvPr/>
        </p:nvSpPr>
        <p:spPr>
          <a:xfrm>
            <a:off x="548640" y="5760720"/>
            <a:ext cx="5486400" cy="548640"/>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Transactions</dc:title>
  <dc:subject>PptxGenJS Presentation</dc:subject>
  <dc:creator>PptxGenJS</dc:creator>
  <cp:lastModifiedBy>PptxGenJS</cp:lastModifiedBy>
  <cp:revision>1</cp:revision>
  <dcterms:created xsi:type="dcterms:W3CDTF">2026-09-29T01:33:46Z</dcterms:created>
  <dcterms:modified xsi:type="dcterms:W3CDTF">2026-09-29T01:33:46Z</dcterms:modified>
</cp:coreProperties>
</file>