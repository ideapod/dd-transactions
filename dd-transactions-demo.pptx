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73" r:id="rId24"/>
    <p:sldId id="274" r:id="rId25"/>
    <p:sldId id="275" r:id="rId26"/>
    <p:sldId id="276" r:id="rId27"/>
    <p:sldId id="277" r:id="rId28"/>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19.xml"/><Relationship Id="rId16" Type="http://schemas.openxmlformats.org/officeDocument/2006/relationships/slide" Target="slides/slide20.xml"/><Relationship Id="rId17" Type="http://schemas.openxmlformats.org/officeDocument/2006/relationships/slide" Target="slides/slide21.xml"/><Relationship Id="rId18" Type="http://schemas.openxmlformats.org/officeDocument/2006/relationships/slide" Target="slides/slide2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one-liner: every form in this platform is data, not code. A business analyst can define a complete multi-step transaction — including validation, payment and downstream integrations — by editing a schema. No developer, no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rest of the talk around these three: Configure (how you build a form), Integrate (how the form does more than collect data — payments, hand-offs), Extract (how other systems get the results out). The demo follows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 + Express + MongoDB. The key design point is that TransactionForm fetches the definition at load time and renders it — so the definition is the single source of truth. Status lifecycle: free (no payment), pending (sent to Stripe), complete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definition from the demo data (DWRS registration). Each step has a name, title, fields and nextStep. Rich content — tabs, headings, bullet lists — lives inside steps. nextStep can also be conditional (a 'when/stepMapper'), so the registration type answer can route applicants down different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live screenshots of the DWRS definition from the previous slide. Nothing on these screens was hand-coded: the tabs, headings, radio choices, field labels, the Continue/Back navigation and the error message all come from the schema. The orange banner and card styling come from a single shared theme, so every form looks consistent.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demo, open a definition under /txndefs and flip between the Visual Editor and JSON tabs — changes in one appear in the other. Emphasise: analysts can own the forms; developers aren't a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Visual Editor on the NDIS Worker Clearance ID field, with a regex pattern and an exact-length rule. Right: the applicant's view — '12AB' is rejected with 'Should be 8 characters long' and Submit stays disabled. In the demo, do this live: add a rule, save, reload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NWSD ID field in the demo — type letters or 7 digits and the form refuses to continue. That's a declarative rule in the schema. The same validator pipeline accepts custom and asynchronous validators, and the server re-checks submissions, so the model extends naturally to heavyweight checks: registry lookups, identity verification, eligibility rules, cross-field consistency. The applicant just sees a clean form; the complexity stays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 engine detects any wizard step with type: payment, injects a read-only PaymentSummary, and on submit calls POST /payment/create-checkout-session. The transaction is saved as pending, the user goes to Stripe, and Stripe's webhook flips it to complete. Free forms skip all this and save as 'free'. The same pattern — a typed step that hands off to an external service — is how further integrations (identity, document checks, bookings) slot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models. Pull: any system holding an API key with the transactions:read scope can GET all completed and free transactions for a definition — great for reporting, batch jobs, BI tools. Push: set a webhook_url on the definition and the server POSTs the full transaction the moment it completes (after payment, or immediately for free forms). Every delivery carries an X-DDT-Signature header — an HMAC-SHA256 of the timestamp and body using a per-definition secret — so the receiver can prove it came from us. Custom headers (e.g. the receiver's own Authorization token) can be attached and are stored encrypted. The data shape mirrors the field names in the schema, so consumers get exactly what the form collected.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four commands are verified against the demo data. Setting API, ID and KEY as shell variables keeps the commands short on screen. Recipe 1 finds the ID of any definition; recipe 2 shows the schema is itself queryable (you can see the payment step); recipe 3 is the 3rd-party pull API — it needs an API key with the transactions:read scope, and only complete and free transactions are returned, never pending ones; recipe 4 shows how trivially the data drops into Excel or a reporting pipeline. jq is optional — plain curl returns the raw JSON. Recipes 1 and 2 use the admin routes, which aren't behind a login yet; the next slides cover how keys are issued.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Payments via Stripe is working today and is the template for the rest. The engine gives you three integration points: typed steps inside the wizard (like payment), server-side checks on submission, and signed outbound webhooks on completion — plus the keyed pull API and the MCP server, so an LLM can set up and query these connections too. Identity, compliance checks, case management and notifications all fit one of those hooks without changing how forms are authored.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 engine is Data Driven Forms (@data-driven-forms/react-form-renderer with the MUI component mapper, v3), an open-source library started at Red Hat and built on React Final Form. We hand it the schema from MongoDB; it does the rendering, state, wizard navigation and validation. Three extension points: componentMapper maps schema names to React components (we add payment-summary and bullet-list); validatorMapper adds custom validators (the same-email cross-field check in the snippet is in the codebase today, and validators can be async, so they can call server APIs and registries); and conditions/stepMapper drive show-hide logic and branching wizards. Everything else is a conventional MERN stack: React 18 with Vite and MUI 5, Express 4 on Node 20, MongoDB 7, Stripe for payments, all run with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Step 2 is the moment that lands: edit the schema, save, and open a new transaction — the change is there immediately. Step 4: show the validation error, then fix it. Step 5: Stripe test mode, card 4242 4242 4242 4242, any future expiry, any CVC. Step 6: refresh the transaction list to show 'complete', then switch to the webhook inspector tab. Step 7: run the curl recipes from the 'Calling the API with curl' slide with KEY set (the Bruno collection in /bruno works too — set apiKey in the environment). Optional step 8, if time allows: in Claude Code with the MCP server connected, ask for a new form in one sentence, open the form_url it returns, submit it, then ask Claude how many responses have come in.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a full dry run beforehand. If the Stripe CLI isn't forwarding, payments will stay 'pending' — that's the most common demo failure. The webhook secret changes each time you run stripe listen, so update .env and restart the server if needed. The API key from step 4 is printed once — paste it into KEY in the terminal (and into Claude Code's MCP config if you're doing the optional MCP step). A webhook.site-style inspector is a public URL, so it passes the webhook private-address check.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while taking questions so people can scan the QR code. The repo URL is also a clickable link in the deck. The three commands get the full stack running with the demo data; Stripe test keys go in .env for the payment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on the business outcome: faster delivery of new transactions, consistency, and an open integration model — now secured with scoped API keys and signed webhooks, and reachable by LLMs through MCP. Invite questions — likely ones: admin login (next on the list; the admin UI is unauthenticated today), OAuth for MCP connectors, hosting (Docker, currently self-hosted Mongo), and how complex validation is authored.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Keys are how anything outside the admin UI gets in: third-party systems calling the pull API, and LLM clients using the MCP server. Create one under Integrations → API Keys: give it a name, tick the scopes it needs and optionally limit it to particular forms — here the CRM key can only see DWRS. The full key is shown exactly once; only a hash is stored, so if it's lost you revoke it and issue another. The command-line script does the same thing and is handy for bootstrapping the first key or automating setup.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same pull-API request without a key gets a 401; with a key it gets the data. Right: the four scopes. A reporting tool only needs transactions:read; an LLM that designs forms needs txndefs:read and txndefs:write; a system that wires up its own webhook needs connections:manage. Keys store only a SHA-256 hash, show the plaintext once at creation, record when they were last used and can be revoked immediately. Keys limited to specific forms behave as if no other forms exist. Still to come: a login for the admin UI itself — today the admin routes are unauthenticated, so keep the ports private.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 the Model Context Protocol — is the open standard LLM clients such as Claude use to call tools. Our server lives at POST /mcp and maps onto the same three jobs as the platform. Configure: the LLM reads a schema-authoring guide (components, wizards, payment steps, house style), then creates or updates definitions; every schema goes through the same validator, and errors come back in a form the model can fix. Integrate: it can set a definition's webhook URL, attach auth headers for the receiving system and send a test event. Extract: it can list and read responses, filtered by status and date. A key only sees the tools its scopes allow, and only the forms it's limited to.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is two steps: issue a key, then tell the client where the server is. Claude Code talks Streamable HTTP natively — one claude mcp add command with the bearer header. Claude Desktop's config file launches stdio servers, so we bridge with the mcp-remote package (Node required); restart Claude Desktop after editing the config. Anything else can speak JSON-RPC over plain HTTP — recipe 4 lists the tools the key is allowed to use. The server is stateless: every POST is authenticated and handled independently. OAuth isn't implemented yet, so claude.ai custom connectors (which require OAuth) can't connect; bearer-header clients can.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typical session. The user asks for a form in plain English. The model calls get_schema_guide to learn the components and house style, drafts a schema and calls create_txndef. If it gets something wrong — say a nextStep that points at a step that doesn't exist, or a non-integer amount_cents — the tool returns a precise error and the model fixes it and retries. The saved definition is live straight away and the tool result includes its public form_url. The same conversation can then wire up delivery (configure_connection returns the signing secret once, to hand to the receiving system; test_connection proves it works) and later answer questions about the responses with list_transactions. Everything goes through the same validation and permissions as the UI and the pull API.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3.png"/><Relationship Id="rId8" Type="http://schemas.openxmlformats.org/officeDocument/2006/relationships/notesSlide" Target="../notesSlides/notesSlide18.xml"/></Relationships>
</file>

<file path=ppt/slides/_rels/slide1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2-3.png"/><Relationship Id="rId9" Type="http://schemas.openxmlformats.org/officeDocument/2006/relationships/image" Target="../media/image-2-2.png"/><Relationship Id="rId10" Type="http://schemas.openxmlformats.org/officeDocument/2006/relationships/notesSlide" Target="../notesSlides/notesSlide19.xml"/></Relationships>
</file>

<file path=ppt/slides/_rels/slide14.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image" Target="../media/image6.png"/><Relationship Id="rId7" Type="http://schemas.openxmlformats.org/officeDocument/2006/relationships/image" Target="../media/image-6-2.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hyperlink" Target="https://github.com/ideapod/dd-transactions" TargetMode="External"/><Relationship Id="rId3" Type="http://schemas.openxmlformats.org/officeDocument/2006/relationships/image" Target="../media/image-16-2.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536"/>
        </a:solidFill>
      </p:bgPr>
    </p:bg>
    <p:spTree>
      <p:nvGrpSpPr>
        <p:cNvPr id="1" name=""/>
        <p:cNvGrpSpPr/>
        <p:nvPr/>
      </p:nvGrpSpPr>
      <p:grpSpPr>
        <a:xfrm>
          <a:off x="0" y="0"/>
          <a:ext cx="0" cy="0"/>
          <a:chOff x="0" y="0"/>
          <a:chExt cx="0" cy="0"/>
        </a:xfrm>
      </p:grpSpPr>
      <p:sp>
        <p:nvSpPr>
          <p:cNvPr id="2" name="Shape 0"/>
          <p:cNvSpPr/>
          <p:nvPr/>
        </p:nvSpPr>
        <p:spPr>
          <a:xfrm>
            <a:off x="7863840" y="-1280160"/>
            <a:ext cx="5943600" cy="5943600"/>
          </a:xfrm>
          <a:prstGeom prst="ellipse">
            <a:avLst/>
          </a:prstGeom>
          <a:solidFill>
            <a:srgbClr val="E3710A">
              <a:alpha val="15000"/>
            </a:srgbClr>
          </a:solidFill>
          <a:ln w="12700">
            <a:solidFill>
              <a:srgbClr val="E3710A">
                <a:alpha val="0"/>
              </a:srgbClr>
            </a:solidFill>
            <a:prstDash val="solid"/>
          </a:ln>
        </p:spPr>
      </p:sp>
      <p:sp>
        <p:nvSpPr>
          <p:cNvPr id="3" name="Shape 1"/>
          <p:cNvSpPr/>
          <p:nvPr/>
        </p:nvSpPr>
        <p:spPr>
          <a:xfrm>
            <a:off x="9326880" y="3291840"/>
            <a:ext cx="4023360" cy="4023360"/>
          </a:xfrm>
          <a:prstGeom prst="ellipse">
            <a:avLst/>
          </a:prstGeom>
          <a:solidFill>
            <a:srgbClr val="E3710A">
              <a:alpha val="30000"/>
            </a:srgbClr>
          </a:solidFill>
          <a:ln w="12700">
            <a:solidFill>
              <a:srgbClr val="E3710A">
                <a:alpha val="0"/>
              </a:srgbClr>
            </a:solidFill>
            <a:prstDash val="solid"/>
          </a:ln>
        </p:spPr>
      </p:sp>
      <p:sp>
        <p:nvSpPr>
          <p:cNvPr id="4" name="Shape 2"/>
          <p:cNvSpPr/>
          <p:nvPr/>
        </p:nvSpPr>
        <p:spPr>
          <a:xfrm>
            <a:off x="548640" y="1463040"/>
            <a:ext cx="822960" cy="822960"/>
          </a:xfrm>
          <a:prstGeom prst="ellipse">
            <a:avLst/>
          </a:prstGeom>
          <a:solidFill>
            <a:srgbClr val="E3710A"/>
          </a:solidFill>
          <a:ln w="12700">
            <a:solidFill>
              <a:srgbClr val="E3710A"/>
            </a:solidFill>
            <a:prstDash val="solid"/>
          </a:ln>
        </p:spPr>
      </p:sp>
      <p:pic>
        <p:nvPicPr>
          <p:cNvPr id="5" name="Image 0" descr="preencoded.png">    </p:cNvPr>
          <p:cNvPicPr>
            <a:picLocks noChangeAspect="1"/>
          </p:cNvPicPr>
          <p:nvPr/>
        </p:nvPicPr>
        <p:blipFill>
          <a:blip r:embed="rId1"/>
          <a:stretch>
            <a:fillRect/>
          </a:stretch>
        </p:blipFill>
        <p:spPr>
          <a:xfrm>
            <a:off x="762610" y="1677010"/>
            <a:ext cx="395021" cy="395021"/>
          </a:xfrm>
          <a:prstGeom prst="rect">
            <a:avLst/>
          </a:prstGeom>
        </p:spPr>
      </p:pic>
      <p:sp>
        <p:nvSpPr>
          <p:cNvPr id="6" name="Text 3"/>
          <p:cNvSpPr txBox="1"/>
          <p:nvPr/>
        </p:nvSpPr>
        <p:spPr>
          <a:xfrm>
            <a:off x="548640" y="2560320"/>
            <a:ext cx="8229600" cy="100584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Data-Driven Transactions</a:t>
            </a:r>
            <a:endParaRPr lang="en-US" sz="5200" dirty="0"/>
          </a:p>
        </p:txBody>
      </p:sp>
      <p:sp>
        <p:nvSpPr>
          <p:cNvPr id="7" name="Text 4"/>
          <p:cNvSpPr txBox="1"/>
          <p:nvPr/>
        </p:nvSpPr>
        <p:spPr>
          <a:xfrm>
            <a:off x="548640" y="3566160"/>
            <a:ext cx="8229600" cy="548640"/>
          </a:xfrm>
          <a:prstGeom prst="rect">
            <a:avLst/>
          </a:prstGeom>
          <a:noFill/>
          <a:ln/>
        </p:spPr>
        <p:txBody>
          <a:bodyPr wrap="square" lIns="0" tIns="0" rIns="0" bIns="0" rtlCol="0" anchor="ctr"/>
          <a:lstStyle/>
          <a:p>
            <a:pPr indent="0" marL="0">
              <a:buNone/>
            </a:pPr>
            <a:r>
              <a:rPr lang="en-US" sz="2400" i="1" dirty="0">
                <a:solidFill>
                  <a:srgbClr val="E3710A"/>
                </a:solidFill>
                <a:latin typeface="Cambria" pitchFamily="34" charset="0"/>
                <a:ea typeface="Cambria" pitchFamily="34" charset="-122"/>
                <a:cs typeface="Cambria" pitchFamily="34" charset="-120"/>
              </a:rPr>
              <a:t>Configure the form. Don’t code it.</a:t>
            </a:r>
            <a:endParaRPr lang="en-US" sz="2400" dirty="0"/>
          </a:p>
        </p:txBody>
      </p:sp>
      <p:sp>
        <p:nvSpPr>
          <p:cNvPr id="8" name="Text 5"/>
          <p:cNvSpPr txBox="1"/>
          <p:nvPr/>
        </p:nvSpPr>
        <p:spPr>
          <a:xfrm>
            <a:off x="548640" y="4297680"/>
            <a:ext cx="7315200" cy="822960"/>
          </a:xfrm>
          <a:prstGeom prst="rect">
            <a:avLst/>
          </a:prstGeom>
          <a:noFill/>
          <a:ln/>
        </p:spPr>
        <p:txBody>
          <a:bodyPr wrap="square" lIns="0" tIns="0" rIns="0" bIns="0" rtlCol="0" anchor="ctr"/>
          <a:lstStyle/>
          <a:p>
            <a:pPr indent="0" marL="0">
              <a:buNone/>
            </a:pPr>
            <a:r>
              <a:rPr lang="en-US" sz="1600" dirty="0">
                <a:solidFill>
                  <a:srgbClr val="B8C2D3"/>
                </a:solidFill>
                <a:latin typeface="Calibri" pitchFamily="34" charset="0"/>
                <a:ea typeface="Calibri" pitchFamily="34" charset="-122"/>
                <a:cs typeface="Calibri" pitchFamily="34" charset="-120"/>
              </a:rPr>
              <a:t>Schema-driven, multi-step government transactions — with validation, payments and integrations built into the flow</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One platform, three jobs</a:t>
            </a:r>
            <a:endParaRPr lang="en-US" sz="3600" dirty="0"/>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Every transaction is defined as data — so the same engine runs any form</a:t>
            </a:r>
            <a:endParaRPr lang="en-US" sz="1600" dirty="0"/>
          </a:p>
        </p:txBody>
      </p:sp>
      <p:sp>
        <p:nvSpPr>
          <p:cNvPr id="4" name="Shape 2"/>
          <p:cNvSpPr/>
          <p:nvPr/>
        </p:nvSpPr>
        <p:spPr>
          <a:xfrm>
            <a:off x="548640" y="1920240"/>
            <a:ext cx="3429000" cy="3931920"/>
          </a:xfrm>
          <a:prstGeom prst="roundRect">
            <a:avLst>
              <a:gd name="adj" fmla="val 2133"/>
            </a:avLst>
          </a:prstGeom>
          <a:solidFill>
            <a:srgbClr val="F4F4F4"/>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914400" y="2331720"/>
            <a:ext cx="777240" cy="777240"/>
          </a:xfrm>
          <a:prstGeom prst="ellipse">
            <a:avLst/>
          </a:prstGeom>
          <a:solidFill>
            <a:srgbClr val="E3710A"/>
          </a:solidFill>
          <a:ln w="12700">
            <a:solidFill>
              <a:srgbClr val="E3710A"/>
            </a:solidFill>
            <a:prstDash val="solid"/>
          </a:ln>
        </p:spPr>
      </p:sp>
      <p:pic>
        <p:nvPicPr>
          <p:cNvPr id="6" name="Image 0" descr="preencoded.png">    </p:cNvPr>
          <p:cNvPicPr>
            <a:picLocks noChangeAspect="1"/>
          </p:cNvPicPr>
          <p:nvPr/>
        </p:nvPicPr>
        <p:blipFill>
          <a:blip r:embed="rId1"/>
          <a:stretch>
            <a:fillRect/>
          </a:stretch>
        </p:blipFill>
        <p:spPr>
          <a:xfrm>
            <a:off x="1116482" y="2533802"/>
            <a:ext cx="373075" cy="373075"/>
          </a:xfrm>
          <a:prstGeom prst="rect">
            <a:avLst/>
          </a:prstGeom>
        </p:spPr>
      </p:pic>
      <p:sp>
        <p:nvSpPr>
          <p:cNvPr id="7" name="Text 4"/>
          <p:cNvSpPr txBox="1"/>
          <p:nvPr/>
        </p:nvSpPr>
        <p:spPr>
          <a:xfrm>
            <a:off x="914400" y="3337560"/>
            <a:ext cx="2697480" cy="548640"/>
          </a:xfrm>
          <a:prstGeom prst="rect">
            <a:avLst/>
          </a:prstGeom>
          <a:noFill/>
          <a:ln/>
        </p:spPr>
        <p:txBody>
          <a:bodyPr wrap="square" lIns="0" tIns="0" rIns="0" bIns="0" rtlCol="0" anchor="ctr"/>
          <a:lstStyle/>
          <a:p>
            <a:pPr indent="0" marL="0">
              <a:buNone/>
            </a:pPr>
            <a:r>
              <a:rPr lang="en-US" sz="2400" b="1" dirty="0">
                <a:solidFill>
                  <a:srgbClr val="1B2536"/>
                </a:solidFill>
                <a:latin typeface="Cambria" pitchFamily="34" charset="0"/>
                <a:ea typeface="Cambria" pitchFamily="34" charset="-122"/>
                <a:cs typeface="Cambria" pitchFamily="34" charset="-120"/>
              </a:rPr>
              <a:t>Configure</a:t>
            </a:r>
            <a:endParaRPr lang="en-US" sz="2400" dirty="0"/>
          </a:p>
        </p:txBody>
      </p:sp>
      <p:sp>
        <p:nvSpPr>
          <p:cNvPr id="8" name="Text 5"/>
          <p:cNvSpPr txBox="1"/>
          <p:nvPr/>
        </p:nvSpPr>
        <p:spPr>
          <a:xfrm>
            <a:off x="914400" y="3977640"/>
            <a:ext cx="2697480" cy="1554480"/>
          </a:xfrm>
          <a:prstGeom prst="rect">
            <a:avLst/>
          </a:prstGeom>
          <a:noFill/>
          <a:ln/>
        </p:spPr>
        <p:txBody>
          <a:bodyPr wrap="square" lIns="0" tIns="0" rIns="0" bIns="0" rtlCol="0" anchor="t"/>
          <a:lstStyle/>
          <a:p>
            <a:pPr indent="0" marL="0">
              <a:buNone/>
            </a:pPr>
            <a:r>
              <a:rPr lang="en-US" sz="1600" dirty="0">
                <a:solidFill>
                  <a:srgbClr val="3C4A60"/>
                </a:solidFill>
                <a:latin typeface="Calibri" pitchFamily="34" charset="0"/>
                <a:ea typeface="Calibri" pitchFamily="34" charset="-122"/>
                <a:cs typeface="Calibri" pitchFamily="34" charset="-120"/>
              </a:rPr>
              <a:t>Define steps, fields, tabs, choices and rules in a schema. Publish instantly — no code release.</a:t>
            </a:r>
            <a:endParaRPr lang="en-US" sz="1600" dirty="0"/>
          </a:p>
        </p:txBody>
      </p:sp>
      <p:sp>
        <p:nvSpPr>
          <p:cNvPr id="9" name="Shape 6"/>
          <p:cNvSpPr/>
          <p:nvPr/>
        </p:nvSpPr>
        <p:spPr>
          <a:xfrm>
            <a:off x="4343400" y="1920240"/>
            <a:ext cx="3429000" cy="3931920"/>
          </a:xfrm>
          <a:prstGeom prst="roundRect">
            <a:avLst>
              <a:gd name="adj" fmla="val 2133"/>
            </a:avLst>
          </a:prstGeom>
          <a:solidFill>
            <a:srgbClr val="F4F4F4"/>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709160" y="2331720"/>
            <a:ext cx="777240" cy="777240"/>
          </a:xfrm>
          <a:prstGeom prst="ellipse">
            <a:avLst/>
          </a:prstGeom>
          <a:solidFill>
            <a:srgbClr val="E3710A"/>
          </a:solidFill>
          <a:ln w="12700">
            <a:solidFill>
              <a:srgbClr val="E3710A"/>
            </a:solidFill>
            <a:prstDash val="solid"/>
          </a:ln>
        </p:spPr>
      </p:sp>
      <p:pic>
        <p:nvPicPr>
          <p:cNvPr id="11" name="Image 1" descr="preencoded.png">    </p:cNvPr>
          <p:cNvPicPr>
            <a:picLocks noChangeAspect="1"/>
          </p:cNvPicPr>
          <p:nvPr/>
        </p:nvPicPr>
        <p:blipFill>
          <a:blip r:embed="rId2"/>
          <a:stretch>
            <a:fillRect/>
          </a:stretch>
        </p:blipFill>
        <p:spPr>
          <a:xfrm>
            <a:off x="4911242" y="2533802"/>
            <a:ext cx="373075" cy="373075"/>
          </a:xfrm>
          <a:prstGeom prst="rect">
            <a:avLst/>
          </a:prstGeom>
        </p:spPr>
      </p:pic>
      <p:sp>
        <p:nvSpPr>
          <p:cNvPr id="12" name="Text 8"/>
          <p:cNvSpPr txBox="1"/>
          <p:nvPr/>
        </p:nvSpPr>
        <p:spPr>
          <a:xfrm>
            <a:off x="4709160" y="3337560"/>
            <a:ext cx="2697480" cy="548640"/>
          </a:xfrm>
          <a:prstGeom prst="rect">
            <a:avLst/>
          </a:prstGeom>
          <a:noFill/>
          <a:ln/>
        </p:spPr>
        <p:txBody>
          <a:bodyPr wrap="square" lIns="0" tIns="0" rIns="0" bIns="0" rtlCol="0" anchor="ctr"/>
          <a:lstStyle/>
          <a:p>
            <a:pPr indent="0" marL="0">
              <a:buNone/>
            </a:pPr>
            <a:r>
              <a:rPr lang="en-US" sz="2400" b="1" dirty="0">
                <a:solidFill>
                  <a:srgbClr val="1B2536"/>
                </a:solidFill>
                <a:latin typeface="Cambria" pitchFamily="34" charset="0"/>
                <a:ea typeface="Cambria" pitchFamily="34" charset="-122"/>
                <a:cs typeface="Cambria" pitchFamily="34" charset="-120"/>
              </a:rPr>
              <a:t>Integrate</a:t>
            </a:r>
            <a:endParaRPr lang="en-US" sz="2400" dirty="0"/>
          </a:p>
        </p:txBody>
      </p:sp>
      <p:sp>
        <p:nvSpPr>
          <p:cNvPr id="13" name="Text 9"/>
          <p:cNvSpPr txBox="1"/>
          <p:nvPr/>
        </p:nvSpPr>
        <p:spPr>
          <a:xfrm>
            <a:off x="4709160" y="3977640"/>
            <a:ext cx="2697480" cy="1554480"/>
          </a:xfrm>
          <a:prstGeom prst="rect">
            <a:avLst/>
          </a:prstGeom>
          <a:noFill/>
          <a:ln/>
        </p:spPr>
        <p:txBody>
          <a:bodyPr wrap="square" lIns="0" tIns="0" rIns="0" bIns="0" rtlCol="0" anchor="t"/>
          <a:lstStyle/>
          <a:p>
            <a:pPr indent="0" marL="0">
              <a:buNone/>
            </a:pPr>
            <a:r>
              <a:rPr lang="en-US" sz="1600" dirty="0">
                <a:solidFill>
                  <a:srgbClr val="3C4A60"/>
                </a:solidFill>
                <a:latin typeface="Calibri" pitchFamily="34" charset="0"/>
                <a:ea typeface="Calibri" pitchFamily="34" charset="-122"/>
                <a:cs typeface="Calibri" pitchFamily="34" charset="-120"/>
              </a:rPr>
              <a:t>Drop payment steps and outbound webhooks into the flow to hand off to other systems mid-journey.</a:t>
            </a:r>
            <a:endParaRPr lang="en-US" sz="1600" dirty="0"/>
          </a:p>
        </p:txBody>
      </p:sp>
      <p:sp>
        <p:nvSpPr>
          <p:cNvPr id="14" name="Shape 10"/>
          <p:cNvSpPr/>
          <p:nvPr/>
        </p:nvSpPr>
        <p:spPr>
          <a:xfrm>
            <a:off x="8138160" y="1920240"/>
            <a:ext cx="3429000" cy="3931920"/>
          </a:xfrm>
          <a:prstGeom prst="roundRect">
            <a:avLst>
              <a:gd name="adj" fmla="val 2133"/>
            </a:avLst>
          </a:prstGeom>
          <a:solidFill>
            <a:srgbClr val="F4F4F4"/>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8503920" y="2331720"/>
            <a:ext cx="777240" cy="777240"/>
          </a:xfrm>
          <a:prstGeom prst="ellipse">
            <a:avLst/>
          </a:prstGeom>
          <a:solidFill>
            <a:srgbClr val="E3710A"/>
          </a:solidFill>
          <a:ln w="12700">
            <a:solidFill>
              <a:srgbClr val="E3710A"/>
            </a:solidFill>
            <a:prstDash val="solid"/>
          </a:ln>
        </p:spPr>
      </p:sp>
      <p:pic>
        <p:nvPicPr>
          <p:cNvPr id="16" name="Image 2" descr="preencoded.png">    </p:cNvPr>
          <p:cNvPicPr>
            <a:picLocks noChangeAspect="1"/>
          </p:cNvPicPr>
          <p:nvPr/>
        </p:nvPicPr>
        <p:blipFill>
          <a:blip r:embed="rId3"/>
          <a:stretch>
            <a:fillRect/>
          </a:stretch>
        </p:blipFill>
        <p:spPr>
          <a:xfrm>
            <a:off x="8706002" y="2533802"/>
            <a:ext cx="373075" cy="373075"/>
          </a:xfrm>
          <a:prstGeom prst="rect">
            <a:avLst/>
          </a:prstGeom>
        </p:spPr>
      </p:pic>
      <p:sp>
        <p:nvSpPr>
          <p:cNvPr id="17" name="Text 12"/>
          <p:cNvSpPr txBox="1"/>
          <p:nvPr/>
        </p:nvSpPr>
        <p:spPr>
          <a:xfrm>
            <a:off x="8503920" y="3337560"/>
            <a:ext cx="2697480" cy="548640"/>
          </a:xfrm>
          <a:prstGeom prst="rect">
            <a:avLst/>
          </a:prstGeom>
          <a:noFill/>
          <a:ln/>
        </p:spPr>
        <p:txBody>
          <a:bodyPr wrap="square" lIns="0" tIns="0" rIns="0" bIns="0" rtlCol="0" anchor="ctr"/>
          <a:lstStyle/>
          <a:p>
            <a:pPr indent="0" marL="0">
              <a:buNone/>
            </a:pPr>
            <a:r>
              <a:rPr lang="en-US" sz="2400" b="1" dirty="0">
                <a:solidFill>
                  <a:srgbClr val="1B2536"/>
                </a:solidFill>
                <a:latin typeface="Cambria" pitchFamily="34" charset="0"/>
                <a:ea typeface="Cambria" pitchFamily="34" charset="-122"/>
                <a:cs typeface="Cambria" pitchFamily="34" charset="-120"/>
              </a:rPr>
              <a:t>Extract</a:t>
            </a:r>
            <a:endParaRPr lang="en-US" sz="2400" dirty="0"/>
          </a:p>
        </p:txBody>
      </p:sp>
      <p:sp>
        <p:nvSpPr>
          <p:cNvPr id="18" name="Text 13"/>
          <p:cNvSpPr txBox="1"/>
          <p:nvPr/>
        </p:nvSpPr>
        <p:spPr>
          <a:xfrm>
            <a:off x="8503920" y="3977640"/>
            <a:ext cx="2697480" cy="1554480"/>
          </a:xfrm>
          <a:prstGeom prst="rect">
            <a:avLst/>
          </a:prstGeom>
          <a:noFill/>
          <a:ln/>
        </p:spPr>
        <p:txBody>
          <a:bodyPr wrap="square" lIns="0" tIns="0" rIns="0" bIns="0" rtlCol="0" anchor="t"/>
          <a:lstStyle/>
          <a:p>
            <a:pPr indent="0" marL="0">
              <a:buNone/>
            </a:pPr>
            <a:r>
              <a:rPr lang="en-US" sz="1600" dirty="0">
                <a:solidFill>
                  <a:srgbClr val="3C4A60"/>
                </a:solidFill>
                <a:latin typeface="Calibri" pitchFamily="34" charset="0"/>
                <a:ea typeface="Calibri" pitchFamily="34" charset="-122"/>
                <a:cs typeface="Calibri" pitchFamily="34" charset="-120"/>
              </a:rPr>
              <a:t>Completed transactions are available through a keyed API, pushed to subscribers in real time, and queryable by an LLM.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4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How it works</a:t>
            </a:r>
            <a:endParaRPr lang="en-US" sz="3600" dirty="0"/>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A transaction definition drives everything downstream</a:t>
            </a:r>
            <a:endParaRPr lang="en-US" sz="1600" dirty="0"/>
          </a:p>
        </p:txBody>
      </p:sp>
      <p:sp>
        <p:nvSpPr>
          <p:cNvPr id="4" name="Shape 2"/>
          <p:cNvSpPr/>
          <p:nvPr/>
        </p:nvSpPr>
        <p:spPr>
          <a:xfrm>
            <a:off x="548640" y="2103120"/>
            <a:ext cx="2468880" cy="2834640"/>
          </a:xfrm>
          <a:prstGeom prst="roundRect">
            <a:avLst>
              <a:gd name="adj" fmla="val 2963"/>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1417320" y="2423160"/>
            <a:ext cx="731520" cy="731520"/>
          </a:xfrm>
          <a:prstGeom prst="ellipse">
            <a:avLst/>
          </a:prstGeom>
          <a:solidFill>
            <a:srgbClr val="E3710A"/>
          </a:solidFill>
          <a:ln w="12700">
            <a:solidFill>
              <a:srgbClr val="E3710A"/>
            </a:solidFill>
            <a:prstDash val="solid"/>
          </a:ln>
        </p:spPr>
      </p:sp>
      <p:pic>
        <p:nvPicPr>
          <p:cNvPr id="6" name="Image 0" descr="preencoded.png">    </p:cNvPr>
          <p:cNvPicPr>
            <a:picLocks noChangeAspect="1"/>
          </p:cNvPicPr>
          <p:nvPr/>
        </p:nvPicPr>
        <p:blipFill>
          <a:blip r:embed="rId1"/>
          <a:stretch>
            <a:fillRect/>
          </a:stretch>
        </p:blipFill>
        <p:spPr>
          <a:xfrm>
            <a:off x="1607515" y="2613355"/>
            <a:ext cx="351130" cy="351130"/>
          </a:xfrm>
          <a:prstGeom prst="rect">
            <a:avLst/>
          </a:prstGeom>
        </p:spPr>
      </p:pic>
      <p:sp>
        <p:nvSpPr>
          <p:cNvPr id="7" name="Text 4"/>
          <p:cNvSpPr txBox="1"/>
          <p:nvPr/>
        </p:nvSpPr>
        <p:spPr>
          <a:xfrm>
            <a:off x="731520" y="3291840"/>
            <a:ext cx="2103120" cy="457200"/>
          </a:xfrm>
          <a:prstGeom prst="rect">
            <a:avLst/>
          </a:prstGeom>
          <a:noFill/>
          <a:ln/>
        </p:spPr>
        <p:txBody>
          <a:bodyPr wrap="square" lIns="0" tIns="0" rIns="0" bIns="0" rtlCol="0" anchor="ctr"/>
          <a:lstStyle/>
          <a:p>
            <a:pPr algn="ctr" indent="0" marL="0">
              <a:buNone/>
            </a:pPr>
            <a:r>
              <a:rPr lang="en-US" sz="1700" b="1" dirty="0">
                <a:solidFill>
                  <a:srgbClr val="1B2536"/>
                </a:solidFill>
                <a:latin typeface="Cambria" pitchFamily="34" charset="0"/>
                <a:ea typeface="Cambria" pitchFamily="34" charset="-122"/>
                <a:cs typeface="Cambria" pitchFamily="34" charset="-120"/>
              </a:rPr>
              <a:t>Transaction definition</a:t>
            </a:r>
            <a:endParaRPr lang="en-US" sz="1700" dirty="0"/>
          </a:p>
        </p:txBody>
      </p:sp>
      <p:sp>
        <p:nvSpPr>
          <p:cNvPr id="8" name="Text 5"/>
          <p:cNvSpPr txBox="1"/>
          <p:nvPr/>
        </p:nvSpPr>
        <p:spPr>
          <a:xfrm>
            <a:off x="777240" y="3794760"/>
            <a:ext cx="2011680" cy="1005840"/>
          </a:xfrm>
          <a:prstGeom prst="rect">
            <a:avLst/>
          </a:prstGeom>
          <a:noFill/>
          <a:ln/>
        </p:spPr>
        <p:txBody>
          <a:bodyPr wrap="square" lIns="0" tIns="0" rIns="0" bIns="0" rtlCol="0" anchor="t"/>
          <a:lstStyle/>
          <a:p>
            <a:pPr algn="ctr" indent="0" marL="0">
              <a:buNone/>
            </a:pPr>
            <a:r>
              <a:rPr lang="en-US" sz="1300" dirty="0">
                <a:solidFill>
                  <a:srgbClr val="3C4A60"/>
                </a:solidFill>
                <a:latin typeface="Calibri" pitchFamily="34" charset="0"/>
                <a:ea typeface="Calibri" pitchFamily="34" charset="-122"/>
                <a:cs typeface="Calibri" pitchFamily="34" charset="-120"/>
              </a:rPr>
              <a:t>Schema stored in MongoDB: steps, fields, rules, payment config, webhook URL</a:t>
            </a:r>
            <a:endParaRPr lang="en-US" sz="1300" dirty="0"/>
          </a:p>
        </p:txBody>
      </p:sp>
      <p:sp>
        <p:nvSpPr>
          <p:cNvPr id="9" name="Shape 6"/>
          <p:cNvSpPr/>
          <p:nvPr/>
        </p:nvSpPr>
        <p:spPr>
          <a:xfrm>
            <a:off x="3090672" y="3337560"/>
            <a:ext cx="274320" cy="365760"/>
          </a:xfrm>
          <a:prstGeom prst="rightArrow">
            <a:avLst/>
          </a:prstGeom>
          <a:solidFill>
            <a:srgbClr val="E3710A"/>
          </a:solidFill>
          <a:ln w="12700">
            <a:solidFill>
              <a:srgbClr val="E3710A"/>
            </a:solidFill>
            <a:prstDash val="solid"/>
          </a:ln>
        </p:spPr>
      </p:sp>
      <p:sp>
        <p:nvSpPr>
          <p:cNvPr id="10" name="Shape 7"/>
          <p:cNvSpPr/>
          <p:nvPr/>
        </p:nvSpPr>
        <p:spPr>
          <a:xfrm>
            <a:off x="3429000" y="2103120"/>
            <a:ext cx="2468880" cy="2834640"/>
          </a:xfrm>
          <a:prstGeom prst="roundRect">
            <a:avLst>
              <a:gd name="adj" fmla="val 2963"/>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11" name="Shape 8"/>
          <p:cNvSpPr/>
          <p:nvPr/>
        </p:nvSpPr>
        <p:spPr>
          <a:xfrm>
            <a:off x="4297680" y="2423160"/>
            <a:ext cx="731520" cy="731520"/>
          </a:xfrm>
          <a:prstGeom prst="ellipse">
            <a:avLst/>
          </a:prstGeom>
          <a:solidFill>
            <a:srgbClr val="E3710A"/>
          </a:solidFill>
          <a:ln w="12700">
            <a:solidFill>
              <a:srgbClr val="E3710A"/>
            </a:solidFill>
            <a:prstDash val="solid"/>
          </a:ln>
        </p:spPr>
      </p:sp>
      <p:pic>
        <p:nvPicPr>
          <p:cNvPr id="12" name="Image 1" descr="preencoded.png">    </p:cNvPr>
          <p:cNvPicPr>
            <a:picLocks noChangeAspect="1"/>
          </p:cNvPicPr>
          <p:nvPr/>
        </p:nvPicPr>
        <p:blipFill>
          <a:blip r:embed="rId2"/>
          <a:stretch>
            <a:fillRect/>
          </a:stretch>
        </p:blipFill>
        <p:spPr>
          <a:xfrm>
            <a:off x="4487875" y="2613355"/>
            <a:ext cx="351130" cy="351130"/>
          </a:xfrm>
          <a:prstGeom prst="rect">
            <a:avLst/>
          </a:prstGeom>
        </p:spPr>
      </p:pic>
      <p:sp>
        <p:nvSpPr>
          <p:cNvPr id="13" name="Text 9"/>
          <p:cNvSpPr txBox="1"/>
          <p:nvPr/>
        </p:nvSpPr>
        <p:spPr>
          <a:xfrm>
            <a:off x="3611880" y="3291840"/>
            <a:ext cx="2103120" cy="457200"/>
          </a:xfrm>
          <a:prstGeom prst="rect">
            <a:avLst/>
          </a:prstGeom>
          <a:noFill/>
          <a:ln/>
        </p:spPr>
        <p:txBody>
          <a:bodyPr wrap="square" lIns="0" tIns="0" rIns="0" bIns="0" rtlCol="0" anchor="ctr"/>
          <a:lstStyle/>
          <a:p>
            <a:pPr algn="ctr" indent="0" marL="0">
              <a:buNone/>
            </a:pPr>
            <a:r>
              <a:rPr lang="en-US" sz="1700" b="1" dirty="0">
                <a:solidFill>
                  <a:srgbClr val="1B2536"/>
                </a:solidFill>
                <a:latin typeface="Cambria" pitchFamily="34" charset="0"/>
                <a:ea typeface="Cambria" pitchFamily="34" charset="-122"/>
                <a:cs typeface="Cambria" pitchFamily="34" charset="-120"/>
              </a:rPr>
              <a:t>Form engine</a:t>
            </a:r>
            <a:endParaRPr lang="en-US" sz="1700" dirty="0"/>
          </a:p>
        </p:txBody>
      </p:sp>
      <p:sp>
        <p:nvSpPr>
          <p:cNvPr id="14" name="Text 10"/>
          <p:cNvSpPr txBox="1"/>
          <p:nvPr/>
        </p:nvSpPr>
        <p:spPr>
          <a:xfrm>
            <a:off x="3657600" y="3794760"/>
            <a:ext cx="2011680" cy="1005840"/>
          </a:xfrm>
          <a:prstGeom prst="rect">
            <a:avLst/>
          </a:prstGeom>
          <a:noFill/>
          <a:ln/>
        </p:spPr>
        <p:txBody>
          <a:bodyPr wrap="square" lIns="0" tIns="0" rIns="0" bIns="0" rtlCol="0" anchor="t"/>
          <a:lstStyle/>
          <a:p>
            <a:pPr algn="ctr" indent="0" marL="0">
              <a:buNone/>
            </a:pPr>
            <a:r>
              <a:rPr lang="en-US" sz="1300" dirty="0">
                <a:solidFill>
                  <a:srgbClr val="3C4A60"/>
                </a:solidFill>
                <a:latin typeface="Calibri" pitchFamily="34" charset="0"/>
                <a:ea typeface="Calibri" pitchFamily="34" charset="-122"/>
                <a:cs typeface="Calibri" pitchFamily="34" charset="-120"/>
              </a:rPr>
              <a:t>Renders the schema as a branded, multi-step wizard at runtime</a:t>
            </a:r>
            <a:endParaRPr lang="en-US" sz="1300" dirty="0"/>
          </a:p>
        </p:txBody>
      </p:sp>
      <p:sp>
        <p:nvSpPr>
          <p:cNvPr id="15" name="Shape 11"/>
          <p:cNvSpPr/>
          <p:nvPr/>
        </p:nvSpPr>
        <p:spPr>
          <a:xfrm>
            <a:off x="5971032" y="3337560"/>
            <a:ext cx="274320" cy="365760"/>
          </a:xfrm>
          <a:prstGeom prst="rightArrow">
            <a:avLst/>
          </a:prstGeom>
          <a:solidFill>
            <a:srgbClr val="E3710A"/>
          </a:solidFill>
          <a:ln w="12700">
            <a:solidFill>
              <a:srgbClr val="E3710A"/>
            </a:solidFill>
            <a:prstDash val="solid"/>
          </a:ln>
        </p:spPr>
      </p:sp>
      <p:sp>
        <p:nvSpPr>
          <p:cNvPr id="16" name="Shape 12"/>
          <p:cNvSpPr/>
          <p:nvPr/>
        </p:nvSpPr>
        <p:spPr>
          <a:xfrm>
            <a:off x="6309360" y="2103120"/>
            <a:ext cx="2468880" cy="2834640"/>
          </a:xfrm>
          <a:prstGeom prst="roundRect">
            <a:avLst>
              <a:gd name="adj" fmla="val 2963"/>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17" name="Shape 13"/>
          <p:cNvSpPr/>
          <p:nvPr/>
        </p:nvSpPr>
        <p:spPr>
          <a:xfrm>
            <a:off x="7178040" y="2423160"/>
            <a:ext cx="731520" cy="731520"/>
          </a:xfrm>
          <a:prstGeom prst="ellipse">
            <a:avLst/>
          </a:prstGeom>
          <a:solidFill>
            <a:srgbClr val="E3710A"/>
          </a:solidFill>
          <a:ln w="12700">
            <a:solidFill>
              <a:srgbClr val="E3710A"/>
            </a:solidFill>
            <a:prstDash val="solid"/>
          </a:ln>
        </p:spPr>
      </p:sp>
      <p:pic>
        <p:nvPicPr>
          <p:cNvPr id="18" name="Image 2" descr="preencoded.png">    </p:cNvPr>
          <p:cNvPicPr>
            <a:picLocks noChangeAspect="1"/>
          </p:cNvPicPr>
          <p:nvPr/>
        </p:nvPicPr>
        <p:blipFill>
          <a:blip r:embed="rId3"/>
          <a:stretch>
            <a:fillRect/>
          </a:stretch>
        </p:blipFill>
        <p:spPr>
          <a:xfrm>
            <a:off x="7368235" y="2613355"/>
            <a:ext cx="351130" cy="351130"/>
          </a:xfrm>
          <a:prstGeom prst="rect">
            <a:avLst/>
          </a:prstGeom>
        </p:spPr>
      </p:pic>
      <p:sp>
        <p:nvSpPr>
          <p:cNvPr id="19" name="Text 14"/>
          <p:cNvSpPr txBox="1"/>
          <p:nvPr/>
        </p:nvSpPr>
        <p:spPr>
          <a:xfrm>
            <a:off x="6492240" y="3291840"/>
            <a:ext cx="2103120" cy="457200"/>
          </a:xfrm>
          <a:prstGeom prst="rect">
            <a:avLst/>
          </a:prstGeom>
          <a:noFill/>
          <a:ln/>
        </p:spPr>
        <p:txBody>
          <a:bodyPr wrap="square" lIns="0" tIns="0" rIns="0" bIns="0" rtlCol="0" anchor="ctr"/>
          <a:lstStyle/>
          <a:p>
            <a:pPr algn="ctr" indent="0" marL="0">
              <a:buNone/>
            </a:pPr>
            <a:r>
              <a:rPr lang="en-US" sz="1700" b="1" dirty="0">
                <a:solidFill>
                  <a:srgbClr val="1B2536"/>
                </a:solidFill>
                <a:latin typeface="Cambria" pitchFamily="34" charset="0"/>
                <a:ea typeface="Cambria" pitchFamily="34" charset="-122"/>
                <a:cs typeface="Cambria" pitchFamily="34" charset="-120"/>
              </a:rPr>
              <a:t>Transaction</a:t>
            </a:r>
            <a:endParaRPr lang="en-US" sz="1700" dirty="0"/>
          </a:p>
        </p:txBody>
      </p:sp>
      <p:sp>
        <p:nvSpPr>
          <p:cNvPr id="20" name="Text 15"/>
          <p:cNvSpPr txBox="1"/>
          <p:nvPr/>
        </p:nvSpPr>
        <p:spPr>
          <a:xfrm>
            <a:off x="6537960" y="3794760"/>
            <a:ext cx="2011680" cy="1005840"/>
          </a:xfrm>
          <a:prstGeom prst="rect">
            <a:avLst/>
          </a:prstGeom>
          <a:noFill/>
          <a:ln/>
        </p:spPr>
        <p:txBody>
          <a:bodyPr wrap="square" lIns="0" tIns="0" rIns="0" bIns="0" rtlCol="0" anchor="t"/>
          <a:lstStyle/>
          <a:p>
            <a:pPr algn="ctr" indent="0" marL="0">
              <a:buNone/>
            </a:pPr>
            <a:r>
              <a:rPr lang="en-US" sz="1300" dirty="0">
                <a:solidFill>
                  <a:srgbClr val="3C4A60"/>
                </a:solidFill>
                <a:latin typeface="Calibri" pitchFamily="34" charset="0"/>
                <a:ea typeface="Calibri" pitchFamily="34" charset="-122"/>
                <a:cs typeface="Calibri" pitchFamily="34" charset="-120"/>
              </a:rPr>
              <a:t>Submitted data saved with status: free → pending → complete</a:t>
            </a:r>
            <a:endParaRPr lang="en-US" sz="1300" dirty="0"/>
          </a:p>
        </p:txBody>
      </p:sp>
      <p:sp>
        <p:nvSpPr>
          <p:cNvPr id="21" name="Shape 16"/>
          <p:cNvSpPr/>
          <p:nvPr/>
        </p:nvSpPr>
        <p:spPr>
          <a:xfrm>
            <a:off x="8851392" y="3337560"/>
            <a:ext cx="274320" cy="365760"/>
          </a:xfrm>
          <a:prstGeom prst="rightArrow">
            <a:avLst/>
          </a:prstGeom>
          <a:solidFill>
            <a:srgbClr val="E3710A"/>
          </a:solidFill>
          <a:ln w="12700">
            <a:solidFill>
              <a:srgbClr val="E3710A"/>
            </a:solidFill>
            <a:prstDash val="solid"/>
          </a:ln>
        </p:spPr>
      </p:sp>
      <p:sp>
        <p:nvSpPr>
          <p:cNvPr id="22" name="Shape 17"/>
          <p:cNvSpPr/>
          <p:nvPr/>
        </p:nvSpPr>
        <p:spPr>
          <a:xfrm>
            <a:off x="9189720" y="2103120"/>
            <a:ext cx="2468880" cy="2834640"/>
          </a:xfrm>
          <a:prstGeom prst="roundRect">
            <a:avLst>
              <a:gd name="adj" fmla="val 2963"/>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23" name="Shape 18"/>
          <p:cNvSpPr/>
          <p:nvPr/>
        </p:nvSpPr>
        <p:spPr>
          <a:xfrm>
            <a:off x="10058400" y="2423160"/>
            <a:ext cx="731520" cy="731520"/>
          </a:xfrm>
          <a:prstGeom prst="ellipse">
            <a:avLst/>
          </a:prstGeom>
          <a:solidFill>
            <a:srgbClr val="E3710A"/>
          </a:solidFill>
          <a:ln w="12700">
            <a:solidFill>
              <a:srgbClr val="E3710A"/>
            </a:solidFill>
            <a:prstDash val="solid"/>
          </a:ln>
        </p:spPr>
      </p:sp>
      <p:pic>
        <p:nvPicPr>
          <p:cNvPr id="24" name="Image 3" descr="preencoded.png">    </p:cNvPr>
          <p:cNvPicPr>
            <a:picLocks noChangeAspect="1"/>
          </p:cNvPicPr>
          <p:nvPr/>
        </p:nvPicPr>
        <p:blipFill>
          <a:blip r:embed="rId4"/>
          <a:stretch>
            <a:fillRect/>
          </a:stretch>
        </p:blipFill>
        <p:spPr>
          <a:xfrm>
            <a:off x="10248595" y="2613355"/>
            <a:ext cx="351130" cy="351130"/>
          </a:xfrm>
          <a:prstGeom prst="rect">
            <a:avLst/>
          </a:prstGeom>
        </p:spPr>
      </p:pic>
      <p:sp>
        <p:nvSpPr>
          <p:cNvPr id="25" name="Text 19"/>
          <p:cNvSpPr txBox="1"/>
          <p:nvPr/>
        </p:nvSpPr>
        <p:spPr>
          <a:xfrm>
            <a:off x="9372600" y="3291840"/>
            <a:ext cx="2103120" cy="457200"/>
          </a:xfrm>
          <a:prstGeom prst="rect">
            <a:avLst/>
          </a:prstGeom>
          <a:noFill/>
          <a:ln/>
        </p:spPr>
        <p:txBody>
          <a:bodyPr wrap="square" lIns="0" tIns="0" rIns="0" bIns="0" rtlCol="0" anchor="ctr"/>
          <a:lstStyle/>
          <a:p>
            <a:pPr algn="ctr" indent="0" marL="0">
              <a:buNone/>
            </a:pPr>
            <a:r>
              <a:rPr lang="en-US" sz="1700" b="1" dirty="0">
                <a:solidFill>
                  <a:srgbClr val="1B2536"/>
                </a:solidFill>
                <a:latin typeface="Cambria" pitchFamily="34" charset="0"/>
                <a:ea typeface="Cambria" pitchFamily="34" charset="-122"/>
                <a:cs typeface="Cambria" pitchFamily="34" charset="-120"/>
              </a:rPr>
              <a:t>Downstream</a:t>
            </a:r>
            <a:endParaRPr lang="en-US" sz="1700" dirty="0"/>
          </a:p>
        </p:txBody>
      </p:sp>
      <p:sp>
        <p:nvSpPr>
          <p:cNvPr id="26" name="Text 20"/>
          <p:cNvSpPr txBox="1"/>
          <p:nvPr/>
        </p:nvSpPr>
        <p:spPr>
          <a:xfrm>
            <a:off x="9418320" y="3794760"/>
            <a:ext cx="2011680" cy="1005840"/>
          </a:xfrm>
          <a:prstGeom prst="rect">
            <a:avLst/>
          </a:prstGeom>
          <a:noFill/>
          <a:ln/>
        </p:spPr>
        <p:txBody>
          <a:bodyPr wrap="square" lIns="0" tIns="0" rIns="0" bIns="0" rtlCol="0" anchor="t"/>
          <a:lstStyle/>
          <a:p>
            <a:pPr algn="ctr" indent="0" marL="0">
              <a:buNone/>
            </a:pPr>
            <a:r>
              <a:rPr lang="en-US" sz="1300" dirty="0">
                <a:solidFill>
                  <a:srgbClr val="3C4A60"/>
                </a:solidFill>
                <a:latin typeface="Calibri" pitchFamily="34" charset="0"/>
                <a:ea typeface="Calibri" pitchFamily="34" charset="-122"/>
                <a:cs typeface="Calibri" pitchFamily="34" charset="-120"/>
              </a:rPr>
              <a:t>Stripe payment, outbound webhooks, pull API for 3rd parties</a:t>
            </a:r>
            <a:endParaRPr lang="en-US" sz="1300" dirty="0"/>
          </a:p>
        </p:txBody>
      </p:sp>
      <p:sp>
        <p:nvSpPr>
          <p:cNvPr id="27" name="Text 21"/>
          <p:cNvSpPr txBox="1"/>
          <p:nvPr/>
        </p:nvSpPr>
        <p:spPr>
          <a:xfrm>
            <a:off x="548640" y="5394960"/>
            <a:ext cx="11094415" cy="457200"/>
          </a:xfrm>
          <a:prstGeom prst="rect">
            <a:avLst/>
          </a:prstGeom>
          <a:noFill/>
          <a:ln/>
        </p:spPr>
        <p:txBody>
          <a:bodyPr wrap="square" lIns="0" tIns="0" rIns="0" bIns="0" rtlCol="0" anchor="ctr"/>
          <a:lstStyle/>
          <a:p>
            <a:pPr indent="0" marL="0">
              <a:buNone/>
            </a:pPr>
            <a:r>
              <a:rPr lang="en-US" sz="1600" b="1" dirty="0">
                <a:solidFill>
                  <a:srgbClr val="1B2536"/>
                </a:solidFill>
                <a:latin typeface="Calibri" pitchFamily="34" charset="0"/>
                <a:ea typeface="Calibri" pitchFamily="34" charset="-122"/>
                <a:cs typeface="Calibri" pitchFamily="34" charset="-120"/>
              </a:rPr>
              <a:t>Change the definition → every new transaction follows the new rules. </a:t>
            </a:r>
            <a:pPr indent="0" marL="0">
              <a:buNone/>
            </a:pPr>
            <a:r>
              <a:rPr lang="en-US" sz="1600" dirty="0">
                <a:solidFill>
                  <a:srgbClr val="3C4A60"/>
                </a:solidFill>
                <a:latin typeface="Calibri" pitchFamily="34" charset="0"/>
                <a:ea typeface="Calibri" pitchFamily="34" charset="-122"/>
                <a:cs typeface="Calibri" pitchFamily="34" charset="-120"/>
              </a:rPr>
              <a:t>No rebuild, no redeploy.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Configuring the steps</a:t>
            </a:r>
            <a:endParaRPr lang="en-US" sz="3600" dirty="0"/>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Steps are declared in the schema — the wizard, navigation and progress come for free</a:t>
            </a:r>
            <a:endParaRPr lang="en-US" sz="1600" dirty="0"/>
          </a:p>
        </p:txBody>
      </p:sp>
      <p:sp>
        <p:nvSpPr>
          <p:cNvPr id="4" name="Shape 2"/>
          <p:cNvSpPr/>
          <p:nvPr/>
        </p:nvSpPr>
        <p:spPr>
          <a:xfrm>
            <a:off x="548640" y="1737360"/>
            <a:ext cx="5760720" cy="4526280"/>
          </a:xfrm>
          <a:prstGeom prst="roundRect">
            <a:avLst>
              <a:gd name="adj" fmla="val 1616"/>
            </a:avLst>
          </a:prstGeom>
          <a:solidFill>
            <a:srgbClr val="0F1623"/>
          </a:solidFill>
          <a:ln w="12700">
            <a:solidFill>
              <a:srgbClr val="0F1623"/>
            </a:solidFill>
            <a:prstDash val="solid"/>
          </a:ln>
        </p:spPr>
      </p:sp>
      <p:sp>
        <p:nvSpPr>
          <p:cNvPr id="5" name="Text 3"/>
          <p:cNvSpPr txBox="1"/>
          <p:nvPr/>
        </p:nvSpPr>
        <p:spPr>
          <a:xfrm>
            <a:off x="777240" y="1874520"/>
            <a:ext cx="5303520" cy="274320"/>
          </a:xfrm>
          <a:prstGeom prst="rect">
            <a:avLst/>
          </a:prstGeom>
          <a:noFill/>
          <a:ln/>
        </p:spPr>
        <p:txBody>
          <a:bodyPr wrap="square" lIns="0" tIns="0" rIns="0" bIns="0" rtlCol="0" anchor="ctr"/>
          <a:lstStyle/>
          <a:p>
            <a:pPr indent="0" marL="0">
              <a:buNone/>
            </a:pPr>
            <a:r>
              <a:rPr lang="en-US" sz="1100" dirty="0">
                <a:solidFill>
                  <a:srgbClr val="7A8699"/>
                </a:solidFill>
                <a:latin typeface="Calibri" pitchFamily="34" charset="0"/>
                <a:ea typeface="Calibri" pitchFamily="34" charset="-122"/>
                <a:cs typeface="Calibri" pitchFamily="34" charset="-120"/>
              </a:rPr>
              <a:t>txndef.schema</a:t>
            </a:r>
            <a:endParaRPr lang="en-US" sz="1100" dirty="0"/>
          </a:p>
        </p:txBody>
      </p:sp>
      <p:sp>
        <p:nvSpPr>
          <p:cNvPr id="6" name="Text 4"/>
          <p:cNvSpPr txBox="1"/>
          <p:nvPr/>
        </p:nvSpPr>
        <p:spPr>
          <a:xfrm>
            <a:off x="777240" y="2194560"/>
            <a:ext cx="5303520" cy="3931920"/>
          </a:xfrm>
          <a:prstGeom prst="rect">
            <a:avLst/>
          </a:prstGeom>
          <a:noFill/>
          <a:ln/>
        </p:spPr>
        <p:txBody>
          <a:bodyPr wrap="square" lIns="0" tIns="0" rIns="0" bIns="0" rtlCol="0" anchor="t"/>
          <a:lstStyle/>
          <a:p>
            <a:pPr indent="0" marL="0">
              <a:buNone/>
            </a:pPr>
            <a:r>
              <a:rPr lang="en-US" sz="1300" dirty="0">
                <a:solidFill>
                  <a:srgbClr val="6A7A92"/>
                </a:solidFill>
                <a:latin typeface="Courier New" pitchFamily="34" charset="0"/>
                <a:ea typeface="Courier New" pitchFamily="34" charset="-122"/>
                <a:cs typeface="Courier New" pitchFamily="34" charset="-120"/>
              </a:rPr>
              <a:t>// Disability Worker Registration (DWRS)</a:t>
            </a:r>
            <a:endParaRPr lang="en-US" sz="1300" dirty="0"/>
          </a:p>
          <a:p>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F4A259"/>
                </a:solidFill>
                <a:latin typeface="Courier New" pitchFamily="34" charset="0"/>
                <a:ea typeface="Courier New" pitchFamily="34" charset="-122"/>
                <a:cs typeface="Courier New" pitchFamily="34" charset="-120"/>
              </a:rPr>
              <a:t>"component"</a:t>
            </a:r>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9CDCFE"/>
                </a:solidFill>
                <a:latin typeface="Courier New" pitchFamily="34" charset="0"/>
                <a:ea typeface="Courier New" pitchFamily="34" charset="-122"/>
                <a:cs typeface="Courier New" pitchFamily="34" charset="-120"/>
              </a:rPr>
              <a:t>"wizard"</a:t>
            </a:r>
            <a:pPr indent="0" marL="0">
              <a:buNone/>
            </a:pPr>
            <a:r>
              <a:rPr lang="en-US" sz="1300" dirty="0">
                <a:solidFill>
                  <a:srgbClr val="D6DEEB"/>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F4A259"/>
                </a:solidFill>
                <a:latin typeface="Courier New" pitchFamily="34" charset="0"/>
                <a:ea typeface="Courier New" pitchFamily="34" charset="-122"/>
                <a:cs typeface="Courier New" pitchFamily="34" charset="-120"/>
              </a:rPr>
              <a:t>"fields"</a:t>
            </a:r>
            <a:pPr indent="0" marL="0">
              <a:buNone/>
            </a:pPr>
            <a:r>
              <a:rPr lang="en-US" sz="1300" dirty="0">
                <a:solidFill>
                  <a:srgbClr val="D6DEEB"/>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D6DEEB"/>
                </a:solidFill>
                <a:latin typeface="Courier New" pitchFamily="34" charset="0"/>
                <a:ea typeface="Courier New" pitchFamily="34" charset="-122"/>
                <a:cs typeface="Courier New" pitchFamily="34" charset="-120"/>
              </a:rPr>
              <a:t>    { </a:t>
            </a:r>
            <a:pPr indent="0" marL="0">
              <a:buNone/>
            </a:pPr>
            <a:r>
              <a:rPr lang="en-US" sz="1300" dirty="0">
                <a:solidFill>
                  <a:srgbClr val="F4A259"/>
                </a:solidFill>
                <a:latin typeface="Courier New" pitchFamily="34" charset="0"/>
                <a:ea typeface="Courier New" pitchFamily="34" charset="-122"/>
                <a:cs typeface="Courier New" pitchFamily="34" charset="-120"/>
              </a:rPr>
              <a:t>"name"</a:t>
            </a:r>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9CDCFE"/>
                </a:solidFill>
                <a:latin typeface="Courier New" pitchFamily="34" charset="0"/>
                <a:ea typeface="Courier New" pitchFamily="34" charset="-122"/>
                <a:cs typeface="Courier New" pitchFamily="34" charset="-120"/>
              </a:rPr>
              <a:t>"step-getting-started"</a:t>
            </a:r>
            <a:pPr indent="0" marL="0">
              <a:buNone/>
            </a:pPr>
            <a:r>
              <a:rPr lang="en-US" sz="1300" dirty="0">
                <a:solidFill>
                  <a:srgbClr val="D6DEEB"/>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F4A259"/>
                </a:solidFill>
                <a:latin typeface="Courier New" pitchFamily="34" charset="0"/>
                <a:ea typeface="Courier New" pitchFamily="34" charset="-122"/>
                <a:cs typeface="Courier New" pitchFamily="34" charset="-120"/>
              </a:rPr>
              <a:t>"title"</a:t>
            </a:r>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9CDCFE"/>
                </a:solidFill>
                <a:latin typeface="Courier New" pitchFamily="34" charset="0"/>
                <a:ea typeface="Courier New" pitchFamily="34" charset="-122"/>
                <a:cs typeface="Courier New" pitchFamily="34" charset="-120"/>
              </a:rPr>
              <a:t>"Get Started"</a:t>
            </a:r>
            <a:pPr indent="0" marL="0">
              <a:buNone/>
            </a:pPr>
            <a:r>
              <a:rPr lang="en-US" sz="1300" dirty="0">
                <a:solidFill>
                  <a:srgbClr val="D6DEEB"/>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F4A259"/>
                </a:solidFill>
                <a:latin typeface="Courier New" pitchFamily="34" charset="0"/>
                <a:ea typeface="Courier New" pitchFamily="34" charset="-122"/>
                <a:cs typeface="Courier New" pitchFamily="34" charset="-120"/>
              </a:rPr>
              <a:t>"nextStep"</a:t>
            </a:r>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9CDCFE"/>
                </a:solidFill>
                <a:latin typeface="Courier New" pitchFamily="34" charset="0"/>
                <a:ea typeface="Courier New" pitchFamily="34" charset="-122"/>
                <a:cs typeface="Courier New" pitchFamily="34" charset="-120"/>
              </a:rPr>
              <a:t>"step-registration-type"</a:t>
            </a:r>
            <a:pPr indent="0" marL="0">
              <a:buNone/>
            </a:pPr>
            <a:r>
              <a:rPr lang="en-US" sz="1300" dirty="0">
                <a:solidFill>
                  <a:srgbClr val="D6DEEB"/>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F4A259"/>
                </a:solidFill>
                <a:latin typeface="Courier New" pitchFamily="34" charset="0"/>
                <a:ea typeface="Courier New" pitchFamily="34" charset="-122"/>
                <a:cs typeface="Courier New" pitchFamily="34" charset="-120"/>
              </a:rPr>
              <a:t>"fields"</a:t>
            </a:r>
            <a:pPr indent="0" marL="0">
              <a:buNone/>
            </a:pPr>
            <a:r>
              <a:rPr lang="en-US" sz="1300" dirty="0">
                <a:solidFill>
                  <a:srgbClr val="D6DEEB"/>
                </a:solidFill>
                <a:latin typeface="Courier New" pitchFamily="34" charset="0"/>
                <a:ea typeface="Courier New" pitchFamily="34" charset="-122"/>
                <a:cs typeface="Courier New" pitchFamily="34" charset="-120"/>
              </a:rPr>
              <a:t>: [ </a:t>
            </a:r>
            <a:pPr indent="0" marL="0">
              <a:buNone/>
            </a:pPr>
            <a:r>
              <a:rPr lang="en-US" sz="1300" dirty="0">
                <a:solidFill>
                  <a:srgbClr val="6A7A92"/>
                </a:solidFill>
                <a:latin typeface="Courier New" pitchFamily="34" charset="0"/>
                <a:ea typeface="Courier New" pitchFamily="34" charset="-122"/>
                <a:cs typeface="Courier New" pitchFamily="34" charset="-120"/>
              </a:rPr>
              <a:t>/* tabs, text */</a:t>
            </a:r>
            <a:pPr indent="0" marL="0">
              <a:buNone/>
            </a:pPr>
            <a:r>
              <a:rPr lang="en-US" sz="1300" dirty="0">
                <a:solidFill>
                  <a:srgbClr val="D6DEEB"/>
                </a:solidFill>
                <a:latin typeface="Courier New" pitchFamily="34" charset="0"/>
                <a:ea typeface="Courier New" pitchFamily="34" charset="-122"/>
                <a:cs typeface="Courier New" pitchFamily="34" charset="-120"/>
              </a:rPr>
              <a:t> ] },</a:t>
            </a:r>
            <a:endParaRPr lang="en-US" sz="1300" dirty="0"/>
          </a:p>
          <a:p>
            <a:pPr indent="0" marL="0">
              <a:buNone/>
            </a:pPr>
            <a:r>
              <a:rPr lang="en-US" sz="1300" dirty="0">
                <a:solidFill>
                  <a:srgbClr val="D6DEEB"/>
                </a:solidFill>
                <a:latin typeface="Courier New" pitchFamily="34" charset="0"/>
                <a:ea typeface="Courier New" pitchFamily="34" charset="-122"/>
                <a:cs typeface="Courier New" pitchFamily="34" charset="-120"/>
              </a:rPr>
              <a:t>    { </a:t>
            </a:r>
            <a:pPr indent="0" marL="0">
              <a:buNone/>
            </a:pPr>
            <a:r>
              <a:rPr lang="en-US" sz="1300" dirty="0">
                <a:solidFill>
                  <a:srgbClr val="F4A259"/>
                </a:solidFill>
                <a:latin typeface="Courier New" pitchFamily="34" charset="0"/>
                <a:ea typeface="Courier New" pitchFamily="34" charset="-122"/>
                <a:cs typeface="Courier New" pitchFamily="34" charset="-120"/>
              </a:rPr>
              <a:t>"name"</a:t>
            </a:r>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9CDCFE"/>
                </a:solidFill>
                <a:latin typeface="Courier New" pitchFamily="34" charset="0"/>
                <a:ea typeface="Courier New" pitchFamily="34" charset="-122"/>
                <a:cs typeface="Courier New" pitchFamily="34" charset="-120"/>
              </a:rPr>
              <a:t>"step-registration-type"</a:t>
            </a:r>
            <a:pPr indent="0" marL="0">
              <a:buNone/>
            </a:pPr>
            <a:r>
              <a:rPr lang="en-US" sz="1300" dirty="0">
                <a:solidFill>
                  <a:srgbClr val="D6DEEB"/>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F4A259"/>
                </a:solidFill>
                <a:latin typeface="Courier New" pitchFamily="34" charset="0"/>
                <a:ea typeface="Courier New" pitchFamily="34" charset="-122"/>
                <a:cs typeface="Courier New" pitchFamily="34" charset="-120"/>
              </a:rPr>
              <a:t>"nextStep"</a:t>
            </a:r>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9CDCFE"/>
                </a:solidFill>
                <a:latin typeface="Courier New" pitchFamily="34" charset="0"/>
                <a:ea typeface="Courier New" pitchFamily="34" charset="-122"/>
                <a:cs typeface="Courier New" pitchFamily="34" charset="-120"/>
              </a:rPr>
              <a:t>"step-your-details"</a:t>
            </a:r>
            <a:pPr indent="0" marL="0">
              <a:buNone/>
            </a:pPr>
            <a:r>
              <a:rPr lang="en-US" sz="1300" dirty="0">
                <a:solidFill>
                  <a:srgbClr val="D6DEEB"/>
                </a:solidFill>
                <a:latin typeface="Courier New" pitchFamily="34" charset="0"/>
                <a:ea typeface="Courier New" pitchFamily="34" charset="-122"/>
                <a:cs typeface="Courier New" pitchFamily="34" charset="-120"/>
              </a:rPr>
              <a:t>, … },</a:t>
            </a:r>
            <a:endParaRPr lang="en-US" sz="1300" dirty="0"/>
          </a:p>
          <a:p>
            <a:pPr indent="0" marL="0">
              <a:buNone/>
            </a:pPr>
            <a:r>
              <a:rPr lang="en-US" sz="1300" dirty="0">
                <a:solidFill>
                  <a:srgbClr val="D6DEEB"/>
                </a:solidFill>
                <a:latin typeface="Courier New" pitchFamily="34" charset="0"/>
                <a:ea typeface="Courier New" pitchFamily="34" charset="-122"/>
                <a:cs typeface="Courier New" pitchFamily="34" charset="-120"/>
              </a:rPr>
              <a:t>    { </a:t>
            </a:r>
            <a:pPr indent="0" marL="0">
              <a:buNone/>
            </a:pPr>
            <a:r>
              <a:rPr lang="en-US" sz="1300" dirty="0">
                <a:solidFill>
                  <a:srgbClr val="F4A259"/>
                </a:solidFill>
                <a:latin typeface="Courier New" pitchFamily="34" charset="0"/>
                <a:ea typeface="Courier New" pitchFamily="34" charset="-122"/>
                <a:cs typeface="Courier New" pitchFamily="34" charset="-120"/>
              </a:rPr>
              <a:t>"name"</a:t>
            </a:r>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9CDCFE"/>
                </a:solidFill>
                <a:latin typeface="Courier New" pitchFamily="34" charset="0"/>
                <a:ea typeface="Courier New" pitchFamily="34" charset="-122"/>
                <a:cs typeface="Courier New" pitchFamily="34" charset="-120"/>
              </a:rPr>
              <a:t>"step-your-details"</a:t>
            </a:r>
            <a:pPr indent="0" marL="0">
              <a:buNone/>
            </a:pPr>
            <a:r>
              <a:rPr lang="en-US" sz="1300" dirty="0">
                <a:solidFill>
                  <a:srgbClr val="D6DEEB"/>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F4A259"/>
                </a:solidFill>
                <a:latin typeface="Courier New" pitchFamily="34" charset="0"/>
                <a:ea typeface="Courier New" pitchFamily="34" charset="-122"/>
                <a:cs typeface="Courier New" pitchFamily="34" charset="-120"/>
              </a:rPr>
              <a:t>"nextStep"</a:t>
            </a:r>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9CDCFE"/>
                </a:solidFill>
                <a:latin typeface="Courier New" pitchFamily="34" charset="0"/>
                <a:ea typeface="Courier New" pitchFamily="34" charset="-122"/>
                <a:cs typeface="Courier New" pitchFamily="34" charset="-120"/>
              </a:rPr>
              <a:t>"payment"</a:t>
            </a:r>
            <a:pPr indent="0" marL="0">
              <a:buNone/>
            </a:pPr>
            <a:r>
              <a:rPr lang="en-US" sz="1300" dirty="0">
                <a:solidFill>
                  <a:srgbClr val="D6DEEB"/>
                </a:solidFill>
                <a:latin typeface="Courier New" pitchFamily="34" charset="0"/>
                <a:ea typeface="Courier New" pitchFamily="34" charset="-122"/>
                <a:cs typeface="Courier New" pitchFamily="34" charset="-120"/>
              </a:rPr>
              <a:t>, … },</a:t>
            </a:r>
            <a:endParaRPr lang="en-US" sz="1300" dirty="0"/>
          </a:p>
          <a:p>
            <a:pPr indent="0" marL="0">
              <a:buNone/>
            </a:pPr>
            <a:r>
              <a:rPr lang="en-US" sz="1300" dirty="0">
                <a:solidFill>
                  <a:srgbClr val="D6DEEB"/>
                </a:solidFill>
                <a:latin typeface="Courier New" pitchFamily="34" charset="0"/>
                <a:ea typeface="Courier New" pitchFamily="34" charset="-122"/>
                <a:cs typeface="Courier New" pitchFamily="34" charset="-120"/>
              </a:rPr>
              <a:t>    { </a:t>
            </a:r>
            <a:pPr indent="0" marL="0">
              <a:buNone/>
            </a:pPr>
            <a:r>
              <a:rPr lang="en-US" sz="1300" dirty="0">
                <a:solidFill>
                  <a:srgbClr val="F4A259"/>
                </a:solidFill>
                <a:latin typeface="Courier New" pitchFamily="34" charset="0"/>
                <a:ea typeface="Courier New" pitchFamily="34" charset="-122"/>
                <a:cs typeface="Courier New" pitchFamily="34" charset="-120"/>
              </a:rPr>
              <a:t>"name"</a:t>
            </a:r>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9CDCFE"/>
                </a:solidFill>
                <a:latin typeface="Courier New" pitchFamily="34" charset="0"/>
                <a:ea typeface="Courier New" pitchFamily="34" charset="-122"/>
                <a:cs typeface="Courier New" pitchFamily="34" charset="-120"/>
              </a:rPr>
              <a:t>"payment"</a:t>
            </a:r>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F4A259"/>
                </a:solidFill>
                <a:latin typeface="Courier New" pitchFamily="34" charset="0"/>
                <a:ea typeface="Courier New" pitchFamily="34" charset="-122"/>
                <a:cs typeface="Courier New" pitchFamily="34" charset="-120"/>
              </a:rPr>
              <a:t>"type"</a:t>
            </a:r>
            <a:pPr indent="0" marL="0">
              <a:buNone/>
            </a:pPr>
            <a:r>
              <a:rPr lang="en-US" sz="1300" dirty="0">
                <a:solidFill>
                  <a:srgbClr val="D6DEEB"/>
                </a:solidFill>
                <a:latin typeface="Courier New" pitchFamily="34" charset="0"/>
                <a:ea typeface="Courier New" pitchFamily="34" charset="-122"/>
                <a:cs typeface="Courier New" pitchFamily="34" charset="-120"/>
              </a:rPr>
              <a:t>: </a:t>
            </a:r>
            <a:pPr indent="0" marL="0">
              <a:buNone/>
            </a:pPr>
            <a:r>
              <a:rPr lang="en-US" sz="1300" dirty="0">
                <a:solidFill>
                  <a:srgbClr val="9CDCFE"/>
                </a:solidFill>
                <a:latin typeface="Courier New" pitchFamily="34" charset="0"/>
                <a:ea typeface="Courier New" pitchFamily="34" charset="-122"/>
                <a:cs typeface="Courier New" pitchFamily="34" charset="-120"/>
              </a:rPr>
              <a:t>"payment"</a:t>
            </a:r>
            <a:pPr indent="0" marL="0">
              <a:buNone/>
            </a:pPr>
            <a:r>
              <a:rPr lang="en-US" sz="1300" dirty="0">
                <a:solidFill>
                  <a:srgbClr val="D6DEEB"/>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D6DEEB"/>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D6DEEB"/>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6826382" y="1737360"/>
            <a:ext cx="4665411" cy="4069080"/>
          </a:xfrm>
          <a:prstGeom prst="rect">
            <a:avLst/>
          </a:prstGeom>
          <a:solidFill>
            <a:srgbClr val="FFFFFF"/>
          </a:solidFill>
          <a:ln w="9525">
            <a:solidFill>
              <a:srgbClr val="D5DAE1"/>
            </a:solidFill>
            <a:prstDash val="solid"/>
          </a:ln>
          <a:effectLst>
            <a:outerShdw sx="100000" sy="100000" kx="0" ky="0" algn="bl" rotWithShape="0" blurRad="127000" dist="38100" dir="5400000">
              <a:srgbClr val="000000">
                <a:alpha val="15000"/>
              </a:srgbClr>
            </a:outerShdw>
          </a:effectLst>
        </p:spPr>
      </p:sp>
      <p:pic>
        <p:nvPicPr>
          <p:cNvPr id="8" name="Image 0" descr="/private/tmp/claude-501/-Users-mark-dev-dd-transactions/f282b57c-e8e7-4c69-b84a-ecba442adf8a/scratchpad/crops/editor-steps.png">    </p:cNvPr>
          <p:cNvPicPr>
            <a:picLocks noChangeAspect="1"/>
          </p:cNvPicPr>
          <p:nvPr/>
        </p:nvPicPr>
        <p:blipFill>
          <a:blip r:embed="rId1"/>
          <a:stretch>
            <a:fillRect/>
          </a:stretch>
        </p:blipFill>
        <p:spPr>
          <a:xfrm>
            <a:off x="6826382" y="1737360"/>
            <a:ext cx="4665411" cy="4069080"/>
          </a:xfrm>
          <a:prstGeom prst="rect">
            <a:avLst/>
          </a:prstGeom>
        </p:spPr>
      </p:pic>
      <p:sp>
        <p:nvSpPr>
          <p:cNvPr id="9" name="Text 6"/>
          <p:cNvSpPr txBox="1"/>
          <p:nvPr/>
        </p:nvSpPr>
        <p:spPr>
          <a:xfrm>
            <a:off x="6675120" y="5943600"/>
            <a:ext cx="4967935" cy="365760"/>
          </a:xfrm>
          <a:prstGeom prst="rect">
            <a:avLst/>
          </a:prstGeom>
          <a:noFill/>
          <a:ln/>
        </p:spPr>
        <p:txBody>
          <a:bodyPr wrap="square" lIns="0" tIns="0" rIns="0" bIns="0" rtlCol="0" anchor="ctr"/>
          <a:lstStyle/>
          <a:p>
            <a:pPr algn="ctr" indent="0" marL="0">
              <a:buNone/>
            </a:pPr>
            <a:r>
              <a:rPr lang="en-US" sz="1250" i="1" dirty="0">
                <a:solidFill>
                  <a:srgbClr val="7A8699"/>
                </a:solidFill>
                <a:latin typeface="Calibri" pitchFamily="34" charset="0"/>
                <a:ea typeface="Calibri" pitchFamily="34" charset="-122"/>
                <a:cs typeface="Calibri" pitchFamily="34" charset="-120"/>
              </a:rPr>
              <a:t>Same definition in the Visual Editor: add, reorder and edit steps and fields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4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What the applicant sees</a:t>
            </a:r>
            <a:endParaRPr lang="en-US" sz="3600" dirty="0"/>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The same schema, rendered as a branded Service Victoria–style wizard</a:t>
            </a:r>
            <a:endParaRPr lang="en-US" sz="1600" dirty="0"/>
          </a:p>
        </p:txBody>
      </p:sp>
      <p:sp>
        <p:nvSpPr>
          <p:cNvPr id="4" name="Shape 2"/>
          <p:cNvSpPr/>
          <p:nvPr/>
        </p:nvSpPr>
        <p:spPr>
          <a:xfrm>
            <a:off x="548640" y="2027171"/>
            <a:ext cx="3520440" cy="2895099"/>
          </a:xfrm>
          <a:prstGeom prst="rect">
            <a:avLst/>
          </a:prstGeom>
          <a:solidFill>
            <a:srgbClr val="FFFFFF"/>
          </a:solidFill>
          <a:ln w="9525">
            <a:solidFill>
              <a:srgbClr val="D5DAE1"/>
            </a:solidFill>
            <a:prstDash val="solid"/>
          </a:ln>
          <a:effectLst>
            <a:outerShdw sx="100000" sy="100000" kx="0" ky="0" algn="bl" rotWithShape="0" blurRad="127000" dist="38100" dir="5400000">
              <a:srgbClr val="000000">
                <a:alpha val="15000"/>
              </a:srgbClr>
            </a:outerShdw>
          </a:effectLst>
        </p:spPr>
      </p:sp>
      <p:pic>
        <p:nvPicPr>
          <p:cNvPr id="5" name="Image 0" descr="/private/tmp/claude-501/-Users-mark-dev-dd-transactions/f282b57c-e8e7-4c69-b84a-ecba442adf8a/scratchpad/crops/dwrs-step1.png">    </p:cNvPr>
          <p:cNvPicPr>
            <a:picLocks noChangeAspect="1"/>
          </p:cNvPicPr>
          <p:nvPr/>
        </p:nvPicPr>
        <p:blipFill>
          <a:blip r:embed="rId1"/>
          <a:stretch>
            <a:fillRect/>
          </a:stretch>
        </p:blipFill>
        <p:spPr>
          <a:xfrm>
            <a:off x="548640" y="2027171"/>
            <a:ext cx="3520440" cy="2895099"/>
          </a:xfrm>
          <a:prstGeom prst="rect">
            <a:avLst/>
          </a:prstGeom>
        </p:spPr>
      </p:pic>
      <p:sp>
        <p:nvSpPr>
          <p:cNvPr id="6" name="Text 3"/>
          <p:cNvSpPr txBox="1"/>
          <p:nvPr/>
        </p:nvSpPr>
        <p:spPr>
          <a:xfrm>
            <a:off x="548640" y="5349240"/>
            <a:ext cx="3520440" cy="365760"/>
          </a:xfrm>
          <a:prstGeom prst="rect">
            <a:avLst/>
          </a:prstGeom>
          <a:noFill/>
          <a:ln/>
        </p:spPr>
        <p:txBody>
          <a:bodyPr wrap="square" lIns="0" tIns="0" rIns="0" bIns="0" rtlCol="0" anchor="ctr"/>
          <a:lstStyle/>
          <a:p>
            <a:pPr indent="0" marL="0">
              <a:buNone/>
            </a:pPr>
            <a:r>
              <a:rPr lang="en-US" sz="1700" b="1" dirty="0">
                <a:solidFill>
                  <a:srgbClr val="1B2536"/>
                </a:solidFill>
                <a:latin typeface="Cambria" pitchFamily="34" charset="0"/>
                <a:ea typeface="Cambria" pitchFamily="34" charset="-122"/>
                <a:cs typeface="Cambria" pitchFamily="34" charset="-120"/>
              </a:rPr>
              <a:t>1  Get Started</a:t>
            </a:r>
            <a:endParaRPr lang="en-US" sz="1700" dirty="0"/>
          </a:p>
        </p:txBody>
      </p:sp>
      <p:sp>
        <p:nvSpPr>
          <p:cNvPr id="7" name="Text 4"/>
          <p:cNvSpPr txBox="1"/>
          <p:nvPr/>
        </p:nvSpPr>
        <p:spPr>
          <a:xfrm>
            <a:off x="548640" y="5715000"/>
            <a:ext cx="3520440" cy="320040"/>
          </a:xfrm>
          <a:prstGeom prst="rect">
            <a:avLst/>
          </a:prstGeom>
          <a:noFill/>
          <a:ln/>
        </p:spPr>
        <p:txBody>
          <a:bodyPr wrap="square" lIns="0" tIns="0" rIns="0" bIns="0" rtlCol="0" anchor="ctr"/>
          <a:lstStyle/>
          <a:p>
            <a:pPr indent="0" marL="0">
              <a:buNone/>
            </a:pPr>
            <a:r>
              <a:rPr lang="en-US" sz="1400" dirty="0">
                <a:solidFill>
                  <a:srgbClr val="3C4A60"/>
                </a:solidFill>
                <a:latin typeface="Calibri" pitchFamily="34" charset="0"/>
                <a:ea typeface="Calibri" pitchFamily="34" charset="-122"/>
                <a:cs typeface="Calibri" pitchFamily="34" charset="-120"/>
              </a:rPr>
              <a:t>Rich content and tabs</a:t>
            </a:r>
            <a:endParaRPr lang="en-US" sz="1400" dirty="0"/>
          </a:p>
        </p:txBody>
      </p:sp>
      <p:sp>
        <p:nvSpPr>
          <p:cNvPr id="8" name="Shape 5"/>
          <p:cNvSpPr/>
          <p:nvPr/>
        </p:nvSpPr>
        <p:spPr>
          <a:xfrm>
            <a:off x="4407408" y="2297194"/>
            <a:ext cx="3520440" cy="2355053"/>
          </a:xfrm>
          <a:prstGeom prst="rect">
            <a:avLst/>
          </a:prstGeom>
          <a:solidFill>
            <a:srgbClr val="FFFFFF"/>
          </a:solidFill>
          <a:ln w="9525">
            <a:solidFill>
              <a:srgbClr val="D5DAE1"/>
            </a:solidFill>
            <a:prstDash val="solid"/>
          </a:ln>
          <a:effectLst>
            <a:outerShdw sx="100000" sy="100000" kx="0" ky="0" algn="bl" rotWithShape="0" blurRad="127000" dist="38100" dir="5400000">
              <a:srgbClr val="000000">
                <a:alpha val="15000"/>
              </a:srgbClr>
            </a:outerShdw>
          </a:effectLst>
        </p:spPr>
      </p:sp>
      <p:pic>
        <p:nvPicPr>
          <p:cNvPr id="9" name="Image 1" descr="/private/tmp/claude-501/-Users-mark-dev-dd-transactions/f282b57c-e8e7-4c69-b84a-ecba442adf8a/scratchpad/crops/dwrs-step2.png">    </p:cNvPr>
          <p:cNvPicPr>
            <a:picLocks noChangeAspect="1"/>
          </p:cNvPicPr>
          <p:nvPr/>
        </p:nvPicPr>
        <p:blipFill>
          <a:blip r:embed="rId2"/>
          <a:stretch>
            <a:fillRect/>
          </a:stretch>
        </p:blipFill>
        <p:spPr>
          <a:xfrm>
            <a:off x="4407408" y="2297194"/>
            <a:ext cx="3520440" cy="2355053"/>
          </a:xfrm>
          <a:prstGeom prst="rect">
            <a:avLst/>
          </a:prstGeom>
        </p:spPr>
      </p:pic>
      <p:sp>
        <p:nvSpPr>
          <p:cNvPr id="10" name="Text 6"/>
          <p:cNvSpPr txBox="1"/>
          <p:nvPr/>
        </p:nvSpPr>
        <p:spPr>
          <a:xfrm>
            <a:off x="4407408" y="5349240"/>
            <a:ext cx="3520440" cy="365760"/>
          </a:xfrm>
          <a:prstGeom prst="rect">
            <a:avLst/>
          </a:prstGeom>
          <a:noFill/>
          <a:ln/>
        </p:spPr>
        <p:txBody>
          <a:bodyPr wrap="square" lIns="0" tIns="0" rIns="0" bIns="0" rtlCol="0" anchor="ctr"/>
          <a:lstStyle/>
          <a:p>
            <a:pPr indent="0" marL="0">
              <a:buNone/>
            </a:pPr>
            <a:r>
              <a:rPr lang="en-US" sz="1700" b="1" dirty="0">
                <a:solidFill>
                  <a:srgbClr val="1B2536"/>
                </a:solidFill>
                <a:latin typeface="Cambria" pitchFamily="34" charset="0"/>
                <a:ea typeface="Cambria" pitchFamily="34" charset="-122"/>
                <a:cs typeface="Cambria" pitchFamily="34" charset="-120"/>
              </a:rPr>
              <a:t>2  Registration Type</a:t>
            </a:r>
            <a:endParaRPr lang="en-US" sz="1700" dirty="0"/>
          </a:p>
        </p:txBody>
      </p:sp>
      <p:sp>
        <p:nvSpPr>
          <p:cNvPr id="11" name="Text 7"/>
          <p:cNvSpPr txBox="1"/>
          <p:nvPr/>
        </p:nvSpPr>
        <p:spPr>
          <a:xfrm>
            <a:off x="4407408" y="5715000"/>
            <a:ext cx="3520440" cy="320040"/>
          </a:xfrm>
          <a:prstGeom prst="rect">
            <a:avLst/>
          </a:prstGeom>
          <a:noFill/>
          <a:ln/>
        </p:spPr>
        <p:txBody>
          <a:bodyPr wrap="square" lIns="0" tIns="0" rIns="0" bIns="0" rtlCol="0" anchor="ctr"/>
          <a:lstStyle/>
          <a:p>
            <a:pPr indent="0" marL="0">
              <a:buNone/>
            </a:pPr>
            <a:r>
              <a:rPr lang="en-US" sz="1400" dirty="0">
                <a:solidFill>
                  <a:srgbClr val="3C4A60"/>
                </a:solidFill>
                <a:latin typeface="Calibri" pitchFamily="34" charset="0"/>
                <a:ea typeface="Calibri" pitchFamily="34" charset="-122"/>
                <a:cs typeface="Calibri" pitchFamily="34" charset="-120"/>
              </a:rPr>
              <a:t>Choices that shape the path</a:t>
            </a:r>
            <a:endParaRPr lang="en-US" sz="1400" dirty="0"/>
          </a:p>
        </p:txBody>
      </p:sp>
      <p:sp>
        <p:nvSpPr>
          <p:cNvPr id="12" name="Shape 8"/>
          <p:cNvSpPr/>
          <p:nvPr/>
        </p:nvSpPr>
        <p:spPr>
          <a:xfrm>
            <a:off x="8266176" y="1835894"/>
            <a:ext cx="3520440" cy="3277651"/>
          </a:xfrm>
          <a:prstGeom prst="rect">
            <a:avLst/>
          </a:prstGeom>
          <a:solidFill>
            <a:srgbClr val="FFFFFF"/>
          </a:solidFill>
          <a:ln w="9525">
            <a:solidFill>
              <a:srgbClr val="D5DAE1"/>
            </a:solidFill>
            <a:prstDash val="solid"/>
          </a:ln>
          <a:effectLst>
            <a:outerShdw sx="100000" sy="100000" kx="0" ky="0" algn="bl" rotWithShape="0" blurRad="127000" dist="38100" dir="5400000">
              <a:srgbClr val="000000">
                <a:alpha val="15000"/>
              </a:srgbClr>
            </a:outerShdw>
          </a:effectLst>
        </p:spPr>
      </p:sp>
      <p:pic>
        <p:nvPicPr>
          <p:cNvPr id="13" name="Image 2" descr="/private/tmp/claude-501/-Users-mark-dev-dd-transactions/f282b57c-e8e7-4c69-b84a-ecba442adf8a/scratchpad/crops/dwrs-validation.png">    </p:cNvPr>
          <p:cNvPicPr>
            <a:picLocks noChangeAspect="1"/>
          </p:cNvPicPr>
          <p:nvPr/>
        </p:nvPicPr>
        <p:blipFill>
          <a:blip r:embed="rId3"/>
          <a:stretch>
            <a:fillRect/>
          </a:stretch>
        </p:blipFill>
        <p:spPr>
          <a:xfrm>
            <a:off x="8266176" y="1835894"/>
            <a:ext cx="3520440" cy="3277651"/>
          </a:xfrm>
          <a:prstGeom prst="rect">
            <a:avLst/>
          </a:prstGeom>
        </p:spPr>
      </p:pic>
      <p:sp>
        <p:nvSpPr>
          <p:cNvPr id="14" name="Text 9"/>
          <p:cNvSpPr txBox="1"/>
          <p:nvPr/>
        </p:nvSpPr>
        <p:spPr>
          <a:xfrm>
            <a:off x="8266176" y="5349240"/>
            <a:ext cx="3520440" cy="365760"/>
          </a:xfrm>
          <a:prstGeom prst="rect">
            <a:avLst/>
          </a:prstGeom>
          <a:noFill/>
          <a:ln/>
        </p:spPr>
        <p:txBody>
          <a:bodyPr wrap="square" lIns="0" tIns="0" rIns="0" bIns="0" rtlCol="0" anchor="ctr"/>
          <a:lstStyle/>
          <a:p>
            <a:pPr indent="0" marL="0">
              <a:buNone/>
            </a:pPr>
            <a:r>
              <a:rPr lang="en-US" sz="1700" b="1" dirty="0">
                <a:solidFill>
                  <a:srgbClr val="1B2536"/>
                </a:solidFill>
                <a:latin typeface="Cambria" pitchFamily="34" charset="0"/>
                <a:ea typeface="Cambria" pitchFamily="34" charset="-122"/>
                <a:cs typeface="Cambria" pitchFamily="34" charset="-120"/>
              </a:rPr>
              <a:t>3  Your Details</a:t>
            </a:r>
            <a:endParaRPr lang="en-US" sz="1700" dirty="0"/>
          </a:p>
        </p:txBody>
      </p:sp>
      <p:sp>
        <p:nvSpPr>
          <p:cNvPr id="15" name="Text 10"/>
          <p:cNvSpPr txBox="1"/>
          <p:nvPr/>
        </p:nvSpPr>
        <p:spPr>
          <a:xfrm>
            <a:off x="8266176" y="5715000"/>
            <a:ext cx="3520440" cy="320040"/>
          </a:xfrm>
          <a:prstGeom prst="rect">
            <a:avLst/>
          </a:prstGeom>
          <a:noFill/>
          <a:ln/>
        </p:spPr>
        <p:txBody>
          <a:bodyPr wrap="square" lIns="0" tIns="0" rIns="0" bIns="0" rtlCol="0" anchor="ctr"/>
          <a:lstStyle/>
          <a:p>
            <a:pPr indent="0" marL="0">
              <a:buNone/>
            </a:pPr>
            <a:r>
              <a:rPr lang="en-US" sz="1400" dirty="0">
                <a:solidFill>
                  <a:srgbClr val="3C4A60"/>
                </a:solidFill>
                <a:latin typeface="Calibri" pitchFamily="34" charset="0"/>
                <a:ea typeface="Calibri" pitchFamily="34" charset="-122"/>
                <a:cs typeface="Calibri" pitchFamily="34" charset="-120"/>
              </a:rPr>
              <a:t>Fields with live validation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Built for analysts and developers</a:t>
            </a:r>
            <a:endParaRPr lang="en-US" sz="3600" dirty="0"/>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Two synchronised editors over the same definition</a:t>
            </a:r>
            <a:endParaRPr lang="en-US" sz="1600" dirty="0"/>
          </a:p>
        </p:txBody>
      </p:sp>
      <p:sp>
        <p:nvSpPr>
          <p:cNvPr id="4" name="Shape 2"/>
          <p:cNvSpPr/>
          <p:nvPr/>
        </p:nvSpPr>
        <p:spPr>
          <a:xfrm>
            <a:off x="548640" y="1783080"/>
            <a:ext cx="4206240" cy="1920240"/>
          </a:xfrm>
          <a:prstGeom prst="roundRect">
            <a:avLst>
              <a:gd name="adj" fmla="val 3810"/>
            </a:avLst>
          </a:prstGeom>
          <a:solidFill>
            <a:srgbClr val="F4F4F4"/>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822960" y="2057400"/>
            <a:ext cx="594360" cy="594360"/>
          </a:xfrm>
          <a:prstGeom prst="ellipse">
            <a:avLst/>
          </a:prstGeom>
          <a:solidFill>
            <a:srgbClr val="E3710A"/>
          </a:solidFill>
          <a:ln w="12700">
            <a:solidFill>
              <a:srgbClr val="E3710A"/>
            </a:solidFill>
            <a:prstDash val="solid"/>
          </a:ln>
        </p:spPr>
      </p:sp>
      <p:pic>
        <p:nvPicPr>
          <p:cNvPr id="6" name="Image 0" descr="preencoded.png">    </p:cNvPr>
          <p:cNvPicPr>
            <a:picLocks noChangeAspect="1"/>
          </p:cNvPicPr>
          <p:nvPr/>
        </p:nvPicPr>
        <p:blipFill>
          <a:blip r:embed="rId1"/>
          <a:stretch>
            <a:fillRect/>
          </a:stretch>
        </p:blipFill>
        <p:spPr>
          <a:xfrm>
            <a:off x="977494" y="2211934"/>
            <a:ext cx="285293" cy="285293"/>
          </a:xfrm>
          <a:prstGeom prst="rect">
            <a:avLst/>
          </a:prstGeom>
        </p:spPr>
      </p:pic>
      <p:sp>
        <p:nvSpPr>
          <p:cNvPr id="7" name="Text 4"/>
          <p:cNvSpPr txBox="1"/>
          <p:nvPr/>
        </p:nvSpPr>
        <p:spPr>
          <a:xfrm>
            <a:off x="1554480" y="2103120"/>
            <a:ext cx="3017520" cy="502920"/>
          </a:xfrm>
          <a:prstGeom prst="rect">
            <a:avLst/>
          </a:prstGeom>
          <a:noFill/>
          <a:ln/>
        </p:spPr>
        <p:txBody>
          <a:bodyPr wrap="square" lIns="0" tIns="0" rIns="0" bIns="0" rtlCol="0" anchor="ctr"/>
          <a:lstStyle/>
          <a:p>
            <a:pPr indent="0" marL="0">
              <a:buNone/>
            </a:pPr>
            <a:r>
              <a:rPr lang="en-US" sz="2000" b="1" dirty="0">
                <a:solidFill>
                  <a:srgbClr val="1B2536"/>
                </a:solidFill>
                <a:latin typeface="Cambria" pitchFamily="34" charset="0"/>
                <a:ea typeface="Cambria" pitchFamily="34" charset="-122"/>
                <a:cs typeface="Cambria" pitchFamily="34" charset="-120"/>
              </a:rPr>
              <a:t>Visual Editor</a:t>
            </a:r>
            <a:endParaRPr lang="en-US" sz="2000" dirty="0"/>
          </a:p>
        </p:txBody>
      </p:sp>
      <p:sp>
        <p:nvSpPr>
          <p:cNvPr id="8" name="Text 5"/>
          <p:cNvSpPr txBox="1"/>
          <p:nvPr/>
        </p:nvSpPr>
        <p:spPr>
          <a:xfrm>
            <a:off x="822960" y="2743200"/>
            <a:ext cx="3657600" cy="868680"/>
          </a:xfrm>
          <a:prstGeom prst="rect">
            <a:avLst/>
          </a:prstGeom>
          <a:noFill/>
          <a:ln/>
        </p:spPr>
        <p:txBody>
          <a:bodyPr wrap="square" lIns="0" tIns="0" rIns="0" bIns="0" rtlCol="0" anchor="t"/>
          <a:lstStyle/>
          <a:p>
            <a:pPr indent="0" marL="0">
              <a:buNone/>
            </a:pPr>
            <a:r>
              <a:rPr lang="en-US" sz="1400" dirty="0">
                <a:solidFill>
                  <a:srgbClr val="3C4A60"/>
                </a:solidFill>
                <a:latin typeface="Calibri" pitchFamily="34" charset="0"/>
                <a:ea typeface="Calibri" pitchFamily="34" charset="-122"/>
                <a:cs typeface="Calibri" pitchFamily="34" charset="-120"/>
              </a:rPr>
              <a:t>Add and reorder steps, pick field types, attach validation rules and configure payment — no JSON required.</a:t>
            </a:r>
            <a:endParaRPr lang="en-US" sz="1400" dirty="0"/>
          </a:p>
        </p:txBody>
      </p:sp>
      <p:sp>
        <p:nvSpPr>
          <p:cNvPr id="9" name="Shape 6"/>
          <p:cNvSpPr/>
          <p:nvPr/>
        </p:nvSpPr>
        <p:spPr>
          <a:xfrm>
            <a:off x="548640" y="3931920"/>
            <a:ext cx="4206240" cy="1920240"/>
          </a:xfrm>
          <a:prstGeom prst="roundRect">
            <a:avLst>
              <a:gd name="adj" fmla="val 3810"/>
            </a:avLst>
          </a:prstGeom>
          <a:solidFill>
            <a:srgbClr val="F4F4F4"/>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822960" y="4206240"/>
            <a:ext cx="594360" cy="594360"/>
          </a:xfrm>
          <a:prstGeom prst="ellipse">
            <a:avLst/>
          </a:prstGeom>
          <a:solidFill>
            <a:srgbClr val="E3710A"/>
          </a:solidFill>
          <a:ln w="12700">
            <a:solidFill>
              <a:srgbClr val="E3710A"/>
            </a:solidFill>
            <a:prstDash val="solid"/>
          </a:ln>
        </p:spPr>
      </p:sp>
      <p:pic>
        <p:nvPicPr>
          <p:cNvPr id="11" name="Image 1" descr="preencoded.png">    </p:cNvPr>
          <p:cNvPicPr>
            <a:picLocks noChangeAspect="1"/>
          </p:cNvPicPr>
          <p:nvPr/>
        </p:nvPicPr>
        <p:blipFill>
          <a:blip r:embed="rId2"/>
          <a:stretch>
            <a:fillRect/>
          </a:stretch>
        </p:blipFill>
        <p:spPr>
          <a:xfrm>
            <a:off x="977494" y="4360774"/>
            <a:ext cx="285293" cy="285293"/>
          </a:xfrm>
          <a:prstGeom prst="rect">
            <a:avLst/>
          </a:prstGeom>
        </p:spPr>
      </p:pic>
      <p:sp>
        <p:nvSpPr>
          <p:cNvPr id="12" name="Text 8"/>
          <p:cNvSpPr txBox="1"/>
          <p:nvPr/>
        </p:nvSpPr>
        <p:spPr>
          <a:xfrm>
            <a:off x="1554480" y="4251960"/>
            <a:ext cx="3017520" cy="502920"/>
          </a:xfrm>
          <a:prstGeom prst="rect">
            <a:avLst/>
          </a:prstGeom>
          <a:noFill/>
          <a:ln/>
        </p:spPr>
        <p:txBody>
          <a:bodyPr wrap="square" lIns="0" tIns="0" rIns="0" bIns="0" rtlCol="0" anchor="ctr"/>
          <a:lstStyle/>
          <a:p>
            <a:pPr indent="0" marL="0">
              <a:buNone/>
            </a:pPr>
            <a:r>
              <a:rPr lang="en-US" sz="2000" b="1" dirty="0">
                <a:solidFill>
                  <a:srgbClr val="1B2536"/>
                </a:solidFill>
                <a:latin typeface="Cambria" pitchFamily="34" charset="0"/>
                <a:ea typeface="Cambria" pitchFamily="34" charset="-122"/>
                <a:cs typeface="Cambria" pitchFamily="34" charset="-120"/>
              </a:rPr>
              <a:t>JSON Editor</a:t>
            </a:r>
            <a:endParaRPr lang="en-US" sz="2000" dirty="0"/>
          </a:p>
        </p:txBody>
      </p:sp>
      <p:sp>
        <p:nvSpPr>
          <p:cNvPr id="13" name="Text 9"/>
          <p:cNvSpPr txBox="1"/>
          <p:nvPr/>
        </p:nvSpPr>
        <p:spPr>
          <a:xfrm>
            <a:off x="822960" y="4892040"/>
            <a:ext cx="3657600" cy="868680"/>
          </a:xfrm>
          <a:prstGeom prst="rect">
            <a:avLst/>
          </a:prstGeom>
          <a:noFill/>
          <a:ln/>
        </p:spPr>
        <p:txBody>
          <a:bodyPr wrap="square" lIns="0" tIns="0" rIns="0" bIns="0" rtlCol="0" anchor="t"/>
          <a:lstStyle/>
          <a:p>
            <a:pPr indent="0" marL="0">
              <a:buNone/>
            </a:pPr>
            <a:r>
              <a:rPr lang="en-US" sz="1400" dirty="0">
                <a:solidFill>
                  <a:srgbClr val="3C4A60"/>
                </a:solidFill>
                <a:latin typeface="Calibri" pitchFamily="34" charset="0"/>
                <a:ea typeface="Calibri" pitchFamily="34" charset="-122"/>
                <a:cs typeface="Calibri" pitchFamily="34" charset="-120"/>
              </a:rPr>
              <a:t>The full schema with syntax highlighting. Copy between environments, version-control forms, reach every advanced option.</a:t>
            </a:r>
            <a:endParaRPr lang="en-US" sz="1400" dirty="0"/>
          </a:p>
        </p:txBody>
      </p:sp>
      <p:sp>
        <p:nvSpPr>
          <p:cNvPr id="14" name="Shape 10"/>
          <p:cNvSpPr/>
          <p:nvPr/>
        </p:nvSpPr>
        <p:spPr>
          <a:xfrm>
            <a:off x="5120640" y="2074561"/>
            <a:ext cx="6522415" cy="3486118"/>
          </a:xfrm>
          <a:prstGeom prst="rect">
            <a:avLst/>
          </a:prstGeom>
          <a:solidFill>
            <a:srgbClr val="FFFFFF"/>
          </a:solidFill>
          <a:ln w="9525">
            <a:solidFill>
              <a:srgbClr val="D5DAE1"/>
            </a:solidFill>
            <a:prstDash val="solid"/>
          </a:ln>
          <a:effectLst>
            <a:outerShdw sx="100000" sy="100000" kx="0" ky="0" algn="bl" rotWithShape="0" blurRad="127000" dist="38100" dir="5400000">
              <a:srgbClr val="000000">
                <a:alpha val="15000"/>
              </a:srgbClr>
            </a:outerShdw>
          </a:effectLst>
        </p:spPr>
      </p:sp>
      <p:pic>
        <p:nvPicPr>
          <p:cNvPr id="15" name="Image 2" descr="/private/tmp/claude-501/-Users-mark-dev-dd-transactions/f282b57c-e8e7-4c69-b84a-ecba442adf8a/scratchpad/crops/editor-json.png">    </p:cNvPr>
          <p:cNvPicPr>
            <a:picLocks noChangeAspect="1"/>
          </p:cNvPicPr>
          <p:nvPr/>
        </p:nvPicPr>
        <p:blipFill>
          <a:blip r:embed="rId3"/>
          <a:stretch>
            <a:fillRect/>
          </a:stretch>
        </p:blipFill>
        <p:spPr>
          <a:xfrm>
            <a:off x="5120640" y="2074561"/>
            <a:ext cx="6522415" cy="348611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Validation: configured, not coded</a:t>
            </a:r>
            <a:endParaRPr lang="en-US" sz="3600" dirty="0"/>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Pick a rule in the editor — the form enforces it immediately</a:t>
            </a:r>
            <a:endParaRPr lang="en-US" sz="1600" dirty="0"/>
          </a:p>
        </p:txBody>
      </p:sp>
      <p:sp>
        <p:nvSpPr>
          <p:cNvPr id="4" name="Shape 2"/>
          <p:cNvSpPr/>
          <p:nvPr/>
        </p:nvSpPr>
        <p:spPr>
          <a:xfrm>
            <a:off x="548640" y="2013170"/>
            <a:ext cx="5852160" cy="3197421"/>
          </a:xfrm>
          <a:prstGeom prst="rect">
            <a:avLst/>
          </a:prstGeom>
          <a:solidFill>
            <a:srgbClr val="FFFFFF"/>
          </a:solidFill>
          <a:ln w="9525">
            <a:solidFill>
              <a:srgbClr val="D5DAE1"/>
            </a:solidFill>
            <a:prstDash val="solid"/>
          </a:ln>
          <a:effectLst>
            <a:outerShdw sx="100000" sy="100000" kx="0" ky="0" algn="bl" rotWithShape="0" blurRad="127000" dist="38100" dir="5400000">
              <a:srgbClr val="000000">
                <a:alpha val="15000"/>
              </a:srgbClr>
            </a:outerShdw>
          </a:effectLst>
        </p:spPr>
      </p:sp>
      <p:pic>
        <p:nvPicPr>
          <p:cNvPr id="5" name="Image 0" descr="/private/tmp/claude-501/-Users-mark-dev-dd-transactions/f282b57c-e8e7-4c69-b84a-ecba442adf8a/scratchpad/crops/editor-validation.png">    </p:cNvPr>
          <p:cNvPicPr>
            <a:picLocks noChangeAspect="1"/>
          </p:cNvPicPr>
          <p:nvPr/>
        </p:nvPicPr>
        <p:blipFill>
          <a:blip r:embed="rId1"/>
          <a:stretch>
            <a:fillRect/>
          </a:stretch>
        </p:blipFill>
        <p:spPr>
          <a:xfrm>
            <a:off x="548640" y="2013170"/>
            <a:ext cx="5852160" cy="3197421"/>
          </a:xfrm>
          <a:prstGeom prst="rect">
            <a:avLst/>
          </a:prstGeom>
        </p:spPr>
      </p:pic>
      <p:sp>
        <p:nvSpPr>
          <p:cNvPr id="6" name="Shape 3"/>
          <p:cNvSpPr/>
          <p:nvPr/>
        </p:nvSpPr>
        <p:spPr>
          <a:xfrm>
            <a:off x="6583680" y="3383280"/>
            <a:ext cx="457200" cy="502920"/>
          </a:xfrm>
          <a:prstGeom prst="rightArrow">
            <a:avLst/>
          </a:prstGeom>
          <a:solidFill>
            <a:srgbClr val="E3710A"/>
          </a:solidFill>
          <a:ln w="12700">
            <a:solidFill>
              <a:srgbClr val="E3710A"/>
            </a:solidFill>
            <a:prstDash val="solid"/>
          </a:ln>
        </p:spPr>
      </p:sp>
      <p:sp>
        <p:nvSpPr>
          <p:cNvPr id="7" name="Shape 4"/>
          <p:cNvSpPr/>
          <p:nvPr/>
        </p:nvSpPr>
        <p:spPr>
          <a:xfrm>
            <a:off x="7420034" y="1737360"/>
            <a:ext cx="4026747" cy="3749040"/>
          </a:xfrm>
          <a:prstGeom prst="rect">
            <a:avLst/>
          </a:prstGeom>
          <a:solidFill>
            <a:srgbClr val="FFFFFF"/>
          </a:solidFill>
          <a:ln w="9525">
            <a:solidFill>
              <a:srgbClr val="D5DAE1"/>
            </a:solidFill>
            <a:prstDash val="solid"/>
          </a:ln>
          <a:effectLst>
            <a:outerShdw sx="100000" sy="100000" kx="0" ky="0" algn="bl" rotWithShape="0" blurRad="127000" dist="38100" dir="5400000">
              <a:srgbClr val="000000">
                <a:alpha val="15000"/>
              </a:srgbClr>
            </a:outerShdw>
          </a:effectLst>
        </p:spPr>
      </p:sp>
      <p:pic>
        <p:nvPicPr>
          <p:cNvPr id="8" name="Image 1" descr="/private/tmp/claude-501/-Users-mark-dev-dd-transactions/f282b57c-e8e7-4c69-b84a-ecba442adf8a/scratchpad/crops/dwrs-validation.png">    </p:cNvPr>
          <p:cNvPicPr>
            <a:picLocks noChangeAspect="1"/>
          </p:cNvPicPr>
          <p:nvPr/>
        </p:nvPicPr>
        <p:blipFill>
          <a:blip r:embed="rId2"/>
          <a:stretch>
            <a:fillRect/>
          </a:stretch>
        </p:blipFill>
        <p:spPr>
          <a:xfrm>
            <a:off x="7420034" y="1737360"/>
            <a:ext cx="4026747" cy="3749040"/>
          </a:xfrm>
          <a:prstGeom prst="rect">
            <a:avLst/>
          </a:prstGeom>
        </p:spPr>
      </p:pic>
      <p:sp>
        <p:nvSpPr>
          <p:cNvPr id="9" name="Text 5"/>
          <p:cNvSpPr txBox="1"/>
          <p:nvPr/>
        </p:nvSpPr>
        <p:spPr>
          <a:xfrm>
            <a:off x="548640" y="5669280"/>
            <a:ext cx="5852160" cy="365760"/>
          </a:xfrm>
          <a:prstGeom prst="rect">
            <a:avLst/>
          </a:prstGeom>
          <a:noFill/>
          <a:ln/>
        </p:spPr>
        <p:txBody>
          <a:bodyPr wrap="square" lIns="0" tIns="0" rIns="0" bIns="0" rtlCol="0" anchor="ctr"/>
          <a:lstStyle/>
          <a:p>
            <a:pPr indent="0" marL="0">
              <a:buNone/>
            </a:pPr>
            <a:r>
              <a:rPr lang="en-US" sz="1500" b="1" dirty="0">
                <a:solidFill>
                  <a:srgbClr val="1B2536"/>
                </a:solidFill>
                <a:latin typeface="Calibri" pitchFamily="34" charset="0"/>
                <a:ea typeface="Calibri" pitchFamily="34" charset="-122"/>
                <a:cs typeface="Calibri" pitchFamily="34" charset="-120"/>
              </a:rPr>
              <a:t>Editor: </a:t>
            </a:r>
            <a:pPr indent="0" marL="0">
              <a:buNone/>
            </a:pPr>
            <a:r>
              <a:rPr lang="en-US" sz="1500" dirty="0">
                <a:solidFill>
                  <a:srgbClr val="3C4A60"/>
                </a:solidFill>
                <a:latin typeface="Calibri" pitchFamily="34" charset="0"/>
                <a:ea typeface="Calibri" pitchFamily="34" charset="-122"/>
                <a:cs typeface="Calibri" pitchFamily="34" charset="-120"/>
              </a:rPr>
              <a:t>NWSD ID must be digits, exactly 8 long</a:t>
            </a:r>
            <a:endParaRPr lang="en-US" sz="1500" dirty="0"/>
          </a:p>
        </p:txBody>
      </p:sp>
      <p:sp>
        <p:nvSpPr>
          <p:cNvPr id="10" name="Text 6"/>
          <p:cNvSpPr txBox="1"/>
          <p:nvPr/>
        </p:nvSpPr>
        <p:spPr>
          <a:xfrm>
            <a:off x="7223760" y="5669280"/>
            <a:ext cx="4419295" cy="365760"/>
          </a:xfrm>
          <a:prstGeom prst="rect">
            <a:avLst/>
          </a:prstGeom>
          <a:noFill/>
          <a:ln/>
        </p:spPr>
        <p:txBody>
          <a:bodyPr wrap="square" lIns="0" tIns="0" rIns="0" bIns="0" rtlCol="0" anchor="ctr"/>
          <a:lstStyle/>
          <a:p>
            <a:pPr indent="0" marL="0">
              <a:buNone/>
            </a:pPr>
            <a:r>
              <a:rPr lang="en-US" sz="1500" b="1" dirty="0">
                <a:solidFill>
                  <a:srgbClr val="1B2536"/>
                </a:solidFill>
                <a:latin typeface="Calibri" pitchFamily="34" charset="0"/>
                <a:ea typeface="Calibri" pitchFamily="34" charset="-122"/>
                <a:cs typeface="Calibri" pitchFamily="34" charset="-120"/>
              </a:rPr>
              <a:t>Applicant: </a:t>
            </a:r>
            <a:pPr indent="0" marL="0">
              <a:buNone/>
            </a:pPr>
            <a:r>
              <a:rPr lang="en-US" sz="1500" dirty="0">
                <a:solidFill>
                  <a:srgbClr val="3C4A60"/>
                </a:solidFill>
                <a:latin typeface="Calibri" pitchFamily="34" charset="0"/>
                <a:ea typeface="Calibri" pitchFamily="34" charset="-122"/>
                <a:cs typeface="Calibri" pitchFamily="34" charset="-120"/>
              </a:rPr>
              <a:t>can’t submit until it’s right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Validation at every layer</a:t>
            </a:r>
            <a:endParaRPr lang="en-US" sz="3600" dirty="0"/>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Simple rules are declarative — complex logic plugs into the same pipeline</a:t>
            </a:r>
            <a:endParaRPr lang="en-US" sz="1600" dirty="0"/>
          </a:p>
        </p:txBody>
      </p:sp>
      <p:sp>
        <p:nvSpPr>
          <p:cNvPr id="4" name="Shape 2"/>
          <p:cNvSpPr/>
          <p:nvPr/>
        </p:nvSpPr>
        <p:spPr>
          <a:xfrm>
            <a:off x="548640" y="1737360"/>
            <a:ext cx="4937760" cy="2331720"/>
          </a:xfrm>
          <a:prstGeom prst="roundRect">
            <a:avLst>
              <a:gd name="adj" fmla="val 3137"/>
            </a:avLst>
          </a:prstGeom>
          <a:solidFill>
            <a:srgbClr val="0F1623"/>
          </a:solidFill>
          <a:ln w="12700">
            <a:solidFill>
              <a:srgbClr val="0F1623"/>
            </a:solidFill>
            <a:prstDash val="solid"/>
          </a:ln>
        </p:spPr>
      </p:sp>
      <p:sp>
        <p:nvSpPr>
          <p:cNvPr id="5" name="Text 3"/>
          <p:cNvSpPr txBox="1"/>
          <p:nvPr/>
        </p:nvSpPr>
        <p:spPr>
          <a:xfrm>
            <a:off x="777240" y="1874520"/>
            <a:ext cx="4480560" cy="274320"/>
          </a:xfrm>
          <a:prstGeom prst="rect">
            <a:avLst/>
          </a:prstGeom>
          <a:noFill/>
          <a:ln/>
        </p:spPr>
        <p:txBody>
          <a:bodyPr wrap="square" lIns="0" tIns="0" rIns="0" bIns="0" rtlCol="0" anchor="ctr"/>
          <a:lstStyle/>
          <a:p>
            <a:pPr indent="0" marL="0">
              <a:buNone/>
            </a:pPr>
            <a:r>
              <a:rPr lang="en-US" sz="1100" dirty="0">
                <a:solidFill>
                  <a:srgbClr val="7A8699"/>
                </a:solidFill>
                <a:latin typeface="Calibri" pitchFamily="34" charset="0"/>
                <a:ea typeface="Calibri" pitchFamily="34" charset="-122"/>
                <a:cs typeface="Calibri" pitchFamily="34" charset="-120"/>
              </a:rPr>
              <a:t>Field rule — from the live DWRS form</a:t>
            </a:r>
            <a:endParaRPr lang="en-US" sz="1100" dirty="0"/>
          </a:p>
        </p:txBody>
      </p:sp>
      <p:sp>
        <p:nvSpPr>
          <p:cNvPr id="6" name="Text 4"/>
          <p:cNvSpPr txBox="1"/>
          <p:nvPr/>
        </p:nvSpPr>
        <p:spPr>
          <a:xfrm>
            <a:off x="777240" y="2194560"/>
            <a:ext cx="4480560" cy="1737360"/>
          </a:xfrm>
          <a:prstGeom prst="rect">
            <a:avLst/>
          </a:prstGeom>
          <a:noFill/>
          <a:ln/>
        </p:spPr>
        <p:txBody>
          <a:bodyPr wrap="square" lIns="0" tIns="0" rIns="0" bIns="0" rtlCol="0" anchor="t"/>
          <a:lstStyle/>
          <a:p>
            <a:pPr indent="0" marL="0">
              <a:buNone/>
            </a:pPr>
            <a:r>
              <a:rPr lang="en-US" sz="1200" dirty="0">
                <a:solidFill>
                  <a:srgbClr val="D6DEEB"/>
                </a:solidFill>
                <a:latin typeface="Courier New" pitchFamily="34" charset="0"/>
                <a:ea typeface="Courier New" pitchFamily="34" charset="-122"/>
                <a:cs typeface="Courier New" pitchFamily="34" charset="-120"/>
              </a:rPr>
              <a:t>{ </a:t>
            </a:r>
            <a:pPr indent="0" marL="0">
              <a:buNone/>
            </a:pPr>
            <a:r>
              <a:rPr lang="en-US" sz="1200" dirty="0">
                <a:solidFill>
                  <a:srgbClr val="F4A259"/>
                </a:solidFill>
                <a:latin typeface="Courier New" pitchFamily="34" charset="0"/>
                <a:ea typeface="Courier New" pitchFamily="34" charset="-122"/>
                <a:cs typeface="Courier New" pitchFamily="34" charset="-120"/>
              </a:rPr>
              <a:t>"component"</a:t>
            </a:r>
            <a:pPr indent="0" marL="0">
              <a:buNone/>
            </a:pPr>
            <a:r>
              <a:rPr lang="en-US" sz="1200" dirty="0">
                <a:solidFill>
                  <a:srgbClr val="D6DEEB"/>
                </a:solidFill>
                <a:latin typeface="Courier New" pitchFamily="34" charset="0"/>
                <a:ea typeface="Courier New" pitchFamily="34" charset="-122"/>
                <a:cs typeface="Courier New" pitchFamily="34" charset="-120"/>
              </a:rPr>
              <a:t>: </a:t>
            </a:r>
            <a:pPr indent="0" marL="0">
              <a:buNone/>
            </a:pPr>
            <a:r>
              <a:rPr lang="en-US" sz="1200" dirty="0">
                <a:solidFill>
                  <a:srgbClr val="9CDCFE"/>
                </a:solidFill>
                <a:latin typeface="Courier New" pitchFamily="34" charset="0"/>
                <a:ea typeface="Courier New" pitchFamily="34" charset="-122"/>
                <a:cs typeface="Courier New" pitchFamily="34" charset="-120"/>
              </a:rPr>
              <a:t>"text-field"</a:t>
            </a:r>
            <a:pPr indent="0" marL="0">
              <a:buNone/>
            </a:pPr>
            <a:r>
              <a:rPr lang="en-US" sz="1200" dirty="0">
                <a:solidFill>
                  <a:srgbClr val="D6DEEB"/>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D6DEEB"/>
                </a:solidFill>
                <a:latin typeface="Courier New" pitchFamily="34" charset="0"/>
                <a:ea typeface="Courier New" pitchFamily="34" charset="-122"/>
                <a:cs typeface="Courier New" pitchFamily="34" charset="-120"/>
              </a:rPr>
              <a:t>  </a:t>
            </a:r>
            <a:pPr indent="0" marL="0">
              <a:buNone/>
            </a:pPr>
            <a:r>
              <a:rPr lang="en-US" sz="1200" dirty="0">
                <a:solidFill>
                  <a:srgbClr val="F4A259"/>
                </a:solidFill>
                <a:latin typeface="Courier New" pitchFamily="34" charset="0"/>
                <a:ea typeface="Courier New" pitchFamily="34" charset="-122"/>
                <a:cs typeface="Courier New" pitchFamily="34" charset="-120"/>
              </a:rPr>
              <a:t>"name"</a:t>
            </a:r>
            <a:pPr indent="0" marL="0">
              <a:buNone/>
            </a:pPr>
            <a:r>
              <a:rPr lang="en-US" sz="1200" dirty="0">
                <a:solidFill>
                  <a:srgbClr val="D6DEEB"/>
                </a:solidFill>
                <a:latin typeface="Courier New" pitchFamily="34" charset="0"/>
                <a:ea typeface="Courier New" pitchFamily="34" charset="-122"/>
                <a:cs typeface="Courier New" pitchFamily="34" charset="-120"/>
              </a:rPr>
              <a:t>: </a:t>
            </a:r>
            <a:pPr indent="0" marL="0">
              <a:buNone/>
            </a:pPr>
            <a:r>
              <a:rPr lang="en-US" sz="1200" dirty="0">
                <a:solidFill>
                  <a:srgbClr val="9CDCFE"/>
                </a:solidFill>
                <a:latin typeface="Courier New" pitchFamily="34" charset="0"/>
                <a:ea typeface="Courier New" pitchFamily="34" charset="-122"/>
                <a:cs typeface="Courier New" pitchFamily="34" charset="-120"/>
              </a:rPr>
              <a:t>"NWSD ID"</a:t>
            </a:r>
            <a:pPr indent="0" marL="0">
              <a:buNone/>
            </a:pPr>
            <a:r>
              <a:rPr lang="en-US" sz="1200" dirty="0">
                <a:solidFill>
                  <a:srgbClr val="D6DEEB"/>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D6DEEB"/>
                </a:solidFill>
                <a:latin typeface="Courier New" pitchFamily="34" charset="0"/>
                <a:ea typeface="Courier New" pitchFamily="34" charset="-122"/>
                <a:cs typeface="Courier New" pitchFamily="34" charset="-120"/>
              </a:rPr>
              <a:t>  </a:t>
            </a:r>
            <a:pPr indent="0" marL="0">
              <a:buNone/>
            </a:pPr>
            <a:r>
              <a:rPr lang="en-US" sz="1200" dirty="0">
                <a:solidFill>
                  <a:srgbClr val="F4A259"/>
                </a:solidFill>
                <a:latin typeface="Courier New" pitchFamily="34" charset="0"/>
                <a:ea typeface="Courier New" pitchFamily="34" charset="-122"/>
                <a:cs typeface="Courier New" pitchFamily="34" charset="-120"/>
              </a:rPr>
              <a:t>"validate"</a:t>
            </a:r>
            <a:pPr indent="0" marL="0">
              <a:buNone/>
            </a:pPr>
            <a:r>
              <a:rPr lang="en-US" sz="1200" dirty="0">
                <a:solidFill>
                  <a:srgbClr val="D6DEEB"/>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D6DEEB"/>
                </a:solidFill>
                <a:latin typeface="Courier New" pitchFamily="34" charset="0"/>
                <a:ea typeface="Courier New" pitchFamily="34" charset="-122"/>
                <a:cs typeface="Courier New" pitchFamily="34" charset="-120"/>
              </a:rPr>
              <a:t>    { </a:t>
            </a:r>
            <a:pPr indent="0" marL="0">
              <a:buNone/>
            </a:pPr>
            <a:r>
              <a:rPr lang="en-US" sz="1200" dirty="0">
                <a:solidFill>
                  <a:srgbClr val="F4A259"/>
                </a:solidFill>
                <a:latin typeface="Courier New" pitchFamily="34" charset="0"/>
                <a:ea typeface="Courier New" pitchFamily="34" charset="-122"/>
                <a:cs typeface="Courier New" pitchFamily="34" charset="-120"/>
              </a:rPr>
              <a:t>"type"</a:t>
            </a:r>
            <a:pPr indent="0" marL="0">
              <a:buNone/>
            </a:pPr>
            <a:r>
              <a:rPr lang="en-US" sz="1200" dirty="0">
                <a:solidFill>
                  <a:srgbClr val="D6DEEB"/>
                </a:solidFill>
                <a:latin typeface="Courier New" pitchFamily="34" charset="0"/>
                <a:ea typeface="Courier New" pitchFamily="34" charset="-122"/>
                <a:cs typeface="Courier New" pitchFamily="34" charset="-120"/>
              </a:rPr>
              <a:t>: </a:t>
            </a:r>
            <a:pPr indent="0" marL="0">
              <a:buNone/>
            </a:pPr>
            <a:r>
              <a:rPr lang="en-US" sz="1200" dirty="0">
                <a:solidFill>
                  <a:srgbClr val="9CDCFE"/>
                </a:solidFill>
                <a:latin typeface="Courier New" pitchFamily="34" charset="0"/>
                <a:ea typeface="Courier New" pitchFamily="34" charset="-122"/>
                <a:cs typeface="Courier New" pitchFamily="34" charset="-120"/>
              </a:rPr>
              <a:t>"pattern"</a:t>
            </a:r>
            <a:pPr indent="0" marL="0">
              <a:buNone/>
            </a:pPr>
            <a:r>
              <a:rPr lang="en-US" sz="1200" dirty="0">
                <a:solidFill>
                  <a:srgbClr val="D6DEEB"/>
                </a:solidFill>
                <a:latin typeface="Courier New" pitchFamily="34" charset="0"/>
                <a:ea typeface="Courier New" pitchFamily="34" charset="-122"/>
                <a:cs typeface="Courier New" pitchFamily="34" charset="-120"/>
              </a:rPr>
              <a:t>, </a:t>
            </a:r>
            <a:pPr indent="0" marL="0">
              <a:buNone/>
            </a:pPr>
            <a:r>
              <a:rPr lang="en-US" sz="1200" dirty="0">
                <a:solidFill>
                  <a:srgbClr val="F4A259"/>
                </a:solidFill>
                <a:latin typeface="Courier New" pitchFamily="34" charset="0"/>
                <a:ea typeface="Courier New" pitchFamily="34" charset="-122"/>
                <a:cs typeface="Courier New" pitchFamily="34" charset="-120"/>
              </a:rPr>
              <a:t>"pattern"</a:t>
            </a:r>
            <a:pPr indent="0" marL="0">
              <a:buNone/>
            </a:pPr>
            <a:r>
              <a:rPr lang="en-US" sz="1200" dirty="0">
                <a:solidFill>
                  <a:srgbClr val="D6DEEB"/>
                </a:solidFill>
                <a:latin typeface="Courier New" pitchFamily="34" charset="0"/>
                <a:ea typeface="Courier New" pitchFamily="34" charset="-122"/>
                <a:cs typeface="Courier New" pitchFamily="34" charset="-120"/>
              </a:rPr>
              <a:t>: </a:t>
            </a:r>
            <a:pPr indent="0" marL="0">
              <a:buNone/>
            </a:pPr>
            <a:r>
              <a:rPr lang="en-US" sz="1200" dirty="0">
                <a:solidFill>
                  <a:srgbClr val="9CDCFE"/>
                </a:solidFill>
                <a:latin typeface="Courier New" pitchFamily="34" charset="0"/>
                <a:ea typeface="Courier New" pitchFamily="34" charset="-122"/>
                <a:cs typeface="Courier New" pitchFamily="34" charset="-120"/>
              </a:rPr>
              <a:t>"[0-9]+"</a:t>
            </a:r>
            <a:pPr indent="0" marL="0">
              <a:buNone/>
            </a:pPr>
            <a:r>
              <a:rPr lang="en-US" sz="1200" dirty="0">
                <a:solidFill>
                  <a:srgbClr val="D6DEEB"/>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D6DEEB"/>
                </a:solidFill>
                <a:latin typeface="Courier New" pitchFamily="34" charset="0"/>
                <a:ea typeface="Courier New" pitchFamily="34" charset="-122"/>
                <a:cs typeface="Courier New" pitchFamily="34" charset="-120"/>
              </a:rPr>
              <a:t>    { </a:t>
            </a:r>
            <a:pPr indent="0" marL="0">
              <a:buNone/>
            </a:pPr>
            <a:r>
              <a:rPr lang="en-US" sz="1200" dirty="0">
                <a:solidFill>
                  <a:srgbClr val="F4A259"/>
                </a:solidFill>
                <a:latin typeface="Courier New" pitchFamily="34" charset="0"/>
                <a:ea typeface="Courier New" pitchFamily="34" charset="-122"/>
                <a:cs typeface="Courier New" pitchFamily="34" charset="-120"/>
              </a:rPr>
              <a:t>"type"</a:t>
            </a:r>
            <a:pPr indent="0" marL="0">
              <a:buNone/>
            </a:pPr>
            <a:r>
              <a:rPr lang="en-US" sz="1200" dirty="0">
                <a:solidFill>
                  <a:srgbClr val="D6DEEB"/>
                </a:solidFill>
                <a:latin typeface="Courier New" pitchFamily="34" charset="0"/>
                <a:ea typeface="Courier New" pitchFamily="34" charset="-122"/>
                <a:cs typeface="Courier New" pitchFamily="34" charset="-120"/>
              </a:rPr>
              <a:t>: </a:t>
            </a:r>
            <a:pPr indent="0" marL="0">
              <a:buNone/>
            </a:pPr>
            <a:r>
              <a:rPr lang="en-US" sz="1200" dirty="0">
                <a:solidFill>
                  <a:srgbClr val="9CDCFE"/>
                </a:solidFill>
                <a:latin typeface="Courier New" pitchFamily="34" charset="0"/>
                <a:ea typeface="Courier New" pitchFamily="34" charset="-122"/>
                <a:cs typeface="Courier New" pitchFamily="34" charset="-120"/>
              </a:rPr>
              <a:t>"exact-length"</a:t>
            </a:r>
            <a:pPr indent="0" marL="0">
              <a:buNone/>
            </a:pPr>
            <a:r>
              <a:rPr lang="en-US" sz="1200" dirty="0">
                <a:solidFill>
                  <a:srgbClr val="D6DEEB"/>
                </a:solidFill>
                <a:latin typeface="Courier New" pitchFamily="34" charset="0"/>
                <a:ea typeface="Courier New" pitchFamily="34" charset="-122"/>
                <a:cs typeface="Courier New" pitchFamily="34" charset="-120"/>
              </a:rPr>
              <a:t>, </a:t>
            </a:r>
            <a:pPr indent="0" marL="0">
              <a:buNone/>
            </a:pPr>
            <a:r>
              <a:rPr lang="en-US" sz="1200" dirty="0">
                <a:solidFill>
                  <a:srgbClr val="F4A259"/>
                </a:solidFill>
                <a:latin typeface="Courier New" pitchFamily="34" charset="0"/>
                <a:ea typeface="Courier New" pitchFamily="34" charset="-122"/>
                <a:cs typeface="Courier New" pitchFamily="34" charset="-120"/>
              </a:rPr>
              <a:t>"threshold"</a:t>
            </a:r>
            <a:pPr indent="0" marL="0">
              <a:buNone/>
            </a:pPr>
            <a:r>
              <a:rPr lang="en-US" sz="1200" dirty="0">
                <a:solidFill>
                  <a:srgbClr val="D6DEEB"/>
                </a:solidFill>
                <a:latin typeface="Courier New" pitchFamily="34" charset="0"/>
                <a:ea typeface="Courier New" pitchFamily="34" charset="-122"/>
                <a:cs typeface="Courier New" pitchFamily="34" charset="-120"/>
              </a:rPr>
              <a:t>: 8 }</a:t>
            </a:r>
            <a:endParaRPr lang="en-US" sz="1200" dirty="0"/>
          </a:p>
          <a:p>
            <a:pPr indent="0" marL="0">
              <a:buNone/>
            </a:pPr>
            <a:r>
              <a:rPr lang="en-US" sz="1200" dirty="0">
                <a:solidFill>
                  <a:srgbClr val="D6DEEB"/>
                </a:solidFill>
                <a:latin typeface="Courier New" pitchFamily="34" charset="0"/>
                <a:ea typeface="Courier New" pitchFamily="34" charset="-122"/>
                <a:cs typeface="Courier New" pitchFamily="34" charset="-120"/>
              </a:rPr>
              <a:t>  ] }</a:t>
            </a:r>
            <a:endParaRPr lang="en-US" sz="1200" dirty="0"/>
          </a:p>
        </p:txBody>
      </p:sp>
      <p:sp>
        <p:nvSpPr>
          <p:cNvPr id="7" name="Text 5"/>
          <p:cNvSpPr txBox="1"/>
          <p:nvPr/>
        </p:nvSpPr>
        <p:spPr>
          <a:xfrm>
            <a:off x="548640" y="4251960"/>
            <a:ext cx="4937760" cy="731520"/>
          </a:xfrm>
          <a:prstGeom prst="rect">
            <a:avLst/>
          </a:prstGeom>
          <a:noFill/>
          <a:ln/>
        </p:spPr>
        <p:txBody>
          <a:bodyPr wrap="square" lIns="0" tIns="0" rIns="0" bIns="0" rtlCol="0" anchor="ctr"/>
          <a:lstStyle/>
          <a:p>
            <a:pPr indent="0" marL="0">
              <a:buNone/>
            </a:pPr>
            <a:r>
              <a:rPr lang="en-US" sz="1400" dirty="0">
                <a:solidFill>
                  <a:srgbClr val="3C4A60"/>
                </a:solidFill>
                <a:latin typeface="Calibri" pitchFamily="34" charset="0"/>
                <a:ea typeface="Calibri" pitchFamily="34" charset="-122"/>
                <a:cs typeface="Calibri" pitchFamily="34" charset="-120"/>
              </a:rPr>
              <a:t>Required · pattern · min / max length · exact length · numeric ranges · URL · conditional visibility</a:t>
            </a:r>
            <a:endParaRPr lang="en-US" sz="1400" dirty="0"/>
          </a:p>
        </p:txBody>
      </p:sp>
      <p:sp>
        <p:nvSpPr>
          <p:cNvPr id="8" name="Shape 6"/>
          <p:cNvSpPr/>
          <p:nvPr/>
        </p:nvSpPr>
        <p:spPr>
          <a:xfrm>
            <a:off x="5943600" y="1737360"/>
            <a:ext cx="5699455" cy="960120"/>
          </a:xfrm>
          <a:prstGeom prst="roundRect">
            <a:avLst>
              <a:gd name="adj" fmla="val 7619"/>
            </a:avLst>
          </a:prstGeom>
          <a:solidFill>
            <a:srgbClr val="F4F4F4"/>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9" name="Shape 7"/>
          <p:cNvSpPr/>
          <p:nvPr/>
        </p:nvSpPr>
        <p:spPr>
          <a:xfrm>
            <a:off x="6172200" y="1920240"/>
            <a:ext cx="594360" cy="594360"/>
          </a:xfrm>
          <a:prstGeom prst="ellipse">
            <a:avLst/>
          </a:prstGeom>
          <a:solidFill>
            <a:srgbClr val="1B2536"/>
          </a:solidFill>
          <a:ln w="12700">
            <a:solidFill>
              <a:srgbClr val="1B2536"/>
            </a:solidFill>
            <a:prstDash val="solid"/>
          </a:ln>
        </p:spPr>
      </p:sp>
      <p:pic>
        <p:nvPicPr>
          <p:cNvPr id="10" name="Image 0" descr="preencoded.png">    </p:cNvPr>
          <p:cNvPicPr>
            <a:picLocks noChangeAspect="1"/>
          </p:cNvPicPr>
          <p:nvPr/>
        </p:nvPicPr>
        <p:blipFill>
          <a:blip r:embed="rId1"/>
          <a:stretch>
            <a:fillRect/>
          </a:stretch>
        </p:blipFill>
        <p:spPr>
          <a:xfrm>
            <a:off x="6326734" y="2074774"/>
            <a:ext cx="285293" cy="285293"/>
          </a:xfrm>
          <a:prstGeom prst="rect">
            <a:avLst/>
          </a:prstGeom>
        </p:spPr>
      </p:pic>
      <p:sp>
        <p:nvSpPr>
          <p:cNvPr id="11" name="Text 8"/>
          <p:cNvSpPr txBox="1"/>
          <p:nvPr/>
        </p:nvSpPr>
        <p:spPr>
          <a:xfrm>
            <a:off x="6995160" y="1847088"/>
            <a:ext cx="4465015" cy="320040"/>
          </a:xfrm>
          <a:prstGeom prst="rect">
            <a:avLst/>
          </a:prstGeom>
          <a:noFill/>
          <a:ln/>
        </p:spPr>
        <p:txBody>
          <a:bodyPr wrap="square" lIns="0" tIns="0" rIns="0" bIns="0" rtlCol="0" anchor="ctr"/>
          <a:lstStyle/>
          <a:p>
            <a:pPr indent="0" marL="0">
              <a:buNone/>
            </a:pPr>
            <a:r>
              <a:rPr lang="en-US" sz="1600" b="1" dirty="0">
                <a:solidFill>
                  <a:srgbClr val="1B2536"/>
                </a:solidFill>
                <a:latin typeface="Cambria" pitchFamily="34" charset="0"/>
                <a:ea typeface="Cambria" pitchFamily="34" charset="-122"/>
                <a:cs typeface="Cambria" pitchFamily="34" charset="-120"/>
              </a:rPr>
              <a:t>Field</a:t>
            </a:r>
            <a:endParaRPr lang="en-US" sz="1600" dirty="0"/>
          </a:p>
        </p:txBody>
      </p:sp>
      <p:sp>
        <p:nvSpPr>
          <p:cNvPr id="12" name="Text 9"/>
          <p:cNvSpPr txBox="1"/>
          <p:nvPr/>
        </p:nvSpPr>
        <p:spPr>
          <a:xfrm>
            <a:off x="6995160" y="2167128"/>
            <a:ext cx="4465015" cy="457200"/>
          </a:xfrm>
          <a:prstGeom prst="rect">
            <a:avLst/>
          </a:prstGeom>
          <a:noFill/>
          <a:ln/>
        </p:spPr>
        <p:txBody>
          <a:bodyPr wrap="square" lIns="0" tIns="0" rIns="0" bIns="0" rtlCol="0" anchor="t"/>
          <a:lstStyle/>
          <a:p>
            <a:pPr indent="0" marL="0">
              <a:buNone/>
            </a:pPr>
            <a:r>
              <a:rPr lang="en-US" sz="1250" dirty="0">
                <a:solidFill>
                  <a:srgbClr val="3C4A60"/>
                </a:solidFill>
                <a:latin typeface="Calibri" pitchFamily="34" charset="0"/>
                <a:ea typeface="Calibri" pitchFamily="34" charset="-122"/>
                <a:cs typeface="Calibri" pitchFamily="34" charset="-120"/>
              </a:rPr>
              <a:t>Formats, lengths, patterns, required — instant feedback as the user types</a:t>
            </a:r>
            <a:endParaRPr lang="en-US" sz="1250" dirty="0"/>
          </a:p>
        </p:txBody>
      </p:sp>
      <p:sp>
        <p:nvSpPr>
          <p:cNvPr id="13" name="Shape 10"/>
          <p:cNvSpPr/>
          <p:nvPr/>
        </p:nvSpPr>
        <p:spPr>
          <a:xfrm>
            <a:off x="5943600" y="2852928"/>
            <a:ext cx="5699455" cy="960120"/>
          </a:xfrm>
          <a:prstGeom prst="roundRect">
            <a:avLst>
              <a:gd name="adj" fmla="val 7619"/>
            </a:avLst>
          </a:prstGeom>
          <a:solidFill>
            <a:srgbClr val="F4F4F4"/>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14" name="Shape 11"/>
          <p:cNvSpPr/>
          <p:nvPr/>
        </p:nvSpPr>
        <p:spPr>
          <a:xfrm>
            <a:off x="6172200" y="3035808"/>
            <a:ext cx="594360" cy="594360"/>
          </a:xfrm>
          <a:prstGeom prst="ellipse">
            <a:avLst/>
          </a:prstGeom>
          <a:solidFill>
            <a:srgbClr val="1B2536"/>
          </a:solidFill>
          <a:ln w="12700">
            <a:solidFill>
              <a:srgbClr val="1B2536"/>
            </a:solidFill>
            <a:prstDash val="solid"/>
          </a:ln>
        </p:spPr>
      </p:sp>
      <p:pic>
        <p:nvPicPr>
          <p:cNvPr id="15" name="Image 1" descr="preencoded.png">    </p:cNvPr>
          <p:cNvPicPr>
            <a:picLocks noChangeAspect="1"/>
          </p:cNvPicPr>
          <p:nvPr/>
        </p:nvPicPr>
        <p:blipFill>
          <a:blip r:embed="rId2"/>
          <a:stretch>
            <a:fillRect/>
          </a:stretch>
        </p:blipFill>
        <p:spPr>
          <a:xfrm>
            <a:off x="6326734" y="3190342"/>
            <a:ext cx="285293" cy="285293"/>
          </a:xfrm>
          <a:prstGeom prst="rect">
            <a:avLst/>
          </a:prstGeom>
        </p:spPr>
      </p:pic>
      <p:sp>
        <p:nvSpPr>
          <p:cNvPr id="16" name="Text 12"/>
          <p:cNvSpPr txBox="1"/>
          <p:nvPr/>
        </p:nvSpPr>
        <p:spPr>
          <a:xfrm>
            <a:off x="6995160" y="2962656"/>
            <a:ext cx="4465015" cy="320040"/>
          </a:xfrm>
          <a:prstGeom prst="rect">
            <a:avLst/>
          </a:prstGeom>
          <a:noFill/>
          <a:ln/>
        </p:spPr>
        <p:txBody>
          <a:bodyPr wrap="square" lIns="0" tIns="0" rIns="0" bIns="0" rtlCol="0" anchor="ctr"/>
          <a:lstStyle/>
          <a:p>
            <a:pPr indent="0" marL="0">
              <a:buNone/>
            </a:pPr>
            <a:r>
              <a:rPr lang="en-US" sz="1600" b="1" dirty="0">
                <a:solidFill>
                  <a:srgbClr val="1B2536"/>
                </a:solidFill>
                <a:latin typeface="Cambria" pitchFamily="34" charset="0"/>
                <a:ea typeface="Cambria" pitchFamily="34" charset="-122"/>
                <a:cs typeface="Cambria" pitchFamily="34" charset="-120"/>
              </a:rPr>
              <a:t>Step &amp; cross-field</a:t>
            </a:r>
            <a:endParaRPr lang="en-US" sz="1600" dirty="0"/>
          </a:p>
        </p:txBody>
      </p:sp>
      <p:sp>
        <p:nvSpPr>
          <p:cNvPr id="17" name="Text 13"/>
          <p:cNvSpPr txBox="1"/>
          <p:nvPr/>
        </p:nvSpPr>
        <p:spPr>
          <a:xfrm>
            <a:off x="6995160" y="3282696"/>
            <a:ext cx="4465015" cy="457200"/>
          </a:xfrm>
          <a:prstGeom prst="rect">
            <a:avLst/>
          </a:prstGeom>
          <a:noFill/>
          <a:ln/>
        </p:spPr>
        <p:txBody>
          <a:bodyPr wrap="square" lIns="0" tIns="0" rIns="0" bIns="0" rtlCol="0" anchor="t"/>
          <a:lstStyle/>
          <a:p>
            <a:pPr indent="0" marL="0">
              <a:buNone/>
            </a:pPr>
            <a:r>
              <a:rPr lang="en-US" sz="1250" dirty="0">
                <a:solidFill>
                  <a:srgbClr val="3C4A60"/>
                </a:solidFill>
                <a:latin typeface="Calibri" pitchFamily="34" charset="0"/>
                <a:ea typeface="Calibri" pitchFamily="34" charset="-122"/>
                <a:cs typeface="Calibri" pitchFamily="34" charset="-120"/>
              </a:rPr>
              <a:t>Show / hide on answers, branch paths, compare fields against each other</a:t>
            </a:r>
            <a:endParaRPr lang="en-US" sz="1250" dirty="0"/>
          </a:p>
        </p:txBody>
      </p:sp>
      <p:sp>
        <p:nvSpPr>
          <p:cNvPr id="18" name="Shape 14"/>
          <p:cNvSpPr/>
          <p:nvPr/>
        </p:nvSpPr>
        <p:spPr>
          <a:xfrm>
            <a:off x="5943600" y="3968496"/>
            <a:ext cx="5699455" cy="960120"/>
          </a:xfrm>
          <a:prstGeom prst="roundRect">
            <a:avLst>
              <a:gd name="adj" fmla="val 7619"/>
            </a:avLst>
          </a:prstGeom>
          <a:solidFill>
            <a:srgbClr val="FDF1E6"/>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19" name="Shape 15"/>
          <p:cNvSpPr/>
          <p:nvPr/>
        </p:nvSpPr>
        <p:spPr>
          <a:xfrm>
            <a:off x="6172200" y="4151376"/>
            <a:ext cx="594360" cy="594360"/>
          </a:xfrm>
          <a:prstGeom prst="ellipse">
            <a:avLst/>
          </a:prstGeom>
          <a:solidFill>
            <a:srgbClr val="E3710A"/>
          </a:solidFill>
          <a:ln w="12700">
            <a:solidFill>
              <a:srgbClr val="E3710A"/>
            </a:solidFill>
            <a:prstDash val="solid"/>
          </a:ln>
        </p:spPr>
      </p:sp>
      <p:pic>
        <p:nvPicPr>
          <p:cNvPr id="20" name="Image 2" descr="preencoded.png">    </p:cNvPr>
          <p:cNvPicPr>
            <a:picLocks noChangeAspect="1"/>
          </p:cNvPicPr>
          <p:nvPr/>
        </p:nvPicPr>
        <p:blipFill>
          <a:blip r:embed="rId3"/>
          <a:stretch>
            <a:fillRect/>
          </a:stretch>
        </p:blipFill>
        <p:spPr>
          <a:xfrm>
            <a:off x="6326734" y="4305910"/>
            <a:ext cx="285293" cy="285293"/>
          </a:xfrm>
          <a:prstGeom prst="rect">
            <a:avLst/>
          </a:prstGeom>
        </p:spPr>
      </p:pic>
      <p:sp>
        <p:nvSpPr>
          <p:cNvPr id="21" name="Text 16"/>
          <p:cNvSpPr txBox="1"/>
          <p:nvPr/>
        </p:nvSpPr>
        <p:spPr>
          <a:xfrm>
            <a:off x="6995160" y="4078224"/>
            <a:ext cx="4465015" cy="320040"/>
          </a:xfrm>
          <a:prstGeom prst="rect">
            <a:avLst/>
          </a:prstGeom>
          <a:noFill/>
          <a:ln/>
        </p:spPr>
        <p:txBody>
          <a:bodyPr wrap="square" lIns="0" tIns="0" rIns="0" bIns="0" rtlCol="0" anchor="ctr"/>
          <a:lstStyle/>
          <a:p>
            <a:pPr indent="0" marL="0">
              <a:buNone/>
            </a:pPr>
            <a:r>
              <a:rPr lang="en-US" sz="1600" b="1" dirty="0">
                <a:solidFill>
                  <a:srgbClr val="1B2536"/>
                </a:solidFill>
                <a:latin typeface="Cambria" pitchFamily="34" charset="0"/>
                <a:ea typeface="Cambria" pitchFamily="34" charset="-122"/>
                <a:cs typeface="Cambria" pitchFamily="34" charset="-120"/>
              </a:rPr>
              <a:t>Server-side</a:t>
            </a:r>
            <a:endParaRPr lang="en-US" sz="1600" dirty="0"/>
          </a:p>
        </p:txBody>
      </p:sp>
      <p:sp>
        <p:nvSpPr>
          <p:cNvPr id="22" name="Text 17"/>
          <p:cNvSpPr txBox="1"/>
          <p:nvPr/>
        </p:nvSpPr>
        <p:spPr>
          <a:xfrm>
            <a:off x="6995160" y="4398264"/>
            <a:ext cx="4465015" cy="457200"/>
          </a:xfrm>
          <a:prstGeom prst="rect">
            <a:avLst/>
          </a:prstGeom>
          <a:noFill/>
          <a:ln/>
        </p:spPr>
        <p:txBody>
          <a:bodyPr wrap="square" lIns="0" tIns="0" rIns="0" bIns="0" rtlCol="0" anchor="t"/>
          <a:lstStyle/>
          <a:p>
            <a:pPr indent="0" marL="0">
              <a:buNone/>
            </a:pPr>
            <a:r>
              <a:rPr lang="en-US" sz="1250" dirty="0">
                <a:solidFill>
                  <a:srgbClr val="3C4A60"/>
                </a:solidFill>
                <a:latin typeface="Calibri" pitchFamily="34" charset="0"/>
                <a:ea typeface="Calibri" pitchFamily="34" charset="-122"/>
                <a:cs typeface="Calibri" pitchFamily="34" charset="-120"/>
              </a:rPr>
              <a:t>Re-validate every submission; enforce business rules the browser can’t be trusted with</a:t>
            </a:r>
            <a:endParaRPr lang="en-US" sz="1250" dirty="0"/>
          </a:p>
        </p:txBody>
      </p:sp>
      <p:sp>
        <p:nvSpPr>
          <p:cNvPr id="23" name="Shape 18"/>
          <p:cNvSpPr/>
          <p:nvPr/>
        </p:nvSpPr>
        <p:spPr>
          <a:xfrm>
            <a:off x="5943600" y="5084064"/>
            <a:ext cx="5699455" cy="960120"/>
          </a:xfrm>
          <a:prstGeom prst="roundRect">
            <a:avLst>
              <a:gd name="adj" fmla="val 7619"/>
            </a:avLst>
          </a:prstGeom>
          <a:solidFill>
            <a:srgbClr val="FDF1E6"/>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24" name="Shape 19"/>
          <p:cNvSpPr/>
          <p:nvPr/>
        </p:nvSpPr>
        <p:spPr>
          <a:xfrm>
            <a:off x="6172200" y="5266944"/>
            <a:ext cx="594360" cy="594360"/>
          </a:xfrm>
          <a:prstGeom prst="ellipse">
            <a:avLst/>
          </a:prstGeom>
          <a:solidFill>
            <a:srgbClr val="E3710A"/>
          </a:solidFill>
          <a:ln w="12700">
            <a:solidFill>
              <a:srgbClr val="E3710A"/>
            </a:solidFill>
            <a:prstDash val="solid"/>
          </a:ln>
        </p:spPr>
      </p:sp>
      <p:pic>
        <p:nvPicPr>
          <p:cNvPr id="25" name="Image 3" descr="preencoded.png">    </p:cNvPr>
          <p:cNvPicPr>
            <a:picLocks noChangeAspect="1"/>
          </p:cNvPicPr>
          <p:nvPr/>
        </p:nvPicPr>
        <p:blipFill>
          <a:blip r:embed="rId4"/>
          <a:stretch>
            <a:fillRect/>
          </a:stretch>
        </p:blipFill>
        <p:spPr>
          <a:xfrm>
            <a:off x="6326734" y="5421478"/>
            <a:ext cx="285293" cy="285293"/>
          </a:xfrm>
          <a:prstGeom prst="rect">
            <a:avLst/>
          </a:prstGeom>
        </p:spPr>
      </p:pic>
      <p:sp>
        <p:nvSpPr>
          <p:cNvPr id="26" name="Text 20"/>
          <p:cNvSpPr txBox="1"/>
          <p:nvPr/>
        </p:nvSpPr>
        <p:spPr>
          <a:xfrm>
            <a:off x="6995160" y="5193792"/>
            <a:ext cx="4465015" cy="320040"/>
          </a:xfrm>
          <a:prstGeom prst="rect">
            <a:avLst/>
          </a:prstGeom>
          <a:noFill/>
          <a:ln/>
        </p:spPr>
        <p:txBody>
          <a:bodyPr wrap="square" lIns="0" tIns="0" rIns="0" bIns="0" rtlCol="0" anchor="ctr"/>
          <a:lstStyle/>
          <a:p>
            <a:pPr indent="0" marL="0">
              <a:buNone/>
            </a:pPr>
            <a:r>
              <a:rPr lang="en-US" sz="1600" b="1" dirty="0">
                <a:solidFill>
                  <a:srgbClr val="1B2536"/>
                </a:solidFill>
                <a:latin typeface="Cambria" pitchFamily="34" charset="0"/>
                <a:ea typeface="Cambria" pitchFamily="34" charset="-122"/>
                <a:cs typeface="Cambria" pitchFamily="34" charset="-120"/>
              </a:rPr>
              <a:t>External systems</a:t>
            </a:r>
            <a:endParaRPr lang="en-US" sz="1600" dirty="0"/>
          </a:p>
        </p:txBody>
      </p:sp>
      <p:sp>
        <p:nvSpPr>
          <p:cNvPr id="27" name="Text 21"/>
          <p:cNvSpPr txBox="1"/>
          <p:nvPr/>
        </p:nvSpPr>
        <p:spPr>
          <a:xfrm>
            <a:off x="6995160" y="5513832"/>
            <a:ext cx="4465015" cy="457200"/>
          </a:xfrm>
          <a:prstGeom prst="rect">
            <a:avLst/>
          </a:prstGeom>
          <a:noFill/>
          <a:ln/>
        </p:spPr>
        <p:txBody>
          <a:bodyPr wrap="square" lIns="0" tIns="0" rIns="0" bIns="0" rtlCol="0" anchor="t"/>
          <a:lstStyle/>
          <a:p>
            <a:pPr indent="0" marL="0">
              <a:buNone/>
            </a:pPr>
            <a:r>
              <a:rPr lang="en-US" sz="1250" dirty="0">
                <a:solidFill>
                  <a:srgbClr val="3C4A60"/>
                </a:solidFill>
                <a:latin typeface="Calibri" pitchFamily="34" charset="0"/>
                <a:ea typeface="Calibri" pitchFamily="34" charset="-122"/>
                <a:cs typeface="Calibri" pitchFamily="34" charset="-120"/>
              </a:rPr>
              <a:t>Look up registries, verify identity, check eligibility before a step completes</a:t>
            </a:r>
            <a:endParaRPr lang="en-US" sz="1250" dirty="0"/>
          </a:p>
        </p:txBody>
      </p:sp>
      <p:sp>
        <p:nvSpPr>
          <p:cNvPr id="28" name="Text 22"/>
          <p:cNvSpPr txBox="1"/>
          <p:nvPr/>
        </p:nvSpPr>
        <p:spPr>
          <a:xfrm>
            <a:off x="548640" y="5257800"/>
            <a:ext cx="4937760" cy="822960"/>
          </a:xfrm>
          <a:prstGeom prst="rect">
            <a:avLst/>
          </a:prstGeom>
          <a:noFill/>
          <a:ln/>
        </p:spPr>
        <p:txBody>
          <a:bodyPr wrap="square" lIns="0" tIns="0" rIns="0" bIns="0" rtlCol="0" anchor="ctr"/>
          <a:lstStyle/>
          <a:p>
            <a:pPr indent="0" marL="0">
              <a:buNone/>
            </a:pPr>
            <a:r>
              <a:rPr lang="en-US" sz="1800" i="1" dirty="0">
                <a:solidFill>
                  <a:srgbClr val="9D5B00"/>
                </a:solidFill>
                <a:latin typeface="Cambria" pitchFamily="34" charset="0"/>
                <a:ea typeface="Cambria" pitchFamily="34" charset="-122"/>
                <a:cs typeface="Cambria" pitchFamily="34" charset="-120"/>
              </a:rPr>
              <a:t>The schema declares the rule. The engine decides where it runs.</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4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Integrating inside the flow: payments</a:t>
            </a:r>
            <a:endParaRPr lang="en-US" sz="3600" dirty="0"/>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A payment is just another step in the schema</a:t>
            </a:r>
            <a:endParaRPr lang="en-US" sz="1600" dirty="0"/>
          </a:p>
        </p:txBody>
      </p:sp>
      <p:sp>
        <p:nvSpPr>
          <p:cNvPr id="4" name="Shape 2"/>
          <p:cNvSpPr/>
          <p:nvPr/>
        </p:nvSpPr>
        <p:spPr>
          <a:xfrm>
            <a:off x="548640" y="2426313"/>
            <a:ext cx="3566160" cy="2828334"/>
          </a:xfrm>
          <a:prstGeom prst="rect">
            <a:avLst/>
          </a:prstGeom>
          <a:solidFill>
            <a:srgbClr val="FFFFFF"/>
          </a:solidFill>
          <a:ln w="9525">
            <a:solidFill>
              <a:srgbClr val="D5DAE1"/>
            </a:solidFill>
            <a:prstDash val="solid"/>
          </a:ln>
          <a:effectLst>
            <a:outerShdw sx="100000" sy="100000" kx="0" ky="0" algn="bl" rotWithShape="0" blurRad="127000" dist="38100" dir="5400000">
              <a:srgbClr val="000000">
                <a:alpha val="15000"/>
              </a:srgbClr>
            </a:outerShdw>
          </a:effectLst>
        </p:spPr>
      </p:sp>
      <p:pic>
        <p:nvPicPr>
          <p:cNvPr id="5" name="Image 0" descr="/private/tmp/claude-501/-Users-mark-dev-dd-transactions/f282b57c-e8e7-4c69-b84a-ecba442adf8a/scratchpad/crops/pay-summary.png">    </p:cNvPr>
          <p:cNvPicPr>
            <a:picLocks noChangeAspect="1"/>
          </p:cNvPicPr>
          <p:nvPr/>
        </p:nvPicPr>
        <p:blipFill>
          <a:blip r:embed="rId1"/>
          <a:stretch>
            <a:fillRect/>
          </a:stretch>
        </p:blipFill>
        <p:spPr>
          <a:xfrm>
            <a:off x="548640" y="2426313"/>
            <a:ext cx="3566160" cy="2828334"/>
          </a:xfrm>
          <a:prstGeom prst="rect">
            <a:avLst/>
          </a:prstGeom>
        </p:spPr>
      </p:pic>
      <p:sp>
        <p:nvSpPr>
          <p:cNvPr id="6" name="Shape 3"/>
          <p:cNvSpPr/>
          <p:nvPr/>
        </p:nvSpPr>
        <p:spPr>
          <a:xfrm>
            <a:off x="4434840" y="1737360"/>
            <a:ext cx="3566160" cy="2240280"/>
          </a:xfrm>
          <a:prstGeom prst="roundRect">
            <a:avLst>
              <a:gd name="adj" fmla="val 3265"/>
            </a:avLst>
          </a:prstGeom>
          <a:solidFill>
            <a:srgbClr val="0F1623"/>
          </a:solidFill>
          <a:ln w="12700">
            <a:solidFill>
              <a:srgbClr val="0F1623"/>
            </a:solidFill>
            <a:prstDash val="solid"/>
          </a:ln>
        </p:spPr>
      </p:sp>
      <p:sp>
        <p:nvSpPr>
          <p:cNvPr id="7" name="Text 4"/>
          <p:cNvSpPr txBox="1"/>
          <p:nvPr/>
        </p:nvSpPr>
        <p:spPr>
          <a:xfrm>
            <a:off x="4663440" y="1874520"/>
            <a:ext cx="3108960" cy="274320"/>
          </a:xfrm>
          <a:prstGeom prst="rect">
            <a:avLst/>
          </a:prstGeom>
          <a:noFill/>
          <a:ln/>
        </p:spPr>
        <p:txBody>
          <a:bodyPr wrap="square" lIns="0" tIns="0" rIns="0" bIns="0" rtlCol="0" anchor="ctr"/>
          <a:lstStyle/>
          <a:p>
            <a:pPr indent="0" marL="0">
              <a:buNone/>
            </a:pPr>
            <a:r>
              <a:rPr lang="en-US" sz="1100" dirty="0">
                <a:solidFill>
                  <a:srgbClr val="7A8699"/>
                </a:solidFill>
                <a:latin typeface="Calibri" pitchFamily="34" charset="0"/>
                <a:ea typeface="Calibri" pitchFamily="34" charset="-122"/>
                <a:cs typeface="Calibri" pitchFamily="34" charset="-120"/>
              </a:rPr>
              <a:t>Payment step</a:t>
            </a:r>
            <a:endParaRPr lang="en-US" sz="1100" dirty="0"/>
          </a:p>
        </p:txBody>
      </p:sp>
      <p:sp>
        <p:nvSpPr>
          <p:cNvPr id="8" name="Text 5"/>
          <p:cNvSpPr txBox="1"/>
          <p:nvPr/>
        </p:nvSpPr>
        <p:spPr>
          <a:xfrm>
            <a:off x="4663440" y="2194560"/>
            <a:ext cx="3108960" cy="1645920"/>
          </a:xfrm>
          <a:prstGeom prst="rect">
            <a:avLst/>
          </a:prstGeom>
          <a:noFill/>
          <a:ln/>
        </p:spPr>
        <p:txBody>
          <a:bodyPr wrap="square" lIns="0" tIns="0" rIns="0" bIns="0" rtlCol="0" anchor="t"/>
          <a:lstStyle/>
          <a:p>
            <a:pPr indent="0" marL="0">
              <a:buNone/>
            </a:pPr>
            <a:r>
              <a:rPr lang="en-US" sz="1250" dirty="0">
                <a:solidFill>
                  <a:srgbClr val="D6DEEB"/>
                </a:solidFill>
                <a:latin typeface="Courier New" pitchFamily="34" charset="0"/>
                <a:ea typeface="Courier New" pitchFamily="34" charset="-122"/>
                <a:cs typeface="Courier New" pitchFamily="34" charset="-120"/>
              </a:rPr>
              <a:t>{ </a:t>
            </a:r>
            <a:pPr indent="0" marL="0">
              <a:buNone/>
            </a:pPr>
            <a:r>
              <a:rPr lang="en-US" sz="1250" dirty="0">
                <a:solidFill>
                  <a:srgbClr val="F4A259"/>
                </a:solidFill>
                <a:latin typeface="Courier New" pitchFamily="34" charset="0"/>
                <a:ea typeface="Courier New" pitchFamily="34" charset="-122"/>
                <a:cs typeface="Courier New" pitchFamily="34" charset="-120"/>
              </a:rPr>
              <a:t>"name"</a:t>
            </a:r>
            <a:pPr indent="0" marL="0">
              <a:buNone/>
            </a:pPr>
            <a:r>
              <a:rPr lang="en-US" sz="1250" dirty="0">
                <a:solidFill>
                  <a:srgbClr val="D6DEEB"/>
                </a:solidFill>
                <a:latin typeface="Courier New" pitchFamily="34" charset="0"/>
                <a:ea typeface="Courier New" pitchFamily="34" charset="-122"/>
                <a:cs typeface="Courier New" pitchFamily="34" charset="-120"/>
              </a:rPr>
              <a:t>: </a:t>
            </a:r>
            <a:pPr indent="0" marL="0">
              <a:buNone/>
            </a:pPr>
            <a:r>
              <a:rPr lang="en-US" sz="1250" dirty="0">
                <a:solidFill>
                  <a:srgbClr val="9CDCFE"/>
                </a:solidFill>
                <a:latin typeface="Courier New" pitchFamily="34" charset="0"/>
                <a:ea typeface="Courier New" pitchFamily="34" charset="-122"/>
                <a:cs typeface="Courier New" pitchFamily="34" charset="-120"/>
              </a:rPr>
              <a:t>"payment"</a:t>
            </a:r>
            <a:pPr indent="0" marL="0">
              <a:buNone/>
            </a:pPr>
            <a:r>
              <a:rPr lang="en-US" sz="1250" dirty="0">
                <a:solidFill>
                  <a:srgbClr val="D6DEEB"/>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D6DEEB"/>
                </a:solidFill>
                <a:latin typeface="Courier New" pitchFamily="34" charset="0"/>
                <a:ea typeface="Courier New" pitchFamily="34" charset="-122"/>
                <a:cs typeface="Courier New" pitchFamily="34" charset="-120"/>
              </a:rPr>
              <a:t>  </a:t>
            </a:r>
            <a:pPr indent="0" marL="0">
              <a:buNone/>
            </a:pPr>
            <a:r>
              <a:rPr lang="en-US" sz="1250" dirty="0">
                <a:solidFill>
                  <a:srgbClr val="F4A259"/>
                </a:solidFill>
                <a:latin typeface="Courier New" pitchFamily="34" charset="0"/>
                <a:ea typeface="Courier New" pitchFamily="34" charset="-122"/>
                <a:cs typeface="Courier New" pitchFamily="34" charset="-120"/>
              </a:rPr>
              <a:t>"type"</a:t>
            </a:r>
            <a:pPr indent="0" marL="0">
              <a:buNone/>
            </a:pPr>
            <a:r>
              <a:rPr lang="en-US" sz="1250" dirty="0">
                <a:solidFill>
                  <a:srgbClr val="D6DEEB"/>
                </a:solidFill>
                <a:latin typeface="Courier New" pitchFamily="34" charset="0"/>
                <a:ea typeface="Courier New" pitchFamily="34" charset="-122"/>
                <a:cs typeface="Courier New" pitchFamily="34" charset="-120"/>
              </a:rPr>
              <a:t>: </a:t>
            </a:r>
            <a:pPr indent="0" marL="0">
              <a:buNone/>
            </a:pPr>
            <a:r>
              <a:rPr lang="en-US" sz="1250" dirty="0">
                <a:solidFill>
                  <a:srgbClr val="9CDCFE"/>
                </a:solidFill>
                <a:latin typeface="Courier New" pitchFamily="34" charset="0"/>
                <a:ea typeface="Courier New" pitchFamily="34" charset="-122"/>
                <a:cs typeface="Courier New" pitchFamily="34" charset="-120"/>
              </a:rPr>
              <a:t>"payment"</a:t>
            </a:r>
            <a:pPr indent="0" marL="0">
              <a:buNone/>
            </a:pPr>
            <a:r>
              <a:rPr lang="en-US" sz="1250" dirty="0">
                <a:solidFill>
                  <a:srgbClr val="D6DEEB"/>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D6DEEB"/>
                </a:solidFill>
                <a:latin typeface="Courier New" pitchFamily="34" charset="0"/>
                <a:ea typeface="Courier New" pitchFamily="34" charset="-122"/>
                <a:cs typeface="Courier New" pitchFamily="34" charset="-120"/>
              </a:rPr>
              <a:t>  </a:t>
            </a:r>
            <a:pPr indent="0" marL="0">
              <a:buNone/>
            </a:pPr>
            <a:r>
              <a:rPr lang="en-US" sz="1250" dirty="0">
                <a:solidFill>
                  <a:srgbClr val="F4A259"/>
                </a:solidFill>
                <a:latin typeface="Courier New" pitchFamily="34" charset="0"/>
                <a:ea typeface="Courier New" pitchFamily="34" charset="-122"/>
                <a:cs typeface="Courier New" pitchFamily="34" charset="-120"/>
              </a:rPr>
              <a:t>"amount_cents"</a:t>
            </a:r>
            <a:pPr indent="0" marL="0">
              <a:buNone/>
            </a:pPr>
            <a:r>
              <a:rPr lang="en-US" sz="1250" dirty="0">
                <a:solidFill>
                  <a:srgbClr val="D6DEEB"/>
                </a:solidFill>
                <a:latin typeface="Courier New" pitchFamily="34" charset="0"/>
                <a:ea typeface="Courier New" pitchFamily="34" charset="-122"/>
                <a:cs typeface="Courier New" pitchFamily="34" charset="-120"/>
              </a:rPr>
              <a:t>: 5000,</a:t>
            </a:r>
            <a:endParaRPr lang="en-US" sz="1250" dirty="0"/>
          </a:p>
          <a:p>
            <a:pPr indent="0" marL="0">
              <a:buNone/>
            </a:pPr>
            <a:r>
              <a:rPr lang="en-US" sz="1250" dirty="0">
                <a:solidFill>
                  <a:srgbClr val="D6DEEB"/>
                </a:solidFill>
                <a:latin typeface="Courier New" pitchFamily="34" charset="0"/>
                <a:ea typeface="Courier New" pitchFamily="34" charset="-122"/>
                <a:cs typeface="Courier New" pitchFamily="34" charset="-120"/>
              </a:rPr>
              <a:t>  </a:t>
            </a:r>
            <a:pPr indent="0" marL="0">
              <a:buNone/>
            </a:pPr>
            <a:r>
              <a:rPr lang="en-US" sz="1250" dirty="0">
                <a:solidFill>
                  <a:srgbClr val="F4A259"/>
                </a:solidFill>
                <a:latin typeface="Courier New" pitchFamily="34" charset="0"/>
                <a:ea typeface="Courier New" pitchFamily="34" charset="-122"/>
                <a:cs typeface="Courier New" pitchFamily="34" charset="-120"/>
              </a:rPr>
              <a:t>"currency"</a:t>
            </a:r>
            <a:pPr indent="0" marL="0">
              <a:buNone/>
            </a:pPr>
            <a:r>
              <a:rPr lang="en-US" sz="1250" dirty="0">
                <a:solidFill>
                  <a:srgbClr val="D6DEEB"/>
                </a:solidFill>
                <a:latin typeface="Courier New" pitchFamily="34" charset="0"/>
                <a:ea typeface="Courier New" pitchFamily="34" charset="-122"/>
                <a:cs typeface="Courier New" pitchFamily="34" charset="-120"/>
              </a:rPr>
              <a:t>: </a:t>
            </a:r>
            <a:pPr indent="0" marL="0">
              <a:buNone/>
            </a:pPr>
            <a:r>
              <a:rPr lang="en-US" sz="1250" dirty="0">
                <a:solidFill>
                  <a:srgbClr val="9CDCFE"/>
                </a:solidFill>
                <a:latin typeface="Courier New" pitchFamily="34" charset="0"/>
                <a:ea typeface="Courier New" pitchFamily="34" charset="-122"/>
                <a:cs typeface="Courier New" pitchFamily="34" charset="-120"/>
              </a:rPr>
              <a:t>"aud"</a:t>
            </a:r>
            <a:pPr indent="0" marL="0">
              <a:buNone/>
            </a:pPr>
            <a:r>
              <a:rPr lang="en-US" sz="1250" dirty="0">
                <a:solidFill>
                  <a:srgbClr val="D6DEEB"/>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D6DEEB"/>
                </a:solidFill>
                <a:latin typeface="Courier New" pitchFamily="34" charset="0"/>
                <a:ea typeface="Courier New" pitchFamily="34" charset="-122"/>
                <a:cs typeface="Courier New" pitchFamily="34" charset="-120"/>
              </a:rPr>
              <a:t>  </a:t>
            </a:r>
            <a:pPr indent="0" marL="0">
              <a:buNone/>
            </a:pPr>
            <a:r>
              <a:rPr lang="en-US" sz="1250" dirty="0">
                <a:solidFill>
                  <a:srgbClr val="F4A259"/>
                </a:solidFill>
                <a:latin typeface="Courier New" pitchFamily="34" charset="0"/>
                <a:ea typeface="Courier New" pitchFamily="34" charset="-122"/>
                <a:cs typeface="Courier New" pitchFamily="34" charset="-120"/>
              </a:rPr>
              <a:t>"description"</a:t>
            </a:r>
            <a:pPr indent="0" marL="0">
              <a:buNone/>
            </a:pPr>
            <a:r>
              <a:rPr lang="en-US" sz="1250" dirty="0">
                <a:solidFill>
                  <a:srgbClr val="D6DEEB"/>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D6DEEB"/>
                </a:solidFill>
                <a:latin typeface="Courier New" pitchFamily="34" charset="0"/>
                <a:ea typeface="Courier New" pitchFamily="34" charset="-122"/>
                <a:cs typeface="Courier New" pitchFamily="34" charset="-120"/>
              </a:rPr>
              <a:t>    </a:t>
            </a:r>
            <a:pPr indent="0" marL="0">
              <a:buNone/>
            </a:pPr>
            <a:r>
              <a:rPr lang="en-US" sz="1250" dirty="0">
                <a:solidFill>
                  <a:srgbClr val="9CDCFE"/>
                </a:solidFill>
                <a:latin typeface="Courier New" pitchFamily="34" charset="0"/>
                <a:ea typeface="Courier New" pitchFamily="34" charset="-122"/>
                <a:cs typeface="Courier New" pitchFamily="34" charset="-120"/>
              </a:rPr>
              <a:t>"Registration fee"</a:t>
            </a:r>
            <a:pPr indent="0" marL="0">
              <a:buNone/>
            </a:pPr>
            <a:r>
              <a:rPr lang="en-US" sz="1250" dirty="0">
                <a:solidFill>
                  <a:srgbClr val="D6DEEB"/>
                </a:solidFill>
                <a:latin typeface="Courier New" pitchFamily="34" charset="0"/>
                <a:ea typeface="Courier New" pitchFamily="34" charset="-122"/>
                <a:cs typeface="Courier New" pitchFamily="34" charset="-120"/>
              </a:rPr>
              <a:t> }</a:t>
            </a:r>
            <a:endParaRPr lang="en-US" sz="1250" dirty="0"/>
          </a:p>
        </p:txBody>
      </p:sp>
      <p:sp>
        <p:nvSpPr>
          <p:cNvPr id="9" name="Text 6"/>
          <p:cNvSpPr txBox="1"/>
          <p:nvPr/>
        </p:nvSpPr>
        <p:spPr>
          <a:xfrm>
            <a:off x="4434840" y="4206240"/>
            <a:ext cx="3566160" cy="1371600"/>
          </a:xfrm>
          <a:prstGeom prst="rect">
            <a:avLst/>
          </a:prstGeom>
          <a:noFill/>
          <a:ln/>
        </p:spPr>
        <p:txBody>
          <a:bodyPr wrap="square" lIns="0" tIns="0" rIns="0" bIns="0" rtlCol="0" anchor="t"/>
          <a:lstStyle/>
          <a:p>
            <a:pPr indent="0" marL="0">
              <a:buNone/>
            </a:pPr>
            <a:r>
              <a:rPr lang="en-US" sz="1400" b="1" dirty="0">
                <a:solidFill>
                  <a:srgbClr val="1B2536"/>
                </a:solidFill>
                <a:latin typeface="Calibri" pitchFamily="34" charset="0"/>
                <a:ea typeface="Calibri" pitchFamily="34" charset="-122"/>
                <a:cs typeface="Calibri" pitchFamily="34" charset="-120"/>
              </a:rPr>
              <a:t>No payment code per form. </a:t>
            </a:r>
            <a:pPr indent="0" marL="0">
              <a:buNone/>
            </a:pPr>
            <a:r>
              <a:rPr lang="en-US" sz="1400" dirty="0">
                <a:solidFill>
                  <a:srgbClr val="3C4A60"/>
                </a:solidFill>
                <a:latin typeface="Calibri" pitchFamily="34" charset="0"/>
                <a:ea typeface="Calibri" pitchFamily="34" charset="-122"/>
                <a:cs typeface="Calibri" pitchFamily="34" charset="-120"/>
              </a:rPr>
              <a:t>Change the fee, currency or description in the definition and it applies to the next applicant.</a:t>
            </a:r>
            <a:endParaRPr lang="en-US" sz="1400" dirty="0"/>
          </a:p>
        </p:txBody>
      </p:sp>
      <p:sp>
        <p:nvSpPr>
          <p:cNvPr id="10" name="Shape 7"/>
          <p:cNvSpPr/>
          <p:nvPr/>
        </p:nvSpPr>
        <p:spPr>
          <a:xfrm>
            <a:off x="8321040" y="1737360"/>
            <a:ext cx="3322015" cy="960120"/>
          </a:xfrm>
          <a:prstGeom prst="roundRect">
            <a:avLst>
              <a:gd name="adj" fmla="val 7619"/>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11" name="Shape 8"/>
          <p:cNvSpPr/>
          <p:nvPr/>
        </p:nvSpPr>
        <p:spPr>
          <a:xfrm>
            <a:off x="8503920" y="1938528"/>
            <a:ext cx="548640" cy="548640"/>
          </a:xfrm>
          <a:prstGeom prst="ellipse">
            <a:avLst/>
          </a:prstGeom>
          <a:solidFill>
            <a:srgbClr val="E3710A"/>
          </a:solidFill>
          <a:ln w="12700">
            <a:solidFill>
              <a:srgbClr val="E3710A"/>
            </a:solidFill>
            <a:prstDash val="solid"/>
          </a:ln>
        </p:spPr>
      </p:sp>
      <p:pic>
        <p:nvPicPr>
          <p:cNvPr id="12" name="Image 1" descr="preencoded.png">    </p:cNvPr>
          <p:cNvPicPr>
            <a:picLocks noChangeAspect="1"/>
          </p:cNvPicPr>
          <p:nvPr/>
        </p:nvPicPr>
        <p:blipFill>
          <a:blip r:embed="rId2"/>
          <a:stretch>
            <a:fillRect/>
          </a:stretch>
        </p:blipFill>
        <p:spPr>
          <a:xfrm>
            <a:off x="8646566" y="2081174"/>
            <a:ext cx="263347" cy="263347"/>
          </a:xfrm>
          <a:prstGeom prst="rect">
            <a:avLst/>
          </a:prstGeom>
        </p:spPr>
      </p:pic>
      <p:sp>
        <p:nvSpPr>
          <p:cNvPr id="13" name="Text 9"/>
          <p:cNvSpPr txBox="1"/>
          <p:nvPr/>
        </p:nvSpPr>
        <p:spPr>
          <a:xfrm>
            <a:off x="9189720" y="1847088"/>
            <a:ext cx="2316175" cy="320040"/>
          </a:xfrm>
          <a:prstGeom prst="rect">
            <a:avLst/>
          </a:prstGeom>
          <a:noFill/>
          <a:ln/>
        </p:spPr>
        <p:txBody>
          <a:bodyPr wrap="square" lIns="0" tIns="0" rIns="0" bIns="0" rtlCol="0" anchor="ctr"/>
          <a:lstStyle/>
          <a:p>
            <a:pPr indent="0" marL="0">
              <a:buNone/>
            </a:pPr>
            <a:r>
              <a:rPr lang="en-US" sz="1500" b="1" dirty="0">
                <a:solidFill>
                  <a:srgbClr val="1B2536"/>
                </a:solidFill>
                <a:latin typeface="Cambria" pitchFamily="34" charset="0"/>
                <a:ea typeface="Cambria" pitchFamily="34" charset="-122"/>
                <a:cs typeface="Cambria" pitchFamily="34" charset="-120"/>
              </a:rPr>
              <a:t>Summary</a:t>
            </a:r>
            <a:endParaRPr lang="en-US" sz="1500" dirty="0"/>
          </a:p>
        </p:txBody>
      </p:sp>
      <p:sp>
        <p:nvSpPr>
          <p:cNvPr id="14" name="Text 10"/>
          <p:cNvSpPr txBox="1"/>
          <p:nvPr/>
        </p:nvSpPr>
        <p:spPr>
          <a:xfrm>
            <a:off x="9189720" y="2167128"/>
            <a:ext cx="2316175" cy="457200"/>
          </a:xfrm>
          <a:prstGeom prst="rect">
            <a:avLst/>
          </a:prstGeom>
          <a:noFill/>
          <a:ln/>
        </p:spPr>
        <p:txBody>
          <a:bodyPr wrap="square" lIns="0" tIns="0" rIns="0" bIns="0" rtlCol="0" anchor="t"/>
          <a:lstStyle/>
          <a:p>
            <a:pPr indent="0" marL="0">
              <a:buNone/>
            </a:pPr>
            <a:r>
              <a:rPr lang="en-US" sz="1200" dirty="0">
                <a:solidFill>
                  <a:srgbClr val="3C4A60"/>
                </a:solidFill>
                <a:latin typeface="Calibri" pitchFamily="34" charset="0"/>
                <a:ea typeface="Calibri" pitchFamily="34" charset="-122"/>
                <a:cs typeface="Calibri" pitchFamily="34" charset="-120"/>
              </a:rPr>
              <a:t>Applicant confirms details and fee</a:t>
            </a:r>
            <a:endParaRPr lang="en-US" sz="1200" dirty="0"/>
          </a:p>
        </p:txBody>
      </p:sp>
      <p:sp>
        <p:nvSpPr>
          <p:cNvPr id="15" name="Shape 11"/>
          <p:cNvSpPr/>
          <p:nvPr/>
        </p:nvSpPr>
        <p:spPr>
          <a:xfrm>
            <a:off x="8321040" y="2834640"/>
            <a:ext cx="3322015" cy="960120"/>
          </a:xfrm>
          <a:prstGeom prst="roundRect">
            <a:avLst>
              <a:gd name="adj" fmla="val 7619"/>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16" name="Shape 12"/>
          <p:cNvSpPr/>
          <p:nvPr/>
        </p:nvSpPr>
        <p:spPr>
          <a:xfrm>
            <a:off x="8503920" y="3035808"/>
            <a:ext cx="548640" cy="548640"/>
          </a:xfrm>
          <a:prstGeom prst="ellipse">
            <a:avLst/>
          </a:prstGeom>
          <a:solidFill>
            <a:srgbClr val="E3710A"/>
          </a:solidFill>
          <a:ln w="12700">
            <a:solidFill>
              <a:srgbClr val="E3710A"/>
            </a:solidFill>
            <a:prstDash val="solid"/>
          </a:ln>
        </p:spPr>
      </p:sp>
      <p:pic>
        <p:nvPicPr>
          <p:cNvPr id="17" name="Image 2" descr="preencoded.png">    </p:cNvPr>
          <p:cNvPicPr>
            <a:picLocks noChangeAspect="1"/>
          </p:cNvPicPr>
          <p:nvPr/>
        </p:nvPicPr>
        <p:blipFill>
          <a:blip r:embed="rId3"/>
          <a:stretch>
            <a:fillRect/>
          </a:stretch>
        </p:blipFill>
        <p:spPr>
          <a:xfrm>
            <a:off x="8646566" y="3178454"/>
            <a:ext cx="263347" cy="263347"/>
          </a:xfrm>
          <a:prstGeom prst="rect">
            <a:avLst/>
          </a:prstGeom>
        </p:spPr>
      </p:pic>
      <p:sp>
        <p:nvSpPr>
          <p:cNvPr id="18" name="Text 13"/>
          <p:cNvSpPr txBox="1"/>
          <p:nvPr/>
        </p:nvSpPr>
        <p:spPr>
          <a:xfrm>
            <a:off x="9189720" y="2944368"/>
            <a:ext cx="2316175" cy="320040"/>
          </a:xfrm>
          <a:prstGeom prst="rect">
            <a:avLst/>
          </a:prstGeom>
          <a:noFill/>
          <a:ln/>
        </p:spPr>
        <p:txBody>
          <a:bodyPr wrap="square" lIns="0" tIns="0" rIns="0" bIns="0" rtlCol="0" anchor="ctr"/>
          <a:lstStyle/>
          <a:p>
            <a:pPr indent="0" marL="0">
              <a:buNone/>
            </a:pPr>
            <a:r>
              <a:rPr lang="en-US" sz="1500" b="1" dirty="0">
                <a:solidFill>
                  <a:srgbClr val="1B2536"/>
                </a:solidFill>
                <a:latin typeface="Cambria" pitchFamily="34" charset="0"/>
                <a:ea typeface="Cambria" pitchFamily="34" charset="-122"/>
                <a:cs typeface="Cambria" pitchFamily="34" charset="-120"/>
              </a:rPr>
              <a:t>Stripe Checkout</a:t>
            </a:r>
            <a:endParaRPr lang="en-US" sz="1500" dirty="0"/>
          </a:p>
        </p:txBody>
      </p:sp>
      <p:sp>
        <p:nvSpPr>
          <p:cNvPr id="19" name="Text 14"/>
          <p:cNvSpPr txBox="1"/>
          <p:nvPr/>
        </p:nvSpPr>
        <p:spPr>
          <a:xfrm>
            <a:off x="9189720" y="3264408"/>
            <a:ext cx="2316175" cy="457200"/>
          </a:xfrm>
          <a:prstGeom prst="rect">
            <a:avLst/>
          </a:prstGeom>
          <a:noFill/>
          <a:ln/>
        </p:spPr>
        <p:txBody>
          <a:bodyPr wrap="square" lIns="0" tIns="0" rIns="0" bIns="0" rtlCol="0" anchor="t"/>
          <a:lstStyle/>
          <a:p>
            <a:pPr indent="0" marL="0">
              <a:buNone/>
            </a:pPr>
            <a:r>
              <a:rPr lang="en-US" sz="1200" dirty="0">
                <a:solidFill>
                  <a:srgbClr val="3C4A60"/>
                </a:solidFill>
                <a:latin typeface="Calibri" pitchFamily="34" charset="0"/>
                <a:ea typeface="Calibri" pitchFamily="34" charset="-122"/>
                <a:cs typeface="Calibri" pitchFamily="34" charset="-120"/>
              </a:rPr>
              <a:t>Hosted page; card data never touches us</a:t>
            </a:r>
            <a:endParaRPr lang="en-US" sz="1200" dirty="0"/>
          </a:p>
        </p:txBody>
      </p:sp>
      <p:sp>
        <p:nvSpPr>
          <p:cNvPr id="20" name="Shape 15"/>
          <p:cNvSpPr/>
          <p:nvPr/>
        </p:nvSpPr>
        <p:spPr>
          <a:xfrm>
            <a:off x="8321040" y="3931920"/>
            <a:ext cx="3322015" cy="960120"/>
          </a:xfrm>
          <a:prstGeom prst="roundRect">
            <a:avLst>
              <a:gd name="adj" fmla="val 7619"/>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21" name="Shape 16"/>
          <p:cNvSpPr/>
          <p:nvPr/>
        </p:nvSpPr>
        <p:spPr>
          <a:xfrm>
            <a:off x="8503920" y="4133088"/>
            <a:ext cx="548640" cy="548640"/>
          </a:xfrm>
          <a:prstGeom prst="ellipse">
            <a:avLst/>
          </a:prstGeom>
          <a:solidFill>
            <a:srgbClr val="E3710A"/>
          </a:solidFill>
          <a:ln w="12700">
            <a:solidFill>
              <a:srgbClr val="E3710A"/>
            </a:solidFill>
            <a:prstDash val="solid"/>
          </a:ln>
        </p:spPr>
      </p:sp>
      <p:pic>
        <p:nvPicPr>
          <p:cNvPr id="22" name="Image 3" descr="preencoded.png">    </p:cNvPr>
          <p:cNvPicPr>
            <a:picLocks noChangeAspect="1"/>
          </p:cNvPicPr>
          <p:nvPr/>
        </p:nvPicPr>
        <p:blipFill>
          <a:blip r:embed="rId4"/>
          <a:stretch>
            <a:fillRect/>
          </a:stretch>
        </p:blipFill>
        <p:spPr>
          <a:xfrm>
            <a:off x="8646566" y="4275734"/>
            <a:ext cx="263347" cy="263347"/>
          </a:xfrm>
          <a:prstGeom prst="rect">
            <a:avLst/>
          </a:prstGeom>
        </p:spPr>
      </p:pic>
      <p:sp>
        <p:nvSpPr>
          <p:cNvPr id="23" name="Text 17"/>
          <p:cNvSpPr txBox="1"/>
          <p:nvPr/>
        </p:nvSpPr>
        <p:spPr>
          <a:xfrm>
            <a:off x="9189720" y="4041648"/>
            <a:ext cx="2316175" cy="320040"/>
          </a:xfrm>
          <a:prstGeom prst="rect">
            <a:avLst/>
          </a:prstGeom>
          <a:noFill/>
          <a:ln/>
        </p:spPr>
        <p:txBody>
          <a:bodyPr wrap="square" lIns="0" tIns="0" rIns="0" bIns="0" rtlCol="0" anchor="ctr"/>
          <a:lstStyle/>
          <a:p>
            <a:pPr indent="0" marL="0">
              <a:buNone/>
            </a:pPr>
            <a:r>
              <a:rPr lang="en-US" sz="1500" b="1" dirty="0">
                <a:solidFill>
                  <a:srgbClr val="1B2536"/>
                </a:solidFill>
                <a:latin typeface="Cambria" pitchFamily="34" charset="0"/>
                <a:ea typeface="Cambria" pitchFamily="34" charset="-122"/>
                <a:cs typeface="Cambria" pitchFamily="34" charset="-120"/>
              </a:rPr>
              <a:t>Confirmed</a:t>
            </a:r>
            <a:endParaRPr lang="en-US" sz="1500" dirty="0"/>
          </a:p>
        </p:txBody>
      </p:sp>
      <p:sp>
        <p:nvSpPr>
          <p:cNvPr id="24" name="Text 18"/>
          <p:cNvSpPr txBox="1"/>
          <p:nvPr/>
        </p:nvSpPr>
        <p:spPr>
          <a:xfrm>
            <a:off x="9189720" y="4361688"/>
            <a:ext cx="2316175" cy="457200"/>
          </a:xfrm>
          <a:prstGeom prst="rect">
            <a:avLst/>
          </a:prstGeom>
          <a:noFill/>
          <a:ln/>
        </p:spPr>
        <p:txBody>
          <a:bodyPr wrap="square" lIns="0" tIns="0" rIns="0" bIns="0" rtlCol="0" anchor="t"/>
          <a:lstStyle/>
          <a:p>
            <a:pPr indent="0" marL="0">
              <a:buNone/>
            </a:pPr>
            <a:r>
              <a:rPr lang="en-US" sz="1200" dirty="0">
                <a:solidFill>
                  <a:srgbClr val="3C4A60"/>
                </a:solidFill>
                <a:latin typeface="Calibri" pitchFamily="34" charset="0"/>
                <a:ea typeface="Calibri" pitchFamily="34" charset="-122"/>
                <a:cs typeface="Calibri" pitchFamily="34" charset="-120"/>
              </a:rPr>
              <a:t>Stripe webhook marks it complete</a:t>
            </a:r>
            <a:endParaRPr lang="en-US" sz="1200" dirty="0"/>
          </a:p>
        </p:txBody>
      </p:sp>
      <p:sp>
        <p:nvSpPr>
          <p:cNvPr id="25" name="Shape 19"/>
          <p:cNvSpPr/>
          <p:nvPr/>
        </p:nvSpPr>
        <p:spPr>
          <a:xfrm>
            <a:off x="8321040" y="5029200"/>
            <a:ext cx="3322015" cy="960120"/>
          </a:xfrm>
          <a:prstGeom prst="roundRect">
            <a:avLst>
              <a:gd name="adj" fmla="val 7619"/>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26" name="Shape 20"/>
          <p:cNvSpPr/>
          <p:nvPr/>
        </p:nvSpPr>
        <p:spPr>
          <a:xfrm>
            <a:off x="8503920" y="5230368"/>
            <a:ext cx="548640" cy="548640"/>
          </a:xfrm>
          <a:prstGeom prst="ellipse">
            <a:avLst/>
          </a:prstGeom>
          <a:solidFill>
            <a:srgbClr val="E3710A"/>
          </a:solidFill>
          <a:ln w="12700">
            <a:solidFill>
              <a:srgbClr val="E3710A"/>
            </a:solidFill>
            <a:prstDash val="solid"/>
          </a:ln>
        </p:spPr>
      </p:sp>
      <p:pic>
        <p:nvPicPr>
          <p:cNvPr id="27" name="Image 4" descr="preencoded.png">    </p:cNvPr>
          <p:cNvPicPr>
            <a:picLocks noChangeAspect="1"/>
          </p:cNvPicPr>
          <p:nvPr/>
        </p:nvPicPr>
        <p:blipFill>
          <a:blip r:embed="rId5"/>
          <a:stretch>
            <a:fillRect/>
          </a:stretch>
        </p:blipFill>
        <p:spPr>
          <a:xfrm>
            <a:off x="8646566" y="5373014"/>
            <a:ext cx="263347" cy="263347"/>
          </a:xfrm>
          <a:prstGeom prst="rect">
            <a:avLst/>
          </a:prstGeom>
        </p:spPr>
      </p:pic>
      <p:sp>
        <p:nvSpPr>
          <p:cNvPr id="28" name="Text 21"/>
          <p:cNvSpPr txBox="1"/>
          <p:nvPr/>
        </p:nvSpPr>
        <p:spPr>
          <a:xfrm>
            <a:off x="9189720" y="5138928"/>
            <a:ext cx="2316175" cy="320040"/>
          </a:xfrm>
          <a:prstGeom prst="rect">
            <a:avLst/>
          </a:prstGeom>
          <a:noFill/>
          <a:ln/>
        </p:spPr>
        <p:txBody>
          <a:bodyPr wrap="square" lIns="0" tIns="0" rIns="0" bIns="0" rtlCol="0" anchor="ctr"/>
          <a:lstStyle/>
          <a:p>
            <a:pPr indent="0" marL="0">
              <a:buNone/>
            </a:pPr>
            <a:r>
              <a:rPr lang="en-US" sz="1500" b="1" dirty="0">
                <a:solidFill>
                  <a:srgbClr val="1B2536"/>
                </a:solidFill>
                <a:latin typeface="Cambria" pitchFamily="34" charset="0"/>
                <a:ea typeface="Cambria" pitchFamily="34" charset="-122"/>
                <a:cs typeface="Cambria" pitchFamily="34" charset="-120"/>
              </a:rPr>
              <a:t>Hand-off</a:t>
            </a:r>
            <a:endParaRPr lang="en-US" sz="1500" dirty="0"/>
          </a:p>
        </p:txBody>
      </p:sp>
      <p:sp>
        <p:nvSpPr>
          <p:cNvPr id="29" name="Text 22"/>
          <p:cNvSpPr txBox="1"/>
          <p:nvPr/>
        </p:nvSpPr>
        <p:spPr>
          <a:xfrm>
            <a:off x="9189720" y="5458968"/>
            <a:ext cx="2316175" cy="457200"/>
          </a:xfrm>
          <a:prstGeom prst="rect">
            <a:avLst/>
          </a:prstGeom>
          <a:noFill/>
          <a:ln/>
        </p:spPr>
        <p:txBody>
          <a:bodyPr wrap="square" lIns="0" tIns="0" rIns="0" bIns="0" rtlCol="0" anchor="t"/>
          <a:lstStyle/>
          <a:p>
            <a:pPr indent="0" marL="0">
              <a:buNone/>
            </a:pPr>
            <a:r>
              <a:rPr lang="en-US" sz="1200" dirty="0">
                <a:solidFill>
                  <a:srgbClr val="3C4A60"/>
                </a:solidFill>
                <a:latin typeface="Calibri" pitchFamily="34" charset="0"/>
                <a:ea typeface="Calibri" pitchFamily="34" charset="-122"/>
                <a:cs typeface="Calibri" pitchFamily="34" charset="-120"/>
              </a:rPr>
              <a:t>Webhook notifies downstream systems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Getting the data out</a:t>
            </a:r>
            <a:endParaRPr lang="en-US" sz="3600" dirty="0"/>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Pull on demand, or have it pushed the moment a transaction completes</a:t>
            </a:r>
            <a:endParaRPr lang="en-US" sz="1600" dirty="0"/>
          </a:p>
        </p:txBody>
      </p:sp>
      <p:sp>
        <p:nvSpPr>
          <p:cNvPr id="4" name="Shape 2"/>
          <p:cNvSpPr/>
          <p:nvPr/>
        </p:nvSpPr>
        <p:spPr>
          <a:xfrm>
            <a:off x="548640" y="1783080"/>
            <a:ext cx="548640" cy="548640"/>
          </a:xfrm>
          <a:prstGeom prst="ellipse">
            <a:avLst/>
          </a:prstGeom>
          <a:solidFill>
            <a:srgbClr val="E3710A"/>
          </a:solidFill>
          <a:ln w="12700">
            <a:solidFill>
              <a:srgbClr val="E3710A"/>
            </a:solidFill>
            <a:prstDash val="solid"/>
          </a:ln>
        </p:spPr>
      </p:sp>
      <p:pic>
        <p:nvPicPr>
          <p:cNvPr id="5" name="Image 0" descr="preencoded.png">    </p:cNvPr>
          <p:cNvPicPr>
            <a:picLocks noChangeAspect="1"/>
          </p:cNvPicPr>
          <p:nvPr/>
        </p:nvPicPr>
        <p:blipFill>
          <a:blip r:embed="rId1"/>
          <a:stretch>
            <a:fillRect/>
          </a:stretch>
        </p:blipFill>
        <p:spPr>
          <a:xfrm>
            <a:off x="691286" y="1925726"/>
            <a:ext cx="263347" cy="263347"/>
          </a:xfrm>
          <a:prstGeom prst="rect">
            <a:avLst/>
          </a:prstGeom>
        </p:spPr>
      </p:pic>
      <p:sp>
        <p:nvSpPr>
          <p:cNvPr id="6" name="Text 3"/>
          <p:cNvSpPr txBox="1"/>
          <p:nvPr/>
        </p:nvSpPr>
        <p:spPr>
          <a:xfrm>
            <a:off x="1280160" y="1828800"/>
            <a:ext cx="4389120" cy="457200"/>
          </a:xfrm>
          <a:prstGeom prst="rect">
            <a:avLst/>
          </a:prstGeom>
          <a:noFill/>
          <a:ln/>
        </p:spPr>
        <p:txBody>
          <a:bodyPr wrap="square" lIns="0" tIns="0" rIns="0" bIns="0" rtlCol="0" anchor="ctr"/>
          <a:lstStyle/>
          <a:p>
            <a:pPr indent="0" marL="0">
              <a:buNone/>
            </a:pPr>
            <a:r>
              <a:rPr lang="en-US" sz="2000" b="1" dirty="0">
                <a:solidFill>
                  <a:srgbClr val="1B2536"/>
                </a:solidFill>
                <a:latin typeface="Cambria" pitchFamily="34" charset="0"/>
                <a:ea typeface="Cambria" pitchFamily="34" charset="-122"/>
                <a:cs typeface="Cambria" pitchFamily="34" charset="-120"/>
              </a:rPr>
              <a:t>Pull API</a:t>
            </a:r>
            <a:endParaRPr lang="en-US" sz="2000" dirty="0"/>
          </a:p>
        </p:txBody>
      </p:sp>
      <p:sp>
        <p:nvSpPr>
          <p:cNvPr id="7" name="Shape 4"/>
          <p:cNvSpPr/>
          <p:nvPr/>
        </p:nvSpPr>
        <p:spPr>
          <a:xfrm>
            <a:off x="548640" y="2514600"/>
            <a:ext cx="5349240" cy="3017520"/>
          </a:xfrm>
          <a:prstGeom prst="roundRect">
            <a:avLst>
              <a:gd name="adj" fmla="val 2424"/>
            </a:avLst>
          </a:prstGeom>
          <a:solidFill>
            <a:srgbClr val="0F1623"/>
          </a:solidFill>
          <a:ln w="12700">
            <a:solidFill>
              <a:srgbClr val="0F1623"/>
            </a:solidFill>
            <a:prstDash val="solid"/>
          </a:ln>
        </p:spPr>
      </p:sp>
      <p:sp>
        <p:nvSpPr>
          <p:cNvPr id="8" name="Text 5"/>
          <p:cNvSpPr txBox="1"/>
          <p:nvPr/>
        </p:nvSpPr>
        <p:spPr>
          <a:xfrm>
            <a:off x="777240" y="2651760"/>
            <a:ext cx="4892040" cy="274320"/>
          </a:xfrm>
          <a:prstGeom prst="rect">
            <a:avLst/>
          </a:prstGeom>
          <a:noFill/>
          <a:ln/>
        </p:spPr>
        <p:txBody>
          <a:bodyPr wrap="square" lIns="0" tIns="0" rIns="0" bIns="0" rtlCol="0" anchor="ctr"/>
          <a:lstStyle/>
          <a:p>
            <a:pPr indent="0" marL="0">
              <a:buNone/>
            </a:pPr>
            <a:r>
              <a:rPr lang="en-US" sz="1100" dirty="0">
                <a:solidFill>
                  <a:srgbClr val="7A8699"/>
                </a:solidFill>
                <a:latin typeface="Calibri" pitchFamily="34" charset="0"/>
                <a:ea typeface="Calibri" pitchFamily="34" charset="-122"/>
                <a:cs typeface="Calibri" pitchFamily="34" charset="-120"/>
              </a:rPr>
              <a:t>Returns every complete and free transaction · needs an API key</a:t>
            </a:r>
          </a:p>
        </p:txBody>
      </p:sp>
      <p:sp>
        <p:nvSpPr>
          <p:cNvPr id="9" name="Text 6"/>
          <p:cNvSpPr txBox="1"/>
          <p:nvPr/>
        </p:nvSpPr>
        <p:spPr>
          <a:xfrm>
            <a:off x="777240" y="2971800"/>
            <a:ext cx="4892040" cy="2423160"/>
          </a:xfrm>
          <a:prstGeom prst="rect">
            <a:avLst/>
          </a:prstGeom>
          <a:noFill/>
          <a:ln/>
        </p:spPr>
        <p:txBody>
          <a:bodyPr wrap="square" lIns="0" tIns="0" rIns="0" bIns="0" rtlCol="0" anchor="t"/>
          <a:lstStyle/>
          <a:p>
            <a:pPr indent="0" marL="0">
              <a:buNone/>
            </a:pPr>
            <a:r>
              <a:rPr lang="en-US" sz="1250" dirty="0">
                <a:solidFill>
                  <a:srgbClr val="6A7A92"/>
                </a:solidFill>
                <a:latin typeface="Courier New" pitchFamily="34" charset="0"/>
                <a:ea typeface="Courier New" pitchFamily="34" charset="-122"/>
                <a:cs typeface="Courier New" pitchFamily="34" charset="-120"/>
              </a:rPr>
              <a:t xml:space="preserve">$ </a:t>
            </a:r>
            <a:r>
              <a:rPr lang="en-US" sz="1250" dirty="0">
                <a:solidFill>
                  <a:srgbClr val="D6DEEB"/>
                </a:solidFill>
                <a:latin typeface="Courier New" pitchFamily="34" charset="0"/>
                <a:ea typeface="Courier New" pitchFamily="34" charset="-122"/>
                <a:cs typeface="Courier New" pitchFamily="34" charset="-120"/>
              </a:rPr>
              <a:t xml:space="preserve">curl -H </a:t>
            </a:r>
            <a:r>
              <a:rPr lang="en-US" sz="1250" dirty="0">
                <a:solidFill>
                  <a:srgbClr val="9CDCFE"/>
                </a:solidFill>
                <a:latin typeface="Courier New" pitchFamily="34" charset="0"/>
                <a:ea typeface="Courier New" pitchFamily="34" charset="-122"/>
                <a:cs typeface="Courier New" pitchFamily="34" charset="-120"/>
              </a:rPr>
              <a:t>"Authorization: Bearer $KEY"</a:t>
            </a:r>
            <a:r>
              <a:rPr lang="en-US" sz="1250" dirty="0">
                <a:solidFill>
                  <a:srgbClr val="D6DEEB"/>
                </a:solidFill>
                <a:latin typeface="Courier New" pitchFamily="34" charset="0"/>
                <a:ea typeface="Courier New" pitchFamily="34" charset="-122"/>
                <a:cs typeface="Courier New" pitchFamily="34" charset="-120"/>
              </a:rPr>
              <a:t xml:space="preserve"> \</a:t>
            </a:r>
          </a:p>
          <a:p>
            <a:pPr indent="0" marL="0">
              <a:buNone/>
            </a:pPr>
            <a:r>
              <a:rPr lang="en-US" sz="1250" dirty="0">
                <a:solidFill>
                  <a:srgbClr val="D6DEEB"/>
                </a:solidFill>
                <a:latin typeface="Courier New" pitchFamily="34" charset="0"/>
                <a:ea typeface="Courier New" pitchFamily="34" charset="-122"/>
                <a:cs typeface="Courier New" pitchFamily="34" charset="-120"/>
              </a:rPr>
              <a:t xml:space="preserve">    localhost:5050/api/transactions/{id}</a:t>
            </a:r>
          </a:p>
          <a:p>
            <a:pPr indent="0" marL="0">
              <a:buNone/>
            </a:pPr>
            <a:endParaRPr lang="en-US" sz="1250" dirty="0">
              <a:solidFill>
                <a:srgbClr val="6A7A92"/>
              </a:solidFill>
              <a:latin typeface="Courier New" pitchFamily="34" charset="0"/>
              <a:ea typeface="Courier New" pitchFamily="34" charset="-122"/>
              <a:cs typeface="Courier New" pitchFamily="34" charset="-120"/>
            </a:endParaRPr>
          </a:p>
          <a:p>
            <a:pPr indent="0" marL="0">
              <a:buNone/>
            </a:pPr>
            <a:r>
              <a:rPr lang="en-US" sz="1250" dirty="0">
                <a:solidFill>
                  <a:srgbClr val="D6DEEB"/>
                </a:solidFill>
                <a:latin typeface="Courier New" pitchFamily="34" charset="0"/>
                <a:ea typeface="Courier New" pitchFamily="34" charset="-122"/>
                <a:cs typeface="Courier New" pitchFamily="34" charset="-120"/>
              </a:rPr>
              <a:t>[{</a:t>
            </a:r>
          </a:p>
          <a:p>
            <a:pPr indent="0" marL="0">
              <a:buNone/>
            </a:pP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F4A259"/>
                </a:solidFill>
                <a:latin typeface="Courier New" pitchFamily="34" charset="0"/>
                <a:ea typeface="Courier New" pitchFamily="34" charset="-122"/>
                <a:cs typeface="Courier New" pitchFamily="34" charset="-120"/>
              </a:rPr>
              <a:t>"_id"</a:t>
            </a:r>
            <a:r>
              <a:rPr lang="en-US" sz="1250" dirty="0">
                <a:solidFill>
                  <a:srgbClr val="D6DEEB"/>
                </a:solidFill>
                <a:latin typeface="Courier New" pitchFamily="34" charset="0"/>
                <a:ea typeface="Courier New" pitchFamily="34" charset="-122"/>
                <a:cs typeface="Courier New" pitchFamily="34" charset="-120"/>
              </a:rPr>
              <a:t>:</a:t>
            </a: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9CDCFE"/>
                </a:solidFill>
                <a:latin typeface="Courier New" pitchFamily="34" charset="0"/>
                <a:ea typeface="Courier New" pitchFamily="34" charset="-122"/>
                <a:cs typeface="Courier New" pitchFamily="34" charset="-120"/>
              </a:rPr>
              <a:t>"6a2271ef…6d"</a:t>
            </a:r>
            <a:r>
              <a:rPr lang="en-US" sz="1250" dirty="0">
                <a:solidFill>
                  <a:srgbClr val="D6DEEB"/>
                </a:solidFill>
                <a:latin typeface="Courier New" pitchFamily="34" charset="0"/>
                <a:ea typeface="Courier New" pitchFamily="34" charset="-122"/>
                <a:cs typeface="Courier New" pitchFamily="34" charset="-120"/>
              </a:rPr>
              <a:t>,</a:t>
            </a:r>
          </a:p>
          <a:p>
            <a:pPr indent="0" marL="0">
              <a:buNone/>
            </a:pP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F4A259"/>
                </a:solidFill>
                <a:latin typeface="Courier New" pitchFamily="34" charset="0"/>
                <a:ea typeface="Courier New" pitchFamily="34" charset="-122"/>
                <a:cs typeface="Courier New" pitchFamily="34" charset="-120"/>
              </a:rPr>
              <a:t>"status"</a:t>
            </a:r>
            <a:r>
              <a:rPr lang="en-US" sz="1250" dirty="0">
                <a:solidFill>
                  <a:srgbClr val="D6DEEB"/>
                </a:solidFill>
                <a:latin typeface="Courier New" pitchFamily="34" charset="0"/>
                <a:ea typeface="Courier New" pitchFamily="34" charset="-122"/>
                <a:cs typeface="Courier New" pitchFamily="34" charset="-120"/>
              </a:rPr>
              <a:t>:</a:t>
            </a: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9CDCFE"/>
                </a:solidFill>
                <a:latin typeface="Courier New" pitchFamily="34" charset="0"/>
                <a:ea typeface="Courier New" pitchFamily="34" charset="-122"/>
                <a:cs typeface="Courier New" pitchFamily="34" charset="-120"/>
              </a:rPr>
              <a:t>"complete"</a:t>
            </a:r>
            <a:r>
              <a:rPr lang="en-US" sz="1250" dirty="0">
                <a:solidFill>
                  <a:srgbClr val="D6DEEB"/>
                </a:solidFill>
                <a:latin typeface="Courier New" pitchFamily="34" charset="0"/>
                <a:ea typeface="Courier New" pitchFamily="34" charset="-122"/>
                <a:cs typeface="Courier New" pitchFamily="34" charset="-120"/>
              </a:rPr>
              <a:t>,</a:t>
            </a:r>
          </a:p>
          <a:p>
            <a:pPr indent="0" marL="0">
              <a:buNone/>
            </a:pP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F4A259"/>
                </a:solidFill>
                <a:latin typeface="Courier New" pitchFamily="34" charset="0"/>
                <a:ea typeface="Courier New" pitchFamily="34" charset="-122"/>
                <a:cs typeface="Courier New" pitchFamily="34" charset="-120"/>
              </a:rPr>
              <a:t>"payment_amount"</a:t>
            </a:r>
            <a:r>
              <a:rPr lang="en-US" sz="1250" dirty="0">
                <a:solidFill>
                  <a:srgbClr val="D6DEEB"/>
                </a:solidFill>
                <a:latin typeface="Courier New" pitchFamily="34" charset="0"/>
                <a:ea typeface="Courier New" pitchFamily="34" charset="-122"/>
                <a:cs typeface="Courier New" pitchFamily="34" charset="-120"/>
              </a:rPr>
              <a:t>:</a:t>
            </a:r>
            <a:r>
              <a:rPr lang="en-US" sz="1250" dirty="0">
                <a:solidFill>
                  <a:srgbClr val="D6DEEB"/>
                </a:solidFill>
                <a:latin typeface="Courier New" pitchFamily="34" charset="0"/>
                <a:ea typeface="Courier New" pitchFamily="34" charset="-122"/>
                <a:cs typeface="Courier New" pitchFamily="34" charset="-120"/>
              </a:rPr>
              <a:t xml:space="preserve"> 5000,</a:t>
            </a:r>
          </a:p>
          <a:p>
            <a:pPr indent="0" marL="0">
              <a:buNone/>
            </a:pP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F4A259"/>
                </a:solidFill>
                <a:latin typeface="Courier New" pitchFamily="34" charset="0"/>
                <a:ea typeface="Courier New" pitchFamily="34" charset="-122"/>
                <a:cs typeface="Courier New" pitchFamily="34" charset="-120"/>
              </a:rPr>
              <a:t>"data"</a:t>
            </a:r>
            <a:r>
              <a:rPr lang="en-US" sz="1250" dirty="0">
                <a:solidFill>
                  <a:srgbClr val="D6DEEB"/>
                </a:solidFill>
                <a:latin typeface="Courier New" pitchFamily="34" charset="0"/>
                <a:ea typeface="Courier New" pitchFamily="34" charset="-122"/>
                <a:cs typeface="Courier New" pitchFamily="34" charset="-120"/>
              </a:rPr>
              <a:t>:</a:t>
            </a:r>
            <a:r>
              <a:rPr lang="en-US" sz="1250" dirty="0">
                <a:solidFill>
                  <a:srgbClr val="D6DEEB"/>
                </a:solidFill>
                <a:latin typeface="Courier New" pitchFamily="34" charset="0"/>
                <a:ea typeface="Courier New" pitchFamily="34" charset="-122"/>
                <a:cs typeface="Courier New" pitchFamily="34" charset="-120"/>
              </a:rPr>
              <a:t xml:space="preserve"> {</a:t>
            </a:r>
          </a:p>
          <a:p>
            <a:pPr indent="0" marL="0">
              <a:buNone/>
            </a:pP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F4A259"/>
                </a:solidFill>
                <a:latin typeface="Courier New" pitchFamily="34" charset="0"/>
                <a:ea typeface="Courier New" pitchFamily="34" charset="-122"/>
                <a:cs typeface="Courier New" pitchFamily="34" charset="-120"/>
              </a:rPr>
              <a:t>"first_name"</a:t>
            </a:r>
            <a:r>
              <a:rPr lang="en-US" sz="1250" dirty="0">
                <a:solidFill>
                  <a:srgbClr val="D6DEEB"/>
                </a:solidFill>
                <a:latin typeface="Courier New" pitchFamily="34" charset="0"/>
                <a:ea typeface="Courier New" pitchFamily="34" charset="-122"/>
                <a:cs typeface="Courier New" pitchFamily="34" charset="-120"/>
              </a:rPr>
              <a:t>:</a:t>
            </a: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9CDCFE"/>
                </a:solidFill>
                <a:latin typeface="Courier New" pitchFamily="34" charset="0"/>
                <a:ea typeface="Courier New" pitchFamily="34" charset="-122"/>
                <a:cs typeface="Courier New" pitchFamily="34" charset="-120"/>
              </a:rPr>
              <a:t>"Alex"</a:t>
            </a:r>
            <a:r>
              <a:rPr lang="en-US" sz="1250" dirty="0">
                <a:solidFill>
                  <a:srgbClr val="D6DEEB"/>
                </a:solidFill>
                <a:latin typeface="Courier New" pitchFamily="34" charset="0"/>
                <a:ea typeface="Courier New" pitchFamily="34" charset="-122"/>
                <a:cs typeface="Courier New" pitchFamily="34" charset="-120"/>
              </a:rPr>
              <a:t>,</a:t>
            </a:r>
          </a:p>
          <a:p>
            <a:pPr indent="0" marL="0">
              <a:buNone/>
            </a:pP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F4A259"/>
                </a:solidFill>
                <a:latin typeface="Courier New" pitchFamily="34" charset="0"/>
                <a:ea typeface="Courier New" pitchFamily="34" charset="-122"/>
                <a:cs typeface="Courier New" pitchFamily="34" charset="-120"/>
              </a:rPr>
              <a:t>"product"</a:t>
            </a:r>
            <a:r>
              <a:rPr lang="en-US" sz="1250" dirty="0">
                <a:solidFill>
                  <a:srgbClr val="D6DEEB"/>
                </a:solidFill>
                <a:latin typeface="Courier New" pitchFamily="34" charset="0"/>
                <a:ea typeface="Courier New" pitchFamily="34" charset="-122"/>
                <a:cs typeface="Courier New" pitchFamily="34" charset="-120"/>
              </a:rPr>
              <a:t>:</a:t>
            </a: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9CDCFE"/>
                </a:solidFill>
                <a:latin typeface="Courier New" pitchFamily="34" charset="0"/>
                <a:ea typeface="Courier New" pitchFamily="34" charset="-122"/>
                <a:cs typeface="Courier New" pitchFamily="34" charset="-120"/>
              </a:rPr>
              <a:t>"bananas"</a:t>
            </a:r>
            <a:r>
              <a:rPr lang="en-US" sz="1250" dirty="0">
                <a:solidFill>
                  <a:srgbClr val="D6DEEB"/>
                </a:solidFill>
                <a:latin typeface="Courier New" pitchFamily="34" charset="0"/>
                <a:ea typeface="Courier New" pitchFamily="34" charset="-122"/>
                <a:cs typeface="Courier New" pitchFamily="34" charset="-120"/>
              </a:rPr>
              <a:t xml:space="preserve"> …</a:t>
            </a:r>
          </a:p>
          <a:p>
            <a:pPr indent="0" marL="0">
              <a:buNone/>
            </a:pPr>
            <a:r>
              <a:rPr lang="en-US" sz="1250" dirty="0">
                <a:solidFill>
                  <a:srgbClr val="D6DEEB"/>
                </a:solidFill>
                <a:latin typeface="Courier New" pitchFamily="34" charset="0"/>
                <a:ea typeface="Courier New" pitchFamily="34" charset="-122"/>
                <a:cs typeface="Courier New" pitchFamily="34" charset="-120"/>
              </a:rPr>
              <a:t xml:space="preserve">  } }]</a:t>
            </a:r>
          </a:p>
        </p:txBody>
      </p:sp>
      <p:sp>
        <p:nvSpPr>
          <p:cNvPr id="10" name="Shape 7"/>
          <p:cNvSpPr/>
          <p:nvPr/>
        </p:nvSpPr>
        <p:spPr>
          <a:xfrm>
            <a:off x="6263640" y="1783080"/>
            <a:ext cx="548640" cy="548640"/>
          </a:xfrm>
          <a:prstGeom prst="ellipse">
            <a:avLst/>
          </a:prstGeom>
          <a:solidFill>
            <a:srgbClr val="E3710A"/>
          </a:solidFill>
          <a:ln w="12700">
            <a:solidFill>
              <a:srgbClr val="E3710A"/>
            </a:solidFill>
            <a:prstDash val="solid"/>
          </a:ln>
        </p:spPr>
      </p:sp>
      <p:pic>
        <p:nvPicPr>
          <p:cNvPr id="11" name="Image 1" descr="preencoded.png">    </p:cNvPr>
          <p:cNvPicPr>
            <a:picLocks noChangeAspect="1"/>
          </p:cNvPicPr>
          <p:nvPr/>
        </p:nvPicPr>
        <p:blipFill>
          <a:blip r:embed="rId2"/>
          <a:stretch>
            <a:fillRect/>
          </a:stretch>
        </p:blipFill>
        <p:spPr>
          <a:xfrm>
            <a:off x="6406286" y="1925726"/>
            <a:ext cx="263347" cy="263347"/>
          </a:xfrm>
          <a:prstGeom prst="rect">
            <a:avLst/>
          </a:prstGeom>
        </p:spPr>
      </p:pic>
      <p:sp>
        <p:nvSpPr>
          <p:cNvPr id="12" name="Text 8"/>
          <p:cNvSpPr txBox="1"/>
          <p:nvPr/>
        </p:nvSpPr>
        <p:spPr>
          <a:xfrm>
            <a:off x="6995160" y="1828800"/>
            <a:ext cx="4647895" cy="457200"/>
          </a:xfrm>
          <a:prstGeom prst="rect">
            <a:avLst/>
          </a:prstGeom>
          <a:noFill/>
          <a:ln/>
        </p:spPr>
        <p:txBody>
          <a:bodyPr wrap="square" lIns="0" tIns="0" rIns="0" bIns="0" rtlCol="0" anchor="ctr"/>
          <a:lstStyle/>
          <a:p>
            <a:pPr indent="0" marL="0">
              <a:buNone/>
            </a:pPr>
            <a:r>
              <a:rPr lang="en-US" sz="2000" b="1" dirty="0">
                <a:solidFill>
                  <a:srgbClr val="1B2536"/>
                </a:solidFill>
                <a:latin typeface="Cambria" pitchFamily="34" charset="0"/>
                <a:ea typeface="Cambria" pitchFamily="34" charset="-122"/>
                <a:cs typeface="Cambria" pitchFamily="34" charset="-120"/>
              </a:rPr>
              <a:t>Outbound webhook</a:t>
            </a:r>
            <a:endParaRPr lang="en-US" sz="2000" dirty="0"/>
          </a:p>
        </p:txBody>
      </p:sp>
      <p:sp>
        <p:nvSpPr>
          <p:cNvPr id="13" name="Shape 9"/>
          <p:cNvSpPr/>
          <p:nvPr/>
        </p:nvSpPr>
        <p:spPr>
          <a:xfrm>
            <a:off x="6263640" y="2514600"/>
            <a:ext cx="5379415" cy="3017520"/>
          </a:xfrm>
          <a:prstGeom prst="roundRect">
            <a:avLst>
              <a:gd name="adj" fmla="val 2424"/>
            </a:avLst>
          </a:prstGeom>
          <a:solidFill>
            <a:srgbClr val="0F1623"/>
          </a:solidFill>
          <a:ln w="12700">
            <a:solidFill>
              <a:srgbClr val="0F1623"/>
            </a:solidFill>
            <a:prstDash val="solid"/>
          </a:ln>
        </p:spPr>
      </p:sp>
      <p:sp>
        <p:nvSpPr>
          <p:cNvPr id="14" name="Text 10"/>
          <p:cNvSpPr txBox="1"/>
          <p:nvPr/>
        </p:nvSpPr>
        <p:spPr>
          <a:xfrm>
            <a:off x="6492240" y="2651760"/>
            <a:ext cx="4922215" cy="274320"/>
          </a:xfrm>
          <a:prstGeom prst="rect">
            <a:avLst/>
          </a:prstGeom>
          <a:noFill/>
          <a:ln/>
        </p:spPr>
        <p:txBody>
          <a:bodyPr wrap="square" lIns="0" tIns="0" rIns="0" bIns="0" rtlCol="0" anchor="ctr"/>
          <a:lstStyle/>
          <a:p>
            <a:pPr indent="0" marL="0">
              <a:buNone/>
            </a:pPr>
            <a:r>
              <a:rPr lang="en-US" sz="1100" dirty="0">
                <a:solidFill>
                  <a:srgbClr val="7A8699"/>
                </a:solidFill>
                <a:latin typeface="Calibri" pitchFamily="34" charset="0"/>
                <a:ea typeface="Calibri" pitchFamily="34" charset="-122"/>
                <a:cs typeface="Calibri" pitchFamily="34" charset="-120"/>
              </a:rPr>
              <a:t>Fires on completion if webhook_url is set · HMAC-signed</a:t>
            </a:r>
          </a:p>
        </p:txBody>
      </p:sp>
      <p:sp>
        <p:nvSpPr>
          <p:cNvPr id="15" name="Text 11"/>
          <p:cNvSpPr txBox="1"/>
          <p:nvPr/>
        </p:nvSpPr>
        <p:spPr>
          <a:xfrm>
            <a:off x="6492240" y="2971800"/>
            <a:ext cx="4922215" cy="2423160"/>
          </a:xfrm>
          <a:prstGeom prst="rect">
            <a:avLst/>
          </a:prstGeom>
          <a:noFill/>
          <a:ln/>
        </p:spPr>
        <p:txBody>
          <a:bodyPr wrap="square" lIns="0" tIns="0" rIns="0" bIns="0" rtlCol="0" anchor="t"/>
          <a:lstStyle/>
          <a:p>
            <a:pPr indent="0" marL="0">
              <a:buNone/>
            </a:pPr>
            <a:r>
              <a:rPr lang="en-US" sz="1250" dirty="0">
                <a:solidFill>
                  <a:srgbClr val="F4A259"/>
                </a:solidFill>
                <a:latin typeface="Courier New" pitchFamily="34" charset="0"/>
                <a:ea typeface="Courier New" pitchFamily="34" charset="-122"/>
                <a:cs typeface="Courier New" pitchFamily="34" charset="-120"/>
              </a:rPr>
              <a:t>POST</a:t>
            </a:r>
            <a:r>
              <a:rPr lang="en-US" sz="1250" dirty="0">
                <a:solidFill>
                  <a:srgbClr val="D6DEEB"/>
                </a:solidFill>
                <a:latin typeface="Courier New" pitchFamily="34" charset="0"/>
                <a:ea typeface="Courier New" pitchFamily="34" charset="-122"/>
                <a:cs typeface="Courier New" pitchFamily="34" charset="-120"/>
              </a:rPr>
              <a:t xml:space="preserve"> {webhook_url}</a:t>
            </a:r>
          </a:p>
          <a:p>
            <a:pPr indent="0" marL="0">
              <a:buNone/>
            </a:pPr>
            <a:r>
              <a:rPr lang="en-US" sz="1250" dirty="0">
                <a:solidFill>
                  <a:srgbClr val="F4A259"/>
                </a:solidFill>
                <a:latin typeface="Courier New" pitchFamily="34" charset="0"/>
                <a:ea typeface="Courier New" pitchFamily="34" charset="-122"/>
                <a:cs typeface="Courier New" pitchFamily="34" charset="-120"/>
              </a:rPr>
              <a:t xml:space="preserve">X-DDT-Event: </a:t>
            </a:r>
            <a:r>
              <a:rPr lang="en-US" sz="1250" dirty="0">
                <a:solidFill>
                  <a:srgbClr val="D6DEEB"/>
                </a:solidFill>
                <a:latin typeface="Courier New" pitchFamily="34" charset="0"/>
                <a:ea typeface="Courier New" pitchFamily="34" charset="-122"/>
                <a:cs typeface="Courier New" pitchFamily="34" charset="-120"/>
              </a:rPr>
              <a:t>transaction.completed</a:t>
            </a:r>
          </a:p>
          <a:p>
            <a:pPr indent="0" marL="0">
              <a:buNone/>
            </a:pPr>
            <a:r>
              <a:rPr lang="en-US" sz="1250" dirty="0">
                <a:solidFill>
                  <a:srgbClr val="F4A259"/>
                </a:solidFill>
                <a:latin typeface="Courier New" pitchFamily="34" charset="0"/>
                <a:ea typeface="Courier New" pitchFamily="34" charset="-122"/>
                <a:cs typeface="Courier New" pitchFamily="34" charset="-120"/>
              </a:rPr>
              <a:t xml:space="preserve">X-DDT-Signature: </a:t>
            </a:r>
            <a:r>
              <a:rPr lang="en-US" sz="1250" dirty="0">
                <a:solidFill>
                  <a:srgbClr val="D6DEEB"/>
                </a:solidFill>
                <a:latin typeface="Courier New" pitchFamily="34" charset="0"/>
                <a:ea typeface="Courier New" pitchFamily="34" charset="-122"/>
                <a:cs typeface="Courier New" pitchFamily="34" charset="-120"/>
              </a:rPr>
              <a:t>t=1790661234,v1=5f2c…</a:t>
            </a:r>
          </a:p>
          <a:p>
            <a:pPr indent="0" marL="0">
              <a:buNone/>
            </a:pPr>
            <a:endParaRPr lang="en-US" sz="1250" dirty="0">
              <a:solidFill>
                <a:srgbClr val="F4A259"/>
              </a:solidFill>
              <a:latin typeface="Courier New" pitchFamily="34" charset="0"/>
              <a:ea typeface="Courier New" pitchFamily="34" charset="-122"/>
              <a:cs typeface="Courier New" pitchFamily="34" charset="-120"/>
            </a:endParaRPr>
          </a:p>
          <a:p>
            <a:pPr indent="0" marL="0">
              <a:buNone/>
            </a:pP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F4A259"/>
                </a:solidFill>
                <a:latin typeface="Courier New" pitchFamily="34" charset="0"/>
                <a:ea typeface="Courier New" pitchFamily="34" charset="-122"/>
                <a:cs typeface="Courier New" pitchFamily="34" charset="-120"/>
              </a:rPr>
              <a:t>"event"</a:t>
            </a:r>
            <a:r>
              <a:rPr lang="en-US" sz="1250" dirty="0">
                <a:solidFill>
                  <a:srgbClr val="D6DEEB"/>
                </a:solidFill>
                <a:latin typeface="Courier New" pitchFamily="34" charset="0"/>
                <a:ea typeface="Courier New" pitchFamily="34" charset="-122"/>
                <a:cs typeface="Courier New" pitchFamily="34" charset="-120"/>
              </a:rPr>
              <a:t>:</a:t>
            </a: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9CDCFE"/>
                </a:solidFill>
                <a:latin typeface="Courier New" pitchFamily="34" charset="0"/>
                <a:ea typeface="Courier New" pitchFamily="34" charset="-122"/>
                <a:cs typeface="Courier New" pitchFamily="34" charset="-120"/>
              </a:rPr>
              <a:t>"transaction.completed"</a:t>
            </a:r>
            <a:r>
              <a:rPr lang="en-US" sz="1250" dirty="0">
                <a:solidFill>
                  <a:srgbClr val="D6DEEB"/>
                </a:solidFill>
                <a:latin typeface="Courier New" pitchFamily="34" charset="0"/>
                <a:ea typeface="Courier New" pitchFamily="34" charset="-122"/>
                <a:cs typeface="Courier New" pitchFamily="34" charset="-120"/>
              </a:rPr>
              <a:t>,</a:t>
            </a:r>
          </a:p>
          <a:p>
            <a:pPr indent="0" marL="0">
              <a:buNone/>
            </a:pP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F4A259"/>
                </a:solidFill>
                <a:latin typeface="Courier New" pitchFamily="34" charset="0"/>
                <a:ea typeface="Courier New" pitchFamily="34" charset="-122"/>
                <a:cs typeface="Courier New" pitchFamily="34" charset="-120"/>
              </a:rPr>
              <a:t>"txndef_name"</a:t>
            </a:r>
            <a:r>
              <a:rPr lang="en-US" sz="1250" dirty="0">
                <a:solidFill>
                  <a:srgbClr val="D6DEEB"/>
                </a:solidFill>
                <a:latin typeface="Courier New" pitchFamily="34" charset="0"/>
                <a:ea typeface="Courier New" pitchFamily="34" charset="-122"/>
                <a:cs typeface="Courier New" pitchFamily="34" charset="-120"/>
              </a:rPr>
              <a:t>:</a:t>
            </a: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9CDCFE"/>
                </a:solidFill>
                <a:latin typeface="Courier New" pitchFamily="34" charset="0"/>
                <a:ea typeface="Courier New" pitchFamily="34" charset="-122"/>
                <a:cs typeface="Courier New" pitchFamily="34" charset="-120"/>
              </a:rPr>
              <a:t>"DWRS"</a:t>
            </a:r>
            <a:r>
              <a:rPr lang="en-US" sz="1250" dirty="0">
                <a:solidFill>
                  <a:srgbClr val="D6DEEB"/>
                </a:solidFill>
                <a:latin typeface="Courier New" pitchFamily="34" charset="0"/>
                <a:ea typeface="Courier New" pitchFamily="34" charset="-122"/>
                <a:cs typeface="Courier New" pitchFamily="34" charset="-120"/>
              </a:rPr>
              <a:t>,</a:t>
            </a:r>
          </a:p>
          <a:p>
            <a:pPr indent="0" marL="0">
              <a:buNone/>
            </a:pP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F4A259"/>
                </a:solidFill>
                <a:latin typeface="Courier New" pitchFamily="34" charset="0"/>
                <a:ea typeface="Courier New" pitchFamily="34" charset="-122"/>
                <a:cs typeface="Courier New" pitchFamily="34" charset="-120"/>
              </a:rPr>
              <a:t>"transaction"</a:t>
            </a:r>
            <a:r>
              <a:rPr lang="en-US" sz="1250" dirty="0">
                <a:solidFill>
                  <a:srgbClr val="D6DEEB"/>
                </a:solidFill>
                <a:latin typeface="Courier New" pitchFamily="34" charset="0"/>
                <a:ea typeface="Courier New" pitchFamily="34" charset="-122"/>
                <a:cs typeface="Courier New" pitchFamily="34" charset="-120"/>
              </a:rPr>
              <a:t>:</a:t>
            </a:r>
            <a:r>
              <a:rPr lang="en-US" sz="1250" dirty="0">
                <a:solidFill>
                  <a:srgbClr val="D6DEEB"/>
                </a:solidFill>
                <a:latin typeface="Courier New" pitchFamily="34" charset="0"/>
                <a:ea typeface="Courier New" pitchFamily="34" charset="-122"/>
                <a:cs typeface="Courier New" pitchFamily="34" charset="-120"/>
              </a:rPr>
              <a:t xml:space="preserve"> {</a:t>
            </a:r>
          </a:p>
          <a:p>
            <a:pPr indent="0" marL="0">
              <a:buNone/>
            </a:pP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F4A259"/>
                </a:solidFill>
                <a:latin typeface="Courier New" pitchFamily="34" charset="0"/>
                <a:ea typeface="Courier New" pitchFamily="34" charset="-122"/>
                <a:cs typeface="Courier New" pitchFamily="34" charset="-120"/>
              </a:rPr>
              <a:t>"status"</a:t>
            </a:r>
            <a:r>
              <a:rPr lang="en-US" sz="1250" dirty="0">
                <a:solidFill>
                  <a:srgbClr val="D6DEEB"/>
                </a:solidFill>
                <a:latin typeface="Courier New" pitchFamily="34" charset="0"/>
                <a:ea typeface="Courier New" pitchFamily="34" charset="-122"/>
                <a:cs typeface="Courier New" pitchFamily="34" charset="-120"/>
              </a:rPr>
              <a:t>:</a:t>
            </a: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9CDCFE"/>
                </a:solidFill>
                <a:latin typeface="Courier New" pitchFamily="34" charset="0"/>
                <a:ea typeface="Courier New" pitchFamily="34" charset="-122"/>
                <a:cs typeface="Courier New" pitchFamily="34" charset="-120"/>
              </a:rPr>
              <a:t>"complete"</a:t>
            </a:r>
            <a:r>
              <a:rPr lang="en-US" sz="1250" dirty="0">
                <a:solidFill>
                  <a:srgbClr val="D6DEEB"/>
                </a:solidFill>
                <a:latin typeface="Courier New" pitchFamily="34" charset="0"/>
                <a:ea typeface="Courier New" pitchFamily="34" charset="-122"/>
                <a:cs typeface="Courier New" pitchFamily="34" charset="-120"/>
              </a:rPr>
              <a:t>,</a:t>
            </a:r>
          </a:p>
          <a:p>
            <a:pPr indent="0" marL="0">
              <a:buNone/>
            </a:pPr>
            <a:r>
              <a:rPr lang="en-US" sz="1250" dirty="0">
                <a:solidFill>
                  <a:srgbClr val="D6DEEB"/>
                </a:solidFill>
                <a:latin typeface="Courier New" pitchFamily="34" charset="0"/>
                <a:ea typeface="Courier New" pitchFamily="34" charset="-122"/>
                <a:cs typeface="Courier New" pitchFamily="34" charset="-120"/>
              </a:rPr>
              <a:t xml:space="preserve">    </a:t>
            </a:r>
            <a:r>
              <a:rPr lang="en-US" sz="1250" dirty="0">
                <a:solidFill>
                  <a:srgbClr val="F4A259"/>
                </a:solidFill>
                <a:latin typeface="Courier New" pitchFamily="34" charset="0"/>
                <a:ea typeface="Courier New" pitchFamily="34" charset="-122"/>
                <a:cs typeface="Courier New" pitchFamily="34" charset="-120"/>
              </a:rPr>
              <a:t>"data"</a:t>
            </a:r>
            <a:r>
              <a:rPr lang="en-US" sz="1250" dirty="0">
                <a:solidFill>
                  <a:srgbClr val="D6DEEB"/>
                </a:solidFill>
                <a:latin typeface="Courier New" pitchFamily="34" charset="0"/>
                <a:ea typeface="Courier New" pitchFamily="34" charset="-122"/>
                <a:cs typeface="Courier New" pitchFamily="34" charset="-120"/>
              </a:rPr>
              <a:t>:</a:t>
            </a:r>
            <a:r>
              <a:rPr lang="en-US" sz="1250" dirty="0">
                <a:solidFill>
                  <a:srgbClr val="D6DEEB"/>
                </a:solidFill>
                <a:latin typeface="Courier New" pitchFamily="34" charset="0"/>
                <a:ea typeface="Courier New" pitchFamily="34" charset="-122"/>
                <a:cs typeface="Courier New" pitchFamily="34" charset="-120"/>
              </a:rPr>
              <a:t xml:space="preserve"> { … } }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4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Calling the API with curl</a:t>
            </a:r>
            <a:endParaRPr lang="en-US" sz="3600" dirty="0"/>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Plain HTTP + JSON — any language, tool or platform can consume it</a:t>
            </a:r>
            <a:endParaRPr lang="en-US" sz="1600" dirty="0"/>
          </a:p>
        </p:txBody>
      </p:sp>
      <p:sp>
        <p:nvSpPr>
          <p:cNvPr id="4" name="Shape 2"/>
          <p:cNvSpPr/>
          <p:nvPr/>
        </p:nvSpPr>
        <p:spPr>
          <a:xfrm>
            <a:off x="548640" y="1691640"/>
            <a:ext cx="11094415" cy="777240"/>
          </a:xfrm>
          <a:prstGeom prst="roundRect">
            <a:avLst>
              <a:gd name="adj" fmla="val 9412"/>
            </a:avLst>
          </a:prstGeom>
          <a:solidFill>
            <a:srgbClr val="0F1623"/>
          </a:solidFill>
          <a:ln w="12700">
            <a:solidFill>
              <a:srgbClr val="0F1623"/>
            </a:solidFill>
            <a:prstDash val="solid"/>
          </a:ln>
        </p:spPr>
      </p:sp>
      <p:sp>
        <p:nvSpPr>
          <p:cNvPr id="5" name="Text 3"/>
          <p:cNvSpPr txBox="1"/>
          <p:nvPr/>
        </p:nvSpPr>
        <p:spPr>
          <a:xfrm>
            <a:off x="777240" y="1764792"/>
            <a:ext cx="10637215" cy="658368"/>
          </a:xfrm>
          <a:prstGeom prst="rect">
            <a:avLst/>
          </a:prstGeom>
          <a:noFill/>
          <a:ln/>
        </p:spPr>
        <p:txBody>
          <a:bodyPr wrap="square" lIns="0" tIns="0" rIns="0" bIns="0" rtlCol="0" anchor="t"/>
          <a:lstStyle/>
          <a:p>
            <a:pPr indent="0" marL="0">
              <a:buNone/>
            </a:pPr>
            <a:r>
              <a:rPr lang="en-US" sz="1200" dirty="0">
                <a:solidFill>
                  <a:srgbClr val="6A7A92"/>
                </a:solidFill>
                <a:latin typeface="Courier New" pitchFamily="34" charset="0"/>
                <a:ea typeface="Courier New" pitchFamily="34" charset="-122"/>
                <a:cs typeface="Courier New" pitchFamily="34" charset="-120"/>
              </a:rPr>
              <a:t xml:space="preserve">$ </a:t>
            </a:r>
            <a:r>
              <a:rPr lang="en-US" sz="1200" dirty="0">
                <a:solidFill>
                  <a:srgbClr val="D6DEEB"/>
                </a:solidFill>
                <a:latin typeface="Courier New" pitchFamily="34" charset="0"/>
                <a:ea typeface="Courier New" pitchFamily="34" charset="-122"/>
                <a:cs typeface="Courier New" pitchFamily="34" charset="-120"/>
              </a:rPr>
              <a:t>API=http://localhost:5050</a:t>
            </a:r>
            <a:r>
              <a:rPr lang="en-US" sz="1200" dirty="0">
                <a:solidFill>
                  <a:srgbClr val="6A7A92"/>
                </a:solidFill>
                <a:latin typeface="Courier New" pitchFamily="34" charset="0"/>
                <a:ea typeface="Courier New" pitchFamily="34" charset="-122"/>
                <a:cs typeface="Courier New" pitchFamily="34" charset="-120"/>
              </a:rPr>
              <a:t xml:space="preserve">      # the server</a:t>
            </a:r>
          </a:p>
          <a:p>
            <a:pPr indent="0" marL="0">
              <a:buNone/>
            </a:pPr>
            <a:r>
              <a:rPr lang="en-US" sz="1200" dirty="0">
                <a:solidFill>
                  <a:srgbClr val="6A7A92"/>
                </a:solidFill>
                <a:latin typeface="Courier New" pitchFamily="34" charset="0"/>
                <a:ea typeface="Courier New" pitchFamily="34" charset="-122"/>
                <a:cs typeface="Courier New" pitchFamily="34" charset="-120"/>
              </a:rPr>
              <a:t xml:space="preserve">$ </a:t>
            </a:r>
            <a:r>
              <a:rPr lang="en-US" sz="1200" dirty="0">
                <a:solidFill>
                  <a:srgbClr val="D6DEEB"/>
                </a:solidFill>
                <a:latin typeface="Courier New" pitchFamily="34" charset="0"/>
                <a:ea typeface="Courier New" pitchFamily="34" charset="-122"/>
                <a:cs typeface="Courier New" pitchFamily="34" charset="-120"/>
              </a:rPr>
              <a:t>ID=6a226fff816eba41437ddf38</a:t>
            </a:r>
            <a:r>
              <a:rPr lang="en-US" sz="1200" dirty="0">
                <a:solidFill>
                  <a:srgbClr val="6A7A92"/>
                </a:solidFill>
                <a:latin typeface="Courier New" pitchFamily="34" charset="0"/>
                <a:ea typeface="Courier New" pitchFamily="34" charset="-122"/>
                <a:cs typeface="Courier New" pitchFamily="34" charset="-120"/>
              </a:rPr>
              <a:t xml:space="preserve">    # a transaction definition ("pay banana")</a:t>
            </a:r>
          </a:p>
          <a:p>
            <a:pPr indent="0" marL="0">
              <a:buNone/>
            </a:pPr>
            <a:r>
              <a:rPr lang="en-US" sz="1200" dirty="0">
                <a:solidFill>
                  <a:srgbClr val="6A7A92"/>
                </a:solidFill>
                <a:latin typeface="Courier New" pitchFamily="34" charset="0"/>
                <a:ea typeface="Courier New" pitchFamily="34" charset="-122"/>
                <a:cs typeface="Courier New" pitchFamily="34" charset="-120"/>
              </a:rPr>
              <a:t xml:space="preserve">$ </a:t>
            </a:r>
            <a:r>
              <a:rPr lang="en-US" sz="1200" dirty="0">
                <a:solidFill>
                  <a:srgbClr val="D6DEEB"/>
                </a:solidFill>
                <a:latin typeface="Courier New" pitchFamily="34" charset="0"/>
                <a:ea typeface="Courier New" pitchFamily="34" charset="-122"/>
                <a:cs typeface="Courier New" pitchFamily="34" charset="-120"/>
              </a:rPr>
              <a:t>KEY=ddt_…</a:t>
            </a:r>
            <a:r>
              <a:rPr lang="en-US" sz="1200" dirty="0">
                <a:solidFill>
                  <a:srgbClr val="6A7A92"/>
                </a:solidFill>
                <a:latin typeface="Courier New" pitchFamily="34" charset="0"/>
                <a:ea typeface="Courier New" pitchFamily="34" charset="-122"/>
                <a:cs typeface="Courier New" pitchFamily="34" charset="-120"/>
              </a:rPr>
              <a:t xml:space="preserve">                      # an API key with transactions:read</a:t>
            </a:r>
          </a:p>
        </p:txBody>
      </p:sp>
      <p:sp>
        <p:nvSpPr>
          <p:cNvPr id="6" name="Shape 4"/>
          <p:cNvSpPr/>
          <p:nvPr/>
        </p:nvSpPr>
        <p:spPr>
          <a:xfrm>
            <a:off x="548640" y="2697480"/>
            <a:ext cx="5364328" cy="1463040"/>
          </a:xfrm>
          <a:prstGeom prst="roundRect">
            <a:avLst>
              <a:gd name="adj" fmla="val 5000"/>
            </a:avLst>
          </a:prstGeom>
          <a:solidFill>
            <a:srgbClr val="0F1623"/>
          </a:solidFill>
          <a:ln w="12700">
            <a:solidFill>
              <a:srgbClr val="0F1623"/>
            </a:solidFill>
            <a:prstDash val="solid"/>
          </a:ln>
        </p:spPr>
      </p:sp>
      <p:sp>
        <p:nvSpPr>
          <p:cNvPr id="7" name="Text 5"/>
          <p:cNvSpPr txBox="1"/>
          <p:nvPr/>
        </p:nvSpPr>
        <p:spPr>
          <a:xfrm>
            <a:off x="777240" y="2834640"/>
            <a:ext cx="4907128" cy="274320"/>
          </a:xfrm>
          <a:prstGeom prst="rect">
            <a:avLst/>
          </a:prstGeom>
          <a:noFill/>
          <a:ln/>
        </p:spPr>
        <p:txBody>
          <a:bodyPr wrap="square" lIns="0" tIns="0" rIns="0" bIns="0" rtlCol="0" anchor="ctr"/>
          <a:lstStyle/>
          <a:p>
            <a:pPr indent="0" marL="0">
              <a:buNone/>
            </a:pPr>
            <a:r>
              <a:rPr lang="en-US" sz="1100" dirty="0">
                <a:solidFill>
                  <a:srgbClr val="7A8699"/>
                </a:solidFill>
                <a:latin typeface="Calibri" pitchFamily="34" charset="0"/>
                <a:ea typeface="Calibri" pitchFamily="34" charset="-122"/>
                <a:cs typeface="Calibri" pitchFamily="34" charset="-120"/>
              </a:rPr>
              <a:t>1 · List definitions and their IDs</a:t>
            </a:r>
            <a:endParaRPr lang="en-US" sz="1100" dirty="0"/>
          </a:p>
        </p:txBody>
      </p:sp>
      <p:sp>
        <p:nvSpPr>
          <p:cNvPr id="8" name="Text 6"/>
          <p:cNvSpPr txBox="1"/>
          <p:nvPr/>
        </p:nvSpPr>
        <p:spPr>
          <a:xfrm>
            <a:off x="777240" y="3154680"/>
            <a:ext cx="4907128" cy="868680"/>
          </a:xfrm>
          <a:prstGeom prst="rect">
            <a:avLst/>
          </a:prstGeom>
          <a:noFill/>
          <a:ln/>
        </p:spPr>
        <p:txBody>
          <a:bodyPr wrap="square" lIns="0" tIns="0" rIns="0" bIns="0" rtlCol="0" anchor="t"/>
          <a:lstStyle/>
          <a:p>
            <a:pPr indent="0" marL="0">
              <a:buNone/>
            </a:pPr>
            <a:r>
              <a:rPr lang="en-US" sz="1100" dirty="0">
                <a:solidFill>
                  <a:srgbClr val="6A7A92"/>
                </a:solidFill>
                <a:latin typeface="Courier New" pitchFamily="34" charset="0"/>
                <a:ea typeface="Courier New" pitchFamily="34" charset="-122"/>
                <a:cs typeface="Courier New" pitchFamily="34" charset="-120"/>
              </a:rPr>
              <a:t>$ </a:t>
            </a:r>
            <a:pPr indent="0" marL="0">
              <a:buNone/>
            </a:pPr>
            <a:r>
              <a:rPr lang="en-US" sz="1100" dirty="0">
                <a:solidFill>
                  <a:srgbClr val="D6DEEB"/>
                </a:solidFill>
                <a:latin typeface="Courier New" pitchFamily="34" charset="0"/>
                <a:ea typeface="Courier New" pitchFamily="34" charset="-122"/>
                <a:cs typeface="Courier New" pitchFamily="34" charset="-120"/>
              </a:rPr>
              <a:t>curl -s $API/txndef | jq -r '.[] | "\(._id) \(.name)"'</a:t>
            </a:r>
            <a:endParaRPr lang="en-US" sz="1100" dirty="0"/>
          </a:p>
          <a:p>
            <a:pPr indent="0" marL="0">
              <a:buNone/>
            </a:pPr>
            <a:r>
              <a:rPr lang="en-US" sz="1100" dirty="0">
                <a:solidFill>
                  <a:srgbClr val="6A7A92"/>
                </a:solidFill>
                <a:latin typeface="Courier New" pitchFamily="34" charset="0"/>
                <a:ea typeface="Courier New" pitchFamily="34" charset="-122"/>
                <a:cs typeface="Courier New" pitchFamily="34" charset="-120"/>
              </a:rPr>
              <a:t>66396e466d6b9f2a08710c38 DWRS</a:t>
            </a:r>
            <a:endParaRPr lang="en-US" sz="1100" dirty="0"/>
          </a:p>
          <a:p>
            <a:pPr indent="0" marL="0">
              <a:buNone/>
            </a:pPr>
            <a:r>
              <a:rPr lang="en-US" sz="1100" dirty="0">
                <a:solidFill>
                  <a:srgbClr val="6A7A92"/>
                </a:solidFill>
                <a:latin typeface="Courier New" pitchFamily="34" charset="0"/>
                <a:ea typeface="Courier New" pitchFamily="34" charset="-122"/>
                <a:cs typeface="Courier New" pitchFamily="34" charset="-120"/>
              </a:rPr>
              <a:t>6a226fff816eba41437ddf38 pay banana</a:t>
            </a:r>
            <a:endParaRPr lang="en-US" sz="1100" dirty="0"/>
          </a:p>
        </p:txBody>
      </p:sp>
      <p:sp>
        <p:nvSpPr>
          <p:cNvPr id="9" name="Shape 7"/>
          <p:cNvSpPr/>
          <p:nvPr/>
        </p:nvSpPr>
        <p:spPr>
          <a:xfrm>
            <a:off x="6278728" y="2697480"/>
            <a:ext cx="5364328" cy="1463040"/>
          </a:xfrm>
          <a:prstGeom prst="roundRect">
            <a:avLst>
              <a:gd name="adj" fmla="val 5000"/>
            </a:avLst>
          </a:prstGeom>
          <a:solidFill>
            <a:srgbClr val="0F1623"/>
          </a:solidFill>
          <a:ln w="12700">
            <a:solidFill>
              <a:srgbClr val="0F1623"/>
            </a:solidFill>
            <a:prstDash val="solid"/>
          </a:ln>
        </p:spPr>
      </p:sp>
      <p:sp>
        <p:nvSpPr>
          <p:cNvPr id="10" name="Text 8"/>
          <p:cNvSpPr txBox="1"/>
          <p:nvPr/>
        </p:nvSpPr>
        <p:spPr>
          <a:xfrm>
            <a:off x="6507328" y="2834640"/>
            <a:ext cx="4907128" cy="274320"/>
          </a:xfrm>
          <a:prstGeom prst="rect">
            <a:avLst/>
          </a:prstGeom>
          <a:noFill/>
          <a:ln/>
        </p:spPr>
        <p:txBody>
          <a:bodyPr wrap="square" lIns="0" tIns="0" rIns="0" bIns="0" rtlCol="0" anchor="ctr"/>
          <a:lstStyle/>
          <a:p>
            <a:pPr indent="0" marL="0">
              <a:buNone/>
            </a:pPr>
            <a:r>
              <a:rPr lang="en-US" sz="1100" dirty="0">
                <a:solidFill>
                  <a:srgbClr val="7A8699"/>
                </a:solidFill>
                <a:latin typeface="Calibri" pitchFamily="34" charset="0"/>
                <a:ea typeface="Calibri" pitchFamily="34" charset="-122"/>
                <a:cs typeface="Calibri" pitchFamily="34" charset="-120"/>
              </a:rPr>
              <a:t>2 · Inspect a definition’s steps</a:t>
            </a:r>
            <a:endParaRPr lang="en-US" sz="1100" dirty="0"/>
          </a:p>
        </p:txBody>
      </p:sp>
      <p:sp>
        <p:nvSpPr>
          <p:cNvPr id="11" name="Text 9"/>
          <p:cNvSpPr txBox="1"/>
          <p:nvPr/>
        </p:nvSpPr>
        <p:spPr>
          <a:xfrm>
            <a:off x="6507328" y="3154680"/>
            <a:ext cx="4907128" cy="868680"/>
          </a:xfrm>
          <a:prstGeom prst="rect">
            <a:avLst/>
          </a:prstGeom>
          <a:noFill/>
          <a:ln/>
        </p:spPr>
        <p:txBody>
          <a:bodyPr wrap="square" lIns="0" tIns="0" rIns="0" bIns="0" rtlCol="0" anchor="t"/>
          <a:lstStyle/>
          <a:p>
            <a:pPr indent="0" marL="0">
              <a:buNone/>
            </a:pPr>
            <a:r>
              <a:rPr lang="en-US" sz="1100" dirty="0">
                <a:solidFill>
                  <a:srgbClr val="6A7A92"/>
                </a:solidFill>
                <a:latin typeface="Courier New" pitchFamily="34" charset="0"/>
                <a:ea typeface="Courier New" pitchFamily="34" charset="-122"/>
                <a:cs typeface="Courier New" pitchFamily="34" charset="-120"/>
              </a:rPr>
              <a:t>$ </a:t>
            </a:r>
            <a:pPr indent="0" marL="0">
              <a:buNone/>
            </a:pPr>
            <a:r>
              <a:rPr lang="en-US" sz="1100" dirty="0">
                <a:solidFill>
                  <a:srgbClr val="D6DEEB"/>
                </a:solidFill>
                <a:latin typeface="Courier New" pitchFamily="34" charset="0"/>
                <a:ea typeface="Courier New" pitchFamily="34" charset="-122"/>
                <a:cs typeface="Courier New" pitchFamily="34" charset="-120"/>
              </a:rPr>
              <a:t>curl -s $API/txndef/$ID \</a:t>
            </a:r>
            <a:endParaRPr lang="en-US" sz="1100" dirty="0"/>
          </a:p>
          <a:p>
            <a:pPr indent="0" marL="0">
              <a:buNone/>
            </a:pPr>
            <a:r>
              <a:rPr lang="en-US" sz="1100" dirty="0">
                <a:solidFill>
                  <a:srgbClr val="D6DEEB"/>
                </a:solidFill>
                <a:latin typeface="Courier New" pitchFamily="34" charset="0"/>
                <a:ea typeface="Courier New" pitchFamily="34" charset="-122"/>
                <a:cs typeface="Courier New" pitchFamily="34" charset="-120"/>
              </a:rPr>
              <a:t>    | jq -c '.schema.fields[0].fields[] | {name, type}'</a:t>
            </a:r>
            <a:endParaRPr lang="en-US" sz="1100" dirty="0"/>
          </a:p>
          <a:p>
            <a:pPr indent="0" marL="0">
              <a:buNone/>
            </a:pPr>
            <a:r>
              <a:rPr lang="en-US" sz="1100" dirty="0">
                <a:solidFill>
                  <a:srgbClr val="6A7A92"/>
                </a:solidFill>
                <a:latin typeface="Courier New" pitchFamily="34" charset="0"/>
                <a:ea typeface="Courier New" pitchFamily="34" charset="-122"/>
                <a:cs typeface="Courier New" pitchFamily="34" charset="-120"/>
              </a:rPr>
              <a:t>{"name":"step-details","type":null}</a:t>
            </a:r>
            <a:endParaRPr lang="en-US" sz="1100" dirty="0"/>
          </a:p>
          <a:p>
            <a:pPr indent="0" marL="0">
              <a:buNone/>
            </a:pPr>
            <a:r>
              <a:rPr lang="en-US" sz="1100" dirty="0">
                <a:solidFill>
                  <a:srgbClr val="6A7A92"/>
                </a:solidFill>
                <a:latin typeface="Courier New" pitchFamily="34" charset="0"/>
                <a:ea typeface="Courier New" pitchFamily="34" charset="-122"/>
                <a:cs typeface="Courier New" pitchFamily="34" charset="-120"/>
              </a:rPr>
              <a:t>{"name":"step-payment","type":"payment"}</a:t>
            </a:r>
            <a:endParaRPr lang="en-US" sz="1100" dirty="0"/>
          </a:p>
        </p:txBody>
      </p:sp>
      <p:sp>
        <p:nvSpPr>
          <p:cNvPr id="12" name="Shape 10"/>
          <p:cNvSpPr/>
          <p:nvPr/>
        </p:nvSpPr>
        <p:spPr>
          <a:xfrm>
            <a:off x="548640" y="4389120"/>
            <a:ext cx="5364328" cy="1463040"/>
          </a:xfrm>
          <a:prstGeom prst="roundRect">
            <a:avLst>
              <a:gd name="adj" fmla="val 5000"/>
            </a:avLst>
          </a:prstGeom>
          <a:solidFill>
            <a:srgbClr val="0F1623"/>
          </a:solidFill>
          <a:ln w="12700">
            <a:solidFill>
              <a:srgbClr val="0F1623"/>
            </a:solidFill>
            <a:prstDash val="solid"/>
          </a:ln>
        </p:spPr>
      </p:sp>
      <p:sp>
        <p:nvSpPr>
          <p:cNvPr id="13" name="Text 11"/>
          <p:cNvSpPr txBox="1"/>
          <p:nvPr/>
        </p:nvSpPr>
        <p:spPr>
          <a:xfrm>
            <a:off x="777240" y="4526280"/>
            <a:ext cx="4907128" cy="274320"/>
          </a:xfrm>
          <a:prstGeom prst="rect">
            <a:avLst/>
          </a:prstGeom>
          <a:noFill/>
          <a:ln/>
        </p:spPr>
        <p:txBody>
          <a:bodyPr wrap="square" lIns="0" tIns="0" rIns="0" bIns="0" rtlCol="0" anchor="ctr"/>
          <a:lstStyle/>
          <a:p>
            <a:pPr indent="0" marL="0">
              <a:buNone/>
            </a:pPr>
            <a:r>
              <a:rPr lang="en-US" sz="1100" dirty="0">
                <a:solidFill>
                  <a:srgbClr val="7A8699"/>
                </a:solidFill>
                <a:latin typeface="Calibri" pitchFamily="34" charset="0"/>
                <a:ea typeface="Calibri" pitchFamily="34" charset="-122"/>
                <a:cs typeface="Calibri" pitchFamily="34" charset="-120"/>
              </a:rPr>
              <a:t>3 · Pull completed transactions</a:t>
            </a:r>
            <a:endParaRPr lang="en-US" sz="1100" dirty="0"/>
          </a:p>
        </p:txBody>
      </p:sp>
      <p:sp>
        <p:nvSpPr>
          <p:cNvPr id="14" name="Text 12"/>
          <p:cNvSpPr txBox="1"/>
          <p:nvPr/>
        </p:nvSpPr>
        <p:spPr>
          <a:xfrm>
            <a:off x="777240" y="4846320"/>
            <a:ext cx="4907128" cy="868680"/>
          </a:xfrm>
          <a:prstGeom prst="rect">
            <a:avLst/>
          </a:prstGeom>
          <a:noFill/>
          <a:ln/>
        </p:spPr>
        <p:txBody>
          <a:bodyPr wrap="square" lIns="0" tIns="0" rIns="0" bIns="0" rtlCol="0" anchor="t"/>
          <a:lstStyle/>
          <a:p>
            <a:pPr indent="0" marL="0">
              <a:buNone/>
            </a:pPr>
            <a:r>
              <a:rPr lang="en-US" sz="1100" dirty="0">
                <a:solidFill>
                  <a:srgbClr val="6A7A92"/>
                </a:solidFill>
                <a:latin typeface="Courier New" pitchFamily="34" charset="0"/>
                <a:ea typeface="Courier New" pitchFamily="34" charset="-122"/>
                <a:cs typeface="Courier New" pitchFamily="34" charset="-120"/>
              </a:rPr>
              <a:t xml:space="preserve">$ </a:t>
            </a:r>
            <a:r>
              <a:rPr lang="en-US" sz="1100" dirty="0">
                <a:solidFill>
                  <a:srgbClr val="D6DEEB"/>
                </a:solidFill>
                <a:latin typeface="Courier New" pitchFamily="34" charset="0"/>
                <a:ea typeface="Courier New" pitchFamily="34" charset="-122"/>
                <a:cs typeface="Courier New" pitchFamily="34" charset="-120"/>
              </a:rPr>
              <a:t xml:space="preserve">curl -s -H </a:t>
            </a:r>
            <a:r>
              <a:rPr lang="en-US" sz="1100" dirty="0">
                <a:solidFill>
                  <a:srgbClr val="9CDCFE"/>
                </a:solidFill>
                <a:latin typeface="Courier New" pitchFamily="34" charset="0"/>
                <a:ea typeface="Courier New" pitchFamily="34" charset="-122"/>
                <a:cs typeface="Courier New" pitchFamily="34" charset="-120"/>
              </a:rPr>
              <a:t>"Authorization: Bearer $KEY"</a:t>
            </a:r>
            <a:r>
              <a:rPr lang="en-US" sz="1100" dirty="0">
                <a:solidFill>
                  <a:srgbClr val="D6DEEB"/>
                </a:solidFill>
                <a:latin typeface="Courier New" pitchFamily="34" charset="0"/>
                <a:ea typeface="Courier New" pitchFamily="34" charset="-122"/>
                <a:cs typeface="Courier New" pitchFamily="34" charset="-120"/>
              </a:rPr>
              <a:t xml:space="preserve"> \</a:t>
            </a:r>
          </a:p>
          <a:p>
            <a:pPr indent="0" marL="0">
              <a:buNone/>
            </a:pPr>
            <a:r>
              <a:rPr lang="en-US" sz="1100" dirty="0">
                <a:solidFill>
                  <a:srgbClr val="D6DEEB"/>
                </a:solidFill>
                <a:latin typeface="Courier New" pitchFamily="34" charset="0"/>
                <a:ea typeface="Courier New" pitchFamily="34" charset="-122"/>
                <a:cs typeface="Courier New" pitchFamily="34" charset="-120"/>
              </a:rPr>
              <a:t xml:space="preserve">    $API/api/transactions/$ID | jq '.[] | {status, data}'</a:t>
            </a:r>
          </a:p>
          <a:p>
            <a:pPr indent="0" marL="0">
              <a:buNone/>
            </a:pPr>
            <a:r>
              <a:rPr lang="en-US" sz="1100" dirty="0">
                <a:solidFill>
                  <a:srgbClr val="D6DEEB"/>
                </a:solidFill>
                <a:latin typeface="Courier New" pitchFamily="34" charset="0"/>
                <a:ea typeface="Courier New" pitchFamily="34" charset="-122"/>
                <a:cs typeface="Courier New" pitchFamily="34" charset="-120"/>
              </a:rPr>
              <a:t xml:space="preserve">{ </a:t>
            </a:r>
            <a:r>
              <a:rPr lang="en-US" sz="1100" dirty="0">
                <a:solidFill>
                  <a:srgbClr val="F4A259"/>
                </a:solidFill>
                <a:latin typeface="Courier New" pitchFamily="34" charset="0"/>
                <a:ea typeface="Courier New" pitchFamily="34" charset="-122"/>
                <a:cs typeface="Courier New" pitchFamily="34" charset="-120"/>
              </a:rPr>
              <a:t>"status"</a:t>
            </a:r>
            <a:r>
              <a:rPr lang="en-US" sz="1100" dirty="0">
                <a:solidFill>
                  <a:srgbClr val="D6DEEB"/>
                </a:solidFill>
                <a:latin typeface="Courier New" pitchFamily="34" charset="0"/>
                <a:ea typeface="Courier New" pitchFamily="34" charset="-122"/>
                <a:cs typeface="Courier New" pitchFamily="34" charset="-120"/>
              </a:rPr>
              <a:t>:</a:t>
            </a:r>
            <a:r>
              <a:rPr lang="en-US" sz="1100" dirty="0">
                <a:solidFill>
                  <a:srgbClr val="D6DEEB"/>
                </a:solidFill>
                <a:latin typeface="Courier New" pitchFamily="34" charset="0"/>
                <a:ea typeface="Courier New" pitchFamily="34" charset="-122"/>
                <a:cs typeface="Courier New" pitchFamily="34" charset="-120"/>
              </a:rPr>
              <a:t xml:space="preserve"> </a:t>
            </a:r>
            <a:r>
              <a:rPr lang="en-US" sz="1100" dirty="0">
                <a:solidFill>
                  <a:srgbClr val="9CDCFE"/>
                </a:solidFill>
                <a:latin typeface="Courier New" pitchFamily="34" charset="0"/>
                <a:ea typeface="Courier New" pitchFamily="34" charset="-122"/>
                <a:cs typeface="Courier New" pitchFamily="34" charset="-120"/>
              </a:rPr>
              <a:t>"complete"</a:t>
            </a:r>
            <a:r>
              <a:rPr lang="en-US" sz="1100" dirty="0">
                <a:solidFill>
                  <a:srgbClr val="D6DEEB"/>
                </a:solidFill>
                <a:latin typeface="Courier New" pitchFamily="34" charset="0"/>
                <a:ea typeface="Courier New" pitchFamily="34" charset="-122"/>
                <a:cs typeface="Courier New" pitchFamily="34" charset="-120"/>
              </a:rPr>
              <a:t>,</a:t>
            </a:r>
          </a:p>
          <a:p>
            <a:pPr indent="0" marL="0">
              <a:buNone/>
            </a:pPr>
            <a:r>
              <a:rPr lang="en-US" sz="1100" dirty="0">
                <a:solidFill>
                  <a:srgbClr val="D6DEEB"/>
                </a:solidFill>
                <a:latin typeface="Courier New" pitchFamily="34" charset="0"/>
                <a:ea typeface="Courier New" pitchFamily="34" charset="-122"/>
                <a:cs typeface="Courier New" pitchFamily="34" charset="-120"/>
              </a:rPr>
              <a:t xml:space="preserve">  </a:t>
            </a:r>
            <a:r>
              <a:rPr lang="en-US" sz="1100" dirty="0">
                <a:solidFill>
                  <a:srgbClr val="F4A259"/>
                </a:solidFill>
                <a:latin typeface="Courier New" pitchFamily="34" charset="0"/>
                <a:ea typeface="Courier New" pitchFamily="34" charset="-122"/>
                <a:cs typeface="Courier New" pitchFamily="34" charset="-120"/>
              </a:rPr>
              <a:t>"data"</a:t>
            </a:r>
            <a:r>
              <a:rPr lang="en-US" sz="1100" dirty="0">
                <a:solidFill>
                  <a:srgbClr val="D6DEEB"/>
                </a:solidFill>
                <a:latin typeface="Courier New" pitchFamily="34" charset="0"/>
                <a:ea typeface="Courier New" pitchFamily="34" charset="-122"/>
                <a:cs typeface="Courier New" pitchFamily="34" charset="-120"/>
              </a:rPr>
              <a:t>:</a:t>
            </a:r>
            <a:r>
              <a:rPr lang="en-US" sz="1100" dirty="0">
                <a:solidFill>
                  <a:srgbClr val="D6DEEB"/>
                </a:solidFill>
                <a:latin typeface="Courier New" pitchFamily="34" charset="0"/>
                <a:ea typeface="Courier New" pitchFamily="34" charset="-122"/>
                <a:cs typeface="Courier New" pitchFamily="34" charset="-120"/>
              </a:rPr>
              <a:t xml:space="preserve"> { </a:t>
            </a:r>
            <a:r>
              <a:rPr lang="en-US" sz="1100" dirty="0">
                <a:solidFill>
                  <a:srgbClr val="F4A259"/>
                </a:solidFill>
                <a:latin typeface="Courier New" pitchFamily="34" charset="0"/>
                <a:ea typeface="Courier New" pitchFamily="34" charset="-122"/>
                <a:cs typeface="Courier New" pitchFamily="34" charset="-120"/>
              </a:rPr>
              <a:t>"first_name"</a:t>
            </a:r>
            <a:r>
              <a:rPr lang="en-US" sz="1100" dirty="0">
                <a:solidFill>
                  <a:srgbClr val="D6DEEB"/>
                </a:solidFill>
                <a:latin typeface="Courier New" pitchFamily="34" charset="0"/>
                <a:ea typeface="Courier New" pitchFamily="34" charset="-122"/>
                <a:cs typeface="Courier New" pitchFamily="34" charset="-120"/>
              </a:rPr>
              <a:t>:</a:t>
            </a:r>
            <a:r>
              <a:rPr lang="en-US" sz="1100" dirty="0">
                <a:solidFill>
                  <a:srgbClr val="D6DEEB"/>
                </a:solidFill>
                <a:latin typeface="Courier New" pitchFamily="34" charset="0"/>
                <a:ea typeface="Courier New" pitchFamily="34" charset="-122"/>
                <a:cs typeface="Courier New" pitchFamily="34" charset="-120"/>
              </a:rPr>
              <a:t xml:space="preserve"> </a:t>
            </a:r>
            <a:r>
              <a:rPr lang="en-US" sz="1100" dirty="0">
                <a:solidFill>
                  <a:srgbClr val="9CDCFE"/>
                </a:solidFill>
                <a:latin typeface="Courier New" pitchFamily="34" charset="0"/>
                <a:ea typeface="Courier New" pitchFamily="34" charset="-122"/>
                <a:cs typeface="Courier New" pitchFamily="34" charset="-120"/>
              </a:rPr>
              <a:t>"Alex"</a:t>
            </a:r>
            <a:r>
              <a:rPr lang="en-US" sz="1100" dirty="0">
                <a:solidFill>
                  <a:srgbClr val="D6DEEB"/>
                </a:solidFill>
                <a:latin typeface="Courier New" pitchFamily="34" charset="0"/>
                <a:ea typeface="Courier New" pitchFamily="34" charset="-122"/>
                <a:cs typeface="Courier New" pitchFamily="34" charset="-120"/>
              </a:rPr>
              <a:t>, … } }</a:t>
            </a:r>
          </a:p>
        </p:txBody>
      </p:sp>
      <p:sp>
        <p:nvSpPr>
          <p:cNvPr id="15" name="Shape 13"/>
          <p:cNvSpPr/>
          <p:nvPr/>
        </p:nvSpPr>
        <p:spPr>
          <a:xfrm>
            <a:off x="6278728" y="4389120"/>
            <a:ext cx="5364328" cy="1463040"/>
          </a:xfrm>
          <a:prstGeom prst="roundRect">
            <a:avLst>
              <a:gd name="adj" fmla="val 5000"/>
            </a:avLst>
          </a:prstGeom>
          <a:solidFill>
            <a:srgbClr val="0F1623"/>
          </a:solidFill>
          <a:ln w="12700">
            <a:solidFill>
              <a:srgbClr val="0F1623"/>
            </a:solidFill>
            <a:prstDash val="solid"/>
          </a:ln>
        </p:spPr>
      </p:sp>
      <p:sp>
        <p:nvSpPr>
          <p:cNvPr id="16" name="Text 14"/>
          <p:cNvSpPr txBox="1"/>
          <p:nvPr/>
        </p:nvSpPr>
        <p:spPr>
          <a:xfrm>
            <a:off x="6507328" y="4526280"/>
            <a:ext cx="4907128" cy="274320"/>
          </a:xfrm>
          <a:prstGeom prst="rect">
            <a:avLst/>
          </a:prstGeom>
          <a:noFill/>
          <a:ln/>
        </p:spPr>
        <p:txBody>
          <a:bodyPr wrap="square" lIns="0" tIns="0" rIns="0" bIns="0" rtlCol="0" anchor="ctr"/>
          <a:lstStyle/>
          <a:p>
            <a:pPr indent="0" marL="0">
              <a:buNone/>
            </a:pPr>
            <a:r>
              <a:rPr lang="en-US" sz="1100" dirty="0">
                <a:solidFill>
                  <a:srgbClr val="7A8699"/>
                </a:solidFill>
                <a:latin typeface="Calibri" pitchFamily="34" charset="0"/>
                <a:ea typeface="Calibri" pitchFamily="34" charset="-122"/>
                <a:cs typeface="Calibri" pitchFamily="34" charset="-120"/>
              </a:rPr>
              <a:t>4 · Export straight to CSV</a:t>
            </a:r>
            <a:endParaRPr lang="en-US" sz="1100" dirty="0"/>
          </a:p>
        </p:txBody>
      </p:sp>
      <p:sp>
        <p:nvSpPr>
          <p:cNvPr id="17" name="Text 15"/>
          <p:cNvSpPr txBox="1"/>
          <p:nvPr/>
        </p:nvSpPr>
        <p:spPr>
          <a:xfrm>
            <a:off x="6507328" y="4846320"/>
            <a:ext cx="4907128" cy="868680"/>
          </a:xfrm>
          <a:prstGeom prst="rect">
            <a:avLst/>
          </a:prstGeom>
          <a:noFill/>
          <a:ln/>
        </p:spPr>
        <p:txBody>
          <a:bodyPr wrap="square" lIns="0" tIns="0" rIns="0" bIns="0" rtlCol="0" anchor="t"/>
          <a:lstStyle/>
          <a:p>
            <a:pPr indent="0" marL="0">
              <a:buNone/>
            </a:pPr>
            <a:r>
              <a:rPr lang="en-US" sz="1100" dirty="0">
                <a:solidFill>
                  <a:srgbClr val="6A7A92"/>
                </a:solidFill>
                <a:latin typeface="Courier New" pitchFamily="34" charset="0"/>
                <a:ea typeface="Courier New" pitchFamily="34" charset="-122"/>
                <a:cs typeface="Courier New" pitchFamily="34" charset="-120"/>
              </a:rPr>
              <a:t xml:space="preserve">$ </a:t>
            </a:r>
            <a:r>
              <a:rPr lang="en-US" sz="1100" dirty="0">
                <a:solidFill>
                  <a:srgbClr val="D6DEEB"/>
                </a:solidFill>
                <a:latin typeface="Courier New" pitchFamily="34" charset="0"/>
                <a:ea typeface="Courier New" pitchFamily="34" charset="-122"/>
                <a:cs typeface="Courier New" pitchFamily="34" charset="-120"/>
              </a:rPr>
              <a:t xml:space="preserve">curl -s -H </a:t>
            </a:r>
            <a:r>
              <a:rPr lang="en-US" sz="1100" dirty="0">
                <a:solidFill>
                  <a:srgbClr val="9CDCFE"/>
                </a:solidFill>
                <a:latin typeface="Courier New" pitchFamily="34" charset="0"/>
                <a:ea typeface="Courier New" pitchFamily="34" charset="-122"/>
                <a:cs typeface="Courier New" pitchFamily="34" charset="-120"/>
              </a:rPr>
              <a:t>"Authorization: Bearer $KEY"</a:t>
            </a:r>
            <a:r>
              <a:rPr lang="en-US" sz="1100" dirty="0">
                <a:solidFill>
                  <a:srgbClr val="D6DEEB"/>
                </a:solidFill>
                <a:latin typeface="Courier New" pitchFamily="34" charset="0"/>
                <a:ea typeface="Courier New" pitchFamily="34" charset="-122"/>
                <a:cs typeface="Courier New" pitchFamily="34" charset="-120"/>
              </a:rPr>
              <a:t xml:space="preserve"> \</a:t>
            </a:r>
          </a:p>
          <a:p>
            <a:pPr indent="0" marL="0">
              <a:buNone/>
            </a:pPr>
            <a:r>
              <a:rPr lang="en-US" sz="1100" dirty="0">
                <a:solidFill>
                  <a:srgbClr val="D6DEEB"/>
                </a:solidFill>
                <a:latin typeface="Courier New" pitchFamily="34" charset="0"/>
                <a:ea typeface="Courier New" pitchFamily="34" charset="-122"/>
                <a:cs typeface="Courier New" pitchFamily="34" charset="-120"/>
              </a:rPr>
              <a:t xml:space="preserve">    $API/api/transactions/$ID | jq -r \</a:t>
            </a:r>
          </a:p>
          <a:p>
            <a:pPr indent="0" marL="0">
              <a:buNone/>
            </a:pPr>
            <a:r>
              <a:rPr lang="en-US" sz="1100" dirty="0">
                <a:solidFill>
                  <a:srgbClr val="D6DEEB"/>
                </a:solidFill>
                <a:latin typeface="Courier New" pitchFamily="34" charset="0"/>
                <a:ea typeface="Courier New" pitchFamily="34" charset="-122"/>
                <a:cs typeface="Courier New" pitchFamily="34" charset="-120"/>
              </a:rPr>
              <a:t xml:space="preserve">    '.[] | [.data.email, .status] | @csv' &gt; out.csv</a:t>
            </a:r>
          </a:p>
          <a:p>
            <a:pPr indent="0" marL="0">
              <a:buNone/>
            </a:pPr>
            <a:r>
              <a:rPr lang="en-US" sz="1100" dirty="0">
                <a:solidFill>
                  <a:srgbClr val="9CDCFE"/>
                </a:solidFill>
                <a:latin typeface="Courier New" pitchFamily="34" charset="0"/>
                <a:ea typeface="Courier New" pitchFamily="34" charset="-122"/>
                <a:cs typeface="Courier New" pitchFamily="34" charset="-120"/>
              </a:rPr>
              <a:t>"alex@example.com"</a:t>
            </a:r>
            <a:r>
              <a:rPr lang="en-US" sz="1100" dirty="0">
                <a:solidFill>
                  <a:srgbClr val="D6DEEB"/>
                </a:solidFill>
                <a:latin typeface="Courier New" pitchFamily="34" charset="0"/>
                <a:ea typeface="Courier New" pitchFamily="34" charset="-122"/>
                <a:cs typeface="Courier New" pitchFamily="34" charset="-120"/>
              </a:rPr>
              <a:t>,</a:t>
            </a:r>
            <a:r>
              <a:rPr lang="en-US" sz="1100" dirty="0">
                <a:solidFill>
                  <a:srgbClr val="9CDCFE"/>
                </a:solidFill>
                <a:latin typeface="Courier New" pitchFamily="34" charset="0"/>
                <a:ea typeface="Courier New" pitchFamily="34" charset="-122"/>
                <a:cs typeface="Courier New" pitchFamily="34" charset="-120"/>
              </a:rPr>
              <a:t>"complete"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Issuing API keys</a:t>
            </a:r>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Scoped, revocable bearer keys for third-party systems and LLM clients</a:t>
            </a:r>
          </a:p>
        </p:txBody>
      </p:sp>
      <p:sp>
        <p:nvSpPr>
          <p:cNvPr id="4" name="Shape 2"/>
          <p:cNvSpPr/>
          <p:nvPr/>
        </p:nvSpPr>
        <p:spPr>
          <a:xfrm>
            <a:off x="548640" y="1783080"/>
            <a:ext cx="5568163" cy="1920240"/>
          </a:xfrm>
          <a:prstGeom prst="roundRect">
            <a:avLst>
              <a:gd name="adj" fmla="val 3810"/>
            </a:avLst>
          </a:prstGeom>
          <a:solidFill>
            <a:srgbClr val="F4F4F4"/>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822960" y="2057400"/>
            <a:ext cx="594360" cy="594360"/>
          </a:xfrm>
          <a:prstGeom prst="ellipse">
            <a:avLst/>
          </a:prstGeom>
          <a:solidFill>
            <a:srgbClr val="E3710A"/>
          </a:solidFill>
          <a:ln w="12700">
            <a:solidFill>
              <a:srgbClr val="E3710A"/>
            </a:solidFill>
            <a:prstDash val="solid"/>
          </a:ln>
        </p:spPr>
      </p:sp>
      <p:sp>
        <p:nvSpPr>
          <p:cNvPr id="7" name="Text 4"/>
          <p:cNvSpPr txBox="1"/>
          <p:nvPr/>
        </p:nvSpPr>
        <p:spPr>
          <a:xfrm>
            <a:off x="1554480" y="2103120"/>
            <a:ext cx="4379443" cy="502920"/>
          </a:xfrm>
          <a:prstGeom prst="rect">
            <a:avLst/>
          </a:prstGeom>
          <a:noFill/>
          <a:ln/>
        </p:spPr>
        <p:txBody>
          <a:bodyPr wrap="square" lIns="0" tIns="0" rIns="0" bIns="0" rtlCol="0" anchor="ctr"/>
          <a:lstStyle/>
          <a:p>
            <a:pPr indent="0" marL="0">
              <a:buNone/>
            </a:pPr>
            <a:r>
              <a:rPr lang="en-US" sz="2000" b="1" dirty="0">
                <a:solidFill>
                  <a:srgbClr val="1B2536"/>
                </a:solidFill>
                <a:latin typeface="Cambria" pitchFamily="34" charset="0"/>
                <a:ea typeface="Cambria" pitchFamily="34" charset="-122"/>
                <a:cs typeface="Cambria" pitchFamily="34" charset="-120"/>
              </a:rPr>
              <a:t>Admin UI</a:t>
            </a:r>
          </a:p>
        </p:txBody>
      </p:sp>
      <p:sp>
        <p:nvSpPr>
          <p:cNvPr id="8" name="Text 5"/>
          <p:cNvSpPr txBox="1"/>
          <p:nvPr/>
        </p:nvSpPr>
        <p:spPr>
          <a:xfrm>
            <a:off x="822960" y="2743200"/>
            <a:ext cx="5019523" cy="1005840"/>
          </a:xfrm>
          <a:prstGeom prst="rect">
            <a:avLst/>
          </a:prstGeom>
          <a:noFill/>
          <a:ln/>
        </p:spPr>
        <p:txBody>
          <a:bodyPr wrap="square" lIns="0" tIns="0" rIns="0" bIns="0" rtlCol="0" anchor="t"/>
          <a:lstStyle/>
          <a:p>
            <a:pPr indent="0" marL="0">
              <a:buNone/>
            </a:pPr>
            <a:r>
              <a:rPr lang="en-US" sz="1400" dirty="0" b="1">
                <a:solidFill>
                  <a:srgbClr val="3C4A60"/>
                </a:solidFill>
                <a:latin typeface="Calibri" pitchFamily="34" charset="0"/>
                <a:ea typeface="Calibri" pitchFamily="34" charset="-122"/>
                <a:cs typeface="Calibri" pitchFamily="34" charset="-120"/>
              </a:rPr>
              <a:t xml:space="preserve">Integrations → API Keys. </a:t>
            </a:r>
            <a:r>
              <a:rPr lang="en-US" sz="1400" dirty="0">
                <a:solidFill>
                  <a:srgbClr val="3C4A60"/>
                </a:solidFill>
                <a:latin typeface="Calibri" pitchFamily="34" charset="0"/>
                <a:ea typeface="Calibri" pitchFamily="34" charset="-122"/>
                <a:cs typeface="Calibri" pitchFamily="34" charset="-120"/>
              </a:rPr>
              <a:t>Name the key, tick its scopes, optionally limit it to specific forms. The key is shown once; revoke it any time.</a:t>
            </a:r>
          </a:p>
        </p:txBody>
      </p:sp>
      <p:sp>
        <p:nvSpPr>
          <p:cNvPr id="9" name="Shape 6"/>
          <p:cNvSpPr/>
          <p:nvPr/>
        </p:nvSpPr>
        <p:spPr>
          <a:xfrm>
            <a:off x="548640" y="3931920"/>
            <a:ext cx="5568163" cy="1920240"/>
          </a:xfrm>
          <a:prstGeom prst="roundRect">
            <a:avLst>
              <a:gd name="adj" fmla="val 3810"/>
            </a:avLst>
          </a:prstGeom>
          <a:solidFill>
            <a:srgbClr val="F4F4F4"/>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822960" y="4206240"/>
            <a:ext cx="594360" cy="594360"/>
          </a:xfrm>
          <a:prstGeom prst="ellipse">
            <a:avLst/>
          </a:prstGeom>
          <a:solidFill>
            <a:srgbClr val="E3710A"/>
          </a:solidFill>
          <a:ln w="12700">
            <a:solidFill>
              <a:srgbClr val="E3710A"/>
            </a:solidFill>
            <a:prstDash val="solid"/>
          </a:ln>
        </p:spPr>
      </p:sp>
      <p:sp>
        <p:nvSpPr>
          <p:cNvPr id="12" name="Text 8"/>
          <p:cNvSpPr txBox="1"/>
          <p:nvPr/>
        </p:nvSpPr>
        <p:spPr>
          <a:xfrm>
            <a:off x="1554480" y="4251960"/>
            <a:ext cx="4379443" cy="502920"/>
          </a:xfrm>
          <a:prstGeom prst="rect">
            <a:avLst/>
          </a:prstGeom>
          <a:noFill/>
          <a:ln/>
        </p:spPr>
        <p:txBody>
          <a:bodyPr wrap="square" lIns="0" tIns="0" rIns="0" bIns="0" rtlCol="0" anchor="ctr"/>
          <a:lstStyle/>
          <a:p>
            <a:pPr indent="0" marL="0">
              <a:buNone/>
            </a:pPr>
            <a:r>
              <a:rPr lang="en-US" sz="2000" b="1" dirty="0">
                <a:solidFill>
                  <a:srgbClr val="1B2536"/>
                </a:solidFill>
                <a:latin typeface="Cambria" pitchFamily="34" charset="0"/>
                <a:ea typeface="Cambria" pitchFamily="34" charset="-122"/>
                <a:cs typeface="Cambria" pitchFamily="34" charset="-120"/>
              </a:rPr>
              <a:t>Command line</a:t>
            </a:r>
          </a:p>
        </p:txBody>
      </p:sp>
      <p:sp>
        <p:nvSpPr>
          <p:cNvPr id="13" name="Text 9"/>
          <p:cNvSpPr txBox="1"/>
          <p:nvPr/>
        </p:nvSpPr>
        <p:spPr>
          <a:xfrm>
            <a:off x="822960" y="4892040"/>
            <a:ext cx="5019523" cy="1005840"/>
          </a:xfrm>
          <a:prstGeom prst="rect">
            <a:avLst/>
          </a:prstGeom>
          <a:noFill/>
          <a:ln/>
        </p:spPr>
        <p:txBody>
          <a:bodyPr wrap="square" lIns="0" tIns="0" rIns="0" bIns="0" rtlCol="0" anchor="t"/>
          <a:lstStyle/>
          <a:p>
            <a:pPr indent="0" marL="0">
              <a:buNone/>
            </a:pPr>
            <a:r>
              <a:rPr lang="en-US" sz="1400" dirty="0">
                <a:solidFill>
                  <a:srgbClr val="3C4A60"/>
                </a:solidFill>
                <a:latin typeface="Calibri" pitchFamily="34" charset="0"/>
                <a:ea typeface="Calibri" pitchFamily="34" charset="-122"/>
                <a:cs typeface="Calibri" pitchFamily="34" charset="-120"/>
              </a:rPr>
              <a:t>Bootstrap the first key, or script it in CI:</a:t>
            </a:r>
          </a:p>
          <a:p>
            <a:pPr indent="0" marL="0">
              <a:buNone/>
            </a:pPr>
            <a:r>
              <a:rPr lang="en-US" sz="1100" dirty="0">
                <a:solidFill>
                  <a:srgbClr val="9D5B00"/>
                </a:solidFill>
                <a:latin typeface="Courier New" pitchFamily="34" charset="0"/>
                <a:ea typeface="Courier New" pitchFamily="34" charset="-122"/>
                <a:cs typeface="Courier New" pitchFamily="34" charset="-120"/>
              </a:rPr>
              <a:t>docker compose exec server node</a:t>
            </a:r>
          </a:p>
          <a:p>
            <a:pPr indent="0" marL="0">
              <a:buNone/>
            </a:pPr>
            <a:r>
              <a:rPr lang="en-US" sz="1100" dirty="0">
                <a:solidFill>
                  <a:srgbClr val="9D5B00"/>
                </a:solidFill>
                <a:latin typeface="Courier New" pitchFamily="34" charset="0"/>
                <a:ea typeface="Courier New" pitchFamily="34" charset="-122"/>
                <a:cs typeface="Courier New" pitchFamily="34" charset="-120"/>
              </a:rPr>
              <a:t xml:space="preserve">  scripts/create-api-key.js --name "CRM"</a:t>
            </a:r>
          </a:p>
        </p:txBody>
      </p:sp>
      <p:sp>
        <p:nvSpPr>
          <p:cNvPr id="14" name="Shape 10"/>
          <p:cNvSpPr/>
          <p:nvPr/>
        </p:nvSpPr>
        <p:spPr>
          <a:xfrm>
            <a:off x="6482563" y="1783080"/>
            <a:ext cx="5157748" cy="4069080"/>
          </a:xfrm>
          <a:prstGeom prst="rect">
            <a:avLst/>
          </a:prstGeom>
          <a:solidFill>
            <a:srgbClr val="FFFFFF"/>
          </a:solidFill>
          <a:ln w="9525">
            <a:solidFill>
              <a:srgbClr val="D5DAE1"/>
            </a:solidFill>
            <a:prstDash val="solid"/>
          </a:ln>
          <a:effectLst>
            <a:outerShdw sx="100000" sy="100000" kx="0" ky="0" algn="bl" rotWithShape="0" blurRad="127000" dist="38100" dir="5400000">
              <a:srgbClr val="000000">
                <a:alpha val="15000"/>
              </a:srgbClr>
            </a:outerShdw>
          </a:effectLst>
        </p:spPr>
      </p:sp>
      <p:pic>
        <p:nvPicPr>
          <p:cNvPr id="16" name="Picture 15" descr="FaKey.png"/>
          <p:cNvPicPr>
            <a:picLocks noChangeAspect="1"/>
          </p:cNvPicPr>
          <p:nvPr/>
        </p:nvPicPr>
        <p:blipFill>
          <a:blip r:embed="rId5"/>
          <a:stretch>
            <a:fillRect/>
          </a:stretch>
        </p:blipFill>
        <p:spPr>
          <a:xfrm>
            <a:off x="977494" y="2211934"/>
            <a:ext cx="285293" cy="285293"/>
          </a:xfrm>
          <a:prstGeom prst="rect">
            <a:avLst/>
          </a:prstGeom>
        </p:spPr>
      </p:pic>
      <p:pic>
        <p:nvPicPr>
          <p:cNvPr id="17" name="Picture 16" descr="FaTerminal.png"/>
          <p:cNvPicPr>
            <a:picLocks noChangeAspect="1"/>
          </p:cNvPicPr>
          <p:nvPr/>
        </p:nvPicPr>
        <p:blipFill>
          <a:blip r:embed="rId6"/>
          <a:stretch>
            <a:fillRect/>
          </a:stretch>
        </p:blipFill>
        <p:spPr>
          <a:xfrm>
            <a:off x="977494" y="4360774"/>
            <a:ext cx="285293" cy="285293"/>
          </a:xfrm>
          <a:prstGeom prst="rect">
            <a:avLst/>
          </a:prstGeom>
        </p:spPr>
      </p:pic>
      <p:pic>
        <p:nvPicPr>
          <p:cNvPr id="18" name="Picture 17" descr="apikeys.png"/>
          <p:cNvPicPr>
            <a:picLocks noChangeAspect="1"/>
          </p:cNvPicPr>
          <p:nvPr/>
        </p:nvPicPr>
        <p:blipFill>
          <a:blip r:embed="rId7"/>
          <a:stretch>
            <a:fillRect/>
          </a:stretch>
        </p:blipFill>
        <p:spPr>
          <a:xfrm>
            <a:off x="6482563" y="1783080"/>
            <a:ext cx="5157748" cy="4069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Keys and scopes</a:t>
            </a:r>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Every call to the pull API or MCP server carries a key — and the key decides what it can do</a:t>
            </a:r>
          </a:p>
        </p:txBody>
      </p:sp>
      <p:sp>
        <p:nvSpPr>
          <p:cNvPr id="4" name="Shape 2"/>
          <p:cNvSpPr/>
          <p:nvPr/>
        </p:nvSpPr>
        <p:spPr>
          <a:xfrm>
            <a:off x="548640" y="1737360"/>
            <a:ext cx="4937760" cy="2331720"/>
          </a:xfrm>
          <a:prstGeom prst="roundRect">
            <a:avLst>
              <a:gd name="adj" fmla="val 3137"/>
            </a:avLst>
          </a:prstGeom>
          <a:solidFill>
            <a:srgbClr val="0F1623"/>
          </a:solidFill>
          <a:ln w="12700">
            <a:solidFill>
              <a:srgbClr val="0F1623"/>
            </a:solidFill>
            <a:prstDash val="solid"/>
          </a:ln>
        </p:spPr>
        <p:txBody>
          <a:bodyPr/>
          <a:p/>
        </p:txBody>
      </p:sp>
      <p:sp>
        <p:nvSpPr>
          <p:cNvPr id="5" name="Text 3"/>
          <p:cNvSpPr txBox="1"/>
          <p:nvPr/>
        </p:nvSpPr>
        <p:spPr>
          <a:xfrm>
            <a:off x="777240" y="1874520"/>
            <a:ext cx="4480560" cy="274320"/>
          </a:xfrm>
          <a:prstGeom prst="rect">
            <a:avLst/>
          </a:prstGeom>
          <a:noFill/>
          <a:ln/>
        </p:spPr>
        <p:txBody>
          <a:bodyPr wrap="square" lIns="0" tIns="0" rIns="0" bIns="0" rtlCol="0" anchor="ctr"/>
          <a:lstStyle/>
          <a:p>
            <a:pPr indent="0" marL="0">
              <a:buNone/>
            </a:pPr>
            <a:r>
              <a:rPr lang="en-US" sz="1100" dirty="0">
                <a:solidFill>
                  <a:srgbClr val="7A8699"/>
                </a:solidFill>
                <a:latin typeface="Calibri" pitchFamily="34" charset="0"/>
                <a:ea typeface="Calibri" pitchFamily="34" charset="-122"/>
                <a:cs typeface="Calibri" pitchFamily="34" charset="-120"/>
              </a:rPr>
              <a:t>Same request, with and without a key</a:t>
            </a:r>
          </a:p>
        </p:txBody>
      </p:sp>
      <p:sp>
        <p:nvSpPr>
          <p:cNvPr id="6" name="Text 4"/>
          <p:cNvSpPr txBox="1"/>
          <p:nvPr/>
        </p:nvSpPr>
        <p:spPr>
          <a:xfrm>
            <a:off x="777240" y="2194560"/>
            <a:ext cx="4480560" cy="1737360"/>
          </a:xfrm>
          <a:prstGeom prst="rect">
            <a:avLst/>
          </a:prstGeom>
          <a:noFill/>
          <a:ln/>
        </p:spPr>
        <p:txBody>
          <a:bodyPr wrap="square" lIns="0" tIns="0" rIns="0" bIns="0" rtlCol="0" anchor="t"/>
          <a:lstStyle/>
          <a:p>
            <a:pPr indent="0" marL="0">
              <a:buNone/>
            </a:pPr>
            <a:r>
              <a:rPr lang="en-US" sz="1200" dirty="0">
                <a:solidFill>
                  <a:srgbClr val="6A7A92"/>
                </a:solidFill>
                <a:latin typeface="Courier New" pitchFamily="34" charset="0"/>
                <a:ea typeface="Courier New" pitchFamily="34" charset="-122"/>
                <a:cs typeface="Courier New" pitchFamily="34" charset="-120"/>
              </a:rPr>
              <a:t xml:space="preserve">$ </a:t>
            </a:r>
            <a:r>
              <a:rPr lang="en-US" sz="1200" dirty="0">
                <a:solidFill>
                  <a:srgbClr val="D6DEEB"/>
                </a:solidFill>
                <a:latin typeface="Courier New" pitchFamily="34" charset="0"/>
                <a:ea typeface="Courier New" pitchFamily="34" charset="-122"/>
                <a:cs typeface="Courier New" pitchFamily="34" charset="-120"/>
              </a:rPr>
              <a:t>curl -i $API/api/transactions/$ID</a:t>
            </a:r>
          </a:p>
          <a:p>
            <a:pPr indent="0" marL="0">
              <a:buNone/>
            </a:pPr>
            <a:r>
              <a:rPr lang="en-US" sz="1200" dirty="0">
                <a:solidFill>
                  <a:srgbClr val="6A7A92"/>
                </a:solidFill>
                <a:latin typeface="Courier New" pitchFamily="34" charset="0"/>
                <a:ea typeface="Courier New" pitchFamily="34" charset="-122"/>
                <a:cs typeface="Courier New" pitchFamily="34" charset="-120"/>
              </a:rPr>
              <a:t>HTTP/1.1 401 Unauthorized</a:t>
            </a:r>
          </a:p>
          <a:p>
            <a:pPr indent="0" marL="0">
              <a:buNone/>
            </a:pPr>
            <a:r>
              <a:rPr lang="en-US" sz="1200" dirty="0">
                <a:solidFill>
                  <a:srgbClr val="D6DEEB"/>
                </a:solidFill>
                <a:latin typeface="Courier New" pitchFamily="34" charset="0"/>
                <a:ea typeface="Courier New" pitchFamily="34" charset="-122"/>
                <a:cs typeface="Courier New" pitchFamily="34" charset="-120"/>
              </a:rPr>
              <a:t>{</a:t>
            </a:r>
            <a:r>
              <a:rPr lang="en-US" sz="1200" dirty="0">
                <a:solidFill>
                  <a:srgbClr val="F4A259"/>
                </a:solidFill>
                <a:latin typeface="Courier New" pitchFamily="34" charset="0"/>
                <a:ea typeface="Courier New" pitchFamily="34" charset="-122"/>
                <a:cs typeface="Courier New" pitchFamily="34" charset="-120"/>
              </a:rPr>
              <a:t>"error"</a:t>
            </a:r>
            <a:r>
              <a:rPr lang="en-US" sz="1200" dirty="0">
                <a:solidFill>
                  <a:srgbClr val="D6DEEB"/>
                </a:solidFill>
                <a:latin typeface="Courier New" pitchFamily="34" charset="0"/>
                <a:ea typeface="Courier New" pitchFamily="34" charset="-122"/>
                <a:cs typeface="Courier New" pitchFamily="34" charset="-120"/>
              </a:rPr>
              <a:t>:</a:t>
            </a:r>
            <a:r>
              <a:rPr lang="en-US" sz="1200" dirty="0">
                <a:solidFill>
                  <a:srgbClr val="9CDCFE"/>
                </a:solidFill>
                <a:latin typeface="Courier New" pitchFamily="34" charset="0"/>
                <a:ea typeface="Courier New" pitchFamily="34" charset="-122"/>
                <a:cs typeface="Courier New" pitchFamily="34" charset="-120"/>
              </a:rPr>
              <a:t>"Missing or invalid API key"</a:t>
            </a:r>
            <a:r>
              <a:rPr lang="en-US" sz="1200" dirty="0">
                <a:solidFill>
                  <a:srgbClr val="D6DEEB"/>
                </a:solidFill>
                <a:latin typeface="Courier New" pitchFamily="34" charset="0"/>
                <a:ea typeface="Courier New" pitchFamily="34" charset="-122"/>
                <a:cs typeface="Courier New" pitchFamily="34" charset="-120"/>
              </a:rPr>
              <a:t>}</a:t>
            </a:r>
          </a:p>
          <a:p>
            <a:pPr indent="0" marL="0">
              <a:buNone/>
            </a:pPr>
            <a:endParaRPr lang="en-US" sz="1200" dirty="0">
              <a:solidFill>
                <a:srgbClr val="D6DEEB"/>
              </a:solidFill>
              <a:latin typeface="Courier New" pitchFamily="34" charset="0"/>
              <a:ea typeface="Courier New" pitchFamily="34" charset="-122"/>
              <a:cs typeface="Courier New" pitchFamily="34" charset="-120"/>
            </a:endParaRPr>
          </a:p>
          <a:p>
            <a:pPr indent="0" marL="0">
              <a:buNone/>
            </a:pPr>
            <a:r>
              <a:rPr lang="en-US" sz="1200" dirty="0">
                <a:solidFill>
                  <a:srgbClr val="6A7A92"/>
                </a:solidFill>
                <a:latin typeface="Courier New" pitchFamily="34" charset="0"/>
                <a:ea typeface="Courier New" pitchFamily="34" charset="-122"/>
                <a:cs typeface="Courier New" pitchFamily="34" charset="-120"/>
              </a:rPr>
              <a:t xml:space="preserve">$ </a:t>
            </a:r>
            <a:r>
              <a:rPr lang="en-US" sz="1200" dirty="0">
                <a:solidFill>
                  <a:srgbClr val="D6DEEB"/>
                </a:solidFill>
                <a:latin typeface="Courier New" pitchFamily="34" charset="0"/>
                <a:ea typeface="Courier New" pitchFamily="34" charset="-122"/>
                <a:cs typeface="Courier New" pitchFamily="34" charset="-120"/>
              </a:rPr>
              <a:t xml:space="preserve">curl -i -H </a:t>
            </a:r>
            <a:r>
              <a:rPr lang="en-US" sz="1200" dirty="0">
                <a:solidFill>
                  <a:srgbClr val="9CDCFE"/>
                </a:solidFill>
                <a:latin typeface="Courier New" pitchFamily="34" charset="0"/>
                <a:ea typeface="Courier New" pitchFamily="34" charset="-122"/>
                <a:cs typeface="Courier New" pitchFamily="34" charset="-120"/>
              </a:rPr>
              <a:t>"Authorization: Bearer $KEY"</a:t>
            </a:r>
            <a:r>
              <a:rPr lang="en-US" sz="1200" dirty="0">
                <a:solidFill>
                  <a:srgbClr val="D6DEEB"/>
                </a:solidFill>
                <a:latin typeface="Courier New" pitchFamily="34" charset="0"/>
                <a:ea typeface="Courier New" pitchFamily="34" charset="-122"/>
                <a:cs typeface="Courier New" pitchFamily="34" charset="-120"/>
              </a:rPr>
              <a:t xml:space="preserve"> \</a:t>
            </a:r>
          </a:p>
          <a:p>
            <a:pPr indent="0" marL="0">
              <a:buNone/>
            </a:pPr>
            <a:r>
              <a:rPr lang="en-US" sz="1200" dirty="0">
                <a:solidFill>
                  <a:srgbClr val="D6DEEB"/>
                </a:solidFill>
                <a:latin typeface="Courier New" pitchFamily="34" charset="0"/>
                <a:ea typeface="Courier New" pitchFamily="34" charset="-122"/>
                <a:cs typeface="Courier New" pitchFamily="34" charset="-120"/>
              </a:rPr>
              <a:t xml:space="preserve">    $API/api/transactions/$ID</a:t>
            </a:r>
          </a:p>
          <a:p>
            <a:pPr indent="0" marL="0">
              <a:buNone/>
            </a:pPr>
            <a:r>
              <a:rPr lang="en-US" sz="1200" dirty="0">
                <a:solidFill>
                  <a:srgbClr val="6A7A92"/>
                </a:solidFill>
                <a:latin typeface="Courier New" pitchFamily="34" charset="0"/>
                <a:ea typeface="Courier New" pitchFamily="34" charset="-122"/>
                <a:cs typeface="Courier New" pitchFamily="34" charset="-120"/>
              </a:rPr>
              <a:t>HTTP/1.1 200 OK</a:t>
            </a:r>
          </a:p>
          <a:p>
            <a:pPr indent="0" marL="0">
              <a:buNone/>
            </a:pPr>
            <a:r>
              <a:rPr lang="en-US" sz="1200" dirty="0">
                <a:solidFill>
                  <a:srgbClr val="D6DEEB"/>
                </a:solidFill>
                <a:latin typeface="Courier New" pitchFamily="34" charset="0"/>
                <a:ea typeface="Courier New" pitchFamily="34" charset="-122"/>
                <a:cs typeface="Courier New" pitchFamily="34" charset="-120"/>
              </a:rPr>
              <a:t xml:space="preserve">[{ </a:t>
            </a:r>
            <a:r>
              <a:rPr lang="en-US" sz="1200" dirty="0">
                <a:solidFill>
                  <a:srgbClr val="F4A259"/>
                </a:solidFill>
                <a:latin typeface="Courier New" pitchFamily="34" charset="0"/>
                <a:ea typeface="Courier New" pitchFamily="34" charset="-122"/>
                <a:cs typeface="Courier New" pitchFamily="34" charset="-120"/>
              </a:rPr>
              <a:t>"status"</a:t>
            </a:r>
            <a:r>
              <a:rPr lang="en-US" sz="1200" dirty="0">
                <a:solidFill>
                  <a:srgbClr val="D6DEEB"/>
                </a:solidFill>
                <a:latin typeface="Courier New" pitchFamily="34" charset="0"/>
                <a:ea typeface="Courier New" pitchFamily="34" charset="-122"/>
                <a:cs typeface="Courier New" pitchFamily="34" charset="-120"/>
              </a:rPr>
              <a:t>:</a:t>
            </a:r>
            <a:r>
              <a:rPr lang="en-US" sz="1200" dirty="0">
                <a:solidFill>
                  <a:srgbClr val="D6DEEB"/>
                </a:solidFill>
                <a:latin typeface="Courier New" pitchFamily="34" charset="0"/>
                <a:ea typeface="Courier New" pitchFamily="34" charset="-122"/>
                <a:cs typeface="Courier New" pitchFamily="34" charset="-120"/>
              </a:rPr>
              <a:t xml:space="preserve"> </a:t>
            </a:r>
            <a:r>
              <a:rPr lang="en-US" sz="1200" dirty="0">
                <a:solidFill>
                  <a:srgbClr val="9CDCFE"/>
                </a:solidFill>
                <a:latin typeface="Courier New" pitchFamily="34" charset="0"/>
                <a:ea typeface="Courier New" pitchFamily="34" charset="-122"/>
                <a:cs typeface="Courier New" pitchFamily="34" charset="-120"/>
              </a:rPr>
              <a:t>"complete"</a:t>
            </a:r>
            <a:r>
              <a:rPr lang="en-US" sz="1200" dirty="0">
                <a:solidFill>
                  <a:srgbClr val="D6DEEB"/>
                </a:solidFill>
                <a:latin typeface="Courier New" pitchFamily="34" charset="0"/>
                <a:ea typeface="Courier New" pitchFamily="34" charset="-122"/>
                <a:cs typeface="Courier New" pitchFamily="34" charset="-120"/>
              </a:rPr>
              <a:t>, … }]</a:t>
            </a:r>
          </a:p>
        </p:txBody>
      </p:sp>
      <p:sp>
        <p:nvSpPr>
          <p:cNvPr id="7" name="Text 5"/>
          <p:cNvSpPr txBox="1"/>
          <p:nvPr/>
        </p:nvSpPr>
        <p:spPr>
          <a:xfrm>
            <a:off x="548640" y="4251960"/>
            <a:ext cx="4937760" cy="731520"/>
          </a:xfrm>
          <a:prstGeom prst="rect">
            <a:avLst/>
          </a:prstGeom>
          <a:noFill/>
          <a:ln/>
        </p:spPr>
        <p:txBody>
          <a:bodyPr wrap="square" lIns="0" tIns="0" rIns="0" bIns="0" rtlCol="0" anchor="ctr"/>
          <a:lstStyle/>
          <a:p>
            <a:pPr indent="0" marL="0">
              <a:buNone/>
            </a:pPr>
            <a:r>
              <a:rPr lang="en-US" sz="1400" dirty="0">
                <a:solidFill>
                  <a:srgbClr val="3C4A60"/>
                </a:solidFill>
                <a:latin typeface="Calibri" pitchFamily="34" charset="0"/>
                <a:ea typeface="Calibri" pitchFamily="34" charset="-122"/>
                <a:cs typeface="Calibri" pitchFamily="34" charset="-120"/>
              </a:rPr>
              <a:t>Limit a key to specific forms and it can't see anything else — a CRM key for DWRS gets a 404 for every other definition.</a:t>
            </a:r>
          </a:p>
        </p:txBody>
      </p:sp>
      <p:sp>
        <p:nvSpPr>
          <p:cNvPr id="8" name="Shape 6"/>
          <p:cNvSpPr/>
          <p:nvPr/>
        </p:nvSpPr>
        <p:spPr>
          <a:xfrm>
            <a:off x="5943600" y="1737360"/>
            <a:ext cx="5699455" cy="960120"/>
          </a:xfrm>
          <a:prstGeom prst="roundRect">
            <a:avLst>
              <a:gd name="adj" fmla="val 7619"/>
            </a:avLst>
          </a:prstGeom>
          <a:solidFill>
            <a:srgbClr val="F4F4F4"/>
          </a:solidFill>
          <a:ln w="9525">
            <a:solidFill>
              <a:srgbClr val="E2E5EA"/>
            </a:solidFill>
            <a:prstDash val="solid"/>
          </a:ln>
          <a:effectLst>
            <a:outerShdw sx="100000" sy="100000" kx="0" ky="0" algn="bl" rotWithShape="0" blurRad="76200" dist="25400" dir="5400000">
              <a:srgbClr val="000000">
                <a:alpha val="8000"/>
              </a:srgbClr>
            </a:outerShdw>
          </a:effectLst>
        </p:spPr>
        <p:txBody>
          <a:bodyPr/>
          <a:p/>
        </p:txBody>
      </p:sp>
      <p:sp>
        <p:nvSpPr>
          <p:cNvPr id="9" name="Shape 7"/>
          <p:cNvSpPr/>
          <p:nvPr/>
        </p:nvSpPr>
        <p:spPr>
          <a:xfrm>
            <a:off x="6172200" y="1920240"/>
            <a:ext cx="594360" cy="594360"/>
          </a:xfrm>
          <a:prstGeom prst="ellipse">
            <a:avLst/>
          </a:prstGeom>
          <a:solidFill>
            <a:srgbClr val="1B2536"/>
          </a:solidFill>
          <a:ln w="12700">
            <a:solidFill>
              <a:srgbClr val="1B2536"/>
            </a:solidFill>
            <a:prstDash val="solid"/>
          </a:ln>
        </p:spPr>
        <p:txBody>
          <a:bodyPr/>
          <a:p/>
        </p:txBody>
      </p:sp>
      <p:sp>
        <p:nvSpPr>
          <p:cNvPr id="11" name="Text 8"/>
          <p:cNvSpPr txBox="1"/>
          <p:nvPr/>
        </p:nvSpPr>
        <p:spPr>
          <a:xfrm>
            <a:off x="6995160" y="1847088"/>
            <a:ext cx="4465015" cy="320040"/>
          </a:xfrm>
          <a:prstGeom prst="rect">
            <a:avLst/>
          </a:prstGeom>
          <a:noFill/>
          <a:ln/>
        </p:spPr>
        <p:txBody>
          <a:bodyPr wrap="square" lIns="0" tIns="0" rIns="0" bIns="0" rtlCol="0" anchor="ctr"/>
          <a:lstStyle/>
          <a:p>
            <a:pPr indent="0" marL="0">
              <a:buNone/>
            </a:pPr>
            <a:r>
              <a:rPr lang="en-US" sz="1600" b="1" dirty="0">
                <a:solidFill>
                  <a:srgbClr val="1B2536"/>
                </a:solidFill>
                <a:latin typeface="Courier New" pitchFamily="34" charset="0"/>
                <a:ea typeface="Courier New" pitchFamily="34" charset="-122"/>
                <a:cs typeface="Courier New" pitchFamily="34" charset="-120"/>
              </a:rPr>
              <a:t>txndefs:read</a:t>
            </a:r>
          </a:p>
        </p:txBody>
      </p:sp>
      <p:sp>
        <p:nvSpPr>
          <p:cNvPr id="12" name="Text 9"/>
          <p:cNvSpPr txBox="1"/>
          <p:nvPr/>
        </p:nvSpPr>
        <p:spPr>
          <a:xfrm>
            <a:off x="6995160" y="2167128"/>
            <a:ext cx="4465015" cy="457200"/>
          </a:xfrm>
          <a:prstGeom prst="rect">
            <a:avLst/>
          </a:prstGeom>
          <a:noFill/>
          <a:ln/>
        </p:spPr>
        <p:txBody>
          <a:bodyPr wrap="square" lIns="0" tIns="0" rIns="0" bIns="0" rtlCol="0" anchor="t"/>
          <a:lstStyle/>
          <a:p>
            <a:pPr indent="0" marL="0">
              <a:buNone/>
            </a:pPr>
            <a:r>
              <a:rPr lang="en-US" sz="1250" dirty="0">
                <a:solidFill>
                  <a:srgbClr val="3C4A60"/>
                </a:solidFill>
                <a:latin typeface="Calibri" pitchFamily="34" charset="0"/>
                <a:ea typeface="Calibri" pitchFamily="34" charset="-122"/>
                <a:cs typeface="Calibri" pitchFamily="34" charset="-120"/>
              </a:rPr>
              <a:t>List and read form definitions</a:t>
            </a:r>
          </a:p>
        </p:txBody>
      </p:sp>
      <p:sp>
        <p:nvSpPr>
          <p:cNvPr id="13" name="Shape 10"/>
          <p:cNvSpPr/>
          <p:nvPr/>
        </p:nvSpPr>
        <p:spPr>
          <a:xfrm>
            <a:off x="5943600" y="2852928"/>
            <a:ext cx="5699455" cy="960120"/>
          </a:xfrm>
          <a:prstGeom prst="roundRect">
            <a:avLst>
              <a:gd name="adj" fmla="val 7619"/>
            </a:avLst>
          </a:prstGeom>
          <a:solidFill>
            <a:srgbClr val="F4F4F4"/>
          </a:solidFill>
          <a:ln w="9525">
            <a:solidFill>
              <a:srgbClr val="E2E5EA"/>
            </a:solidFill>
            <a:prstDash val="solid"/>
          </a:ln>
          <a:effectLst>
            <a:outerShdw sx="100000" sy="100000" kx="0" ky="0" algn="bl" rotWithShape="0" blurRad="76200" dist="25400" dir="5400000">
              <a:srgbClr val="000000">
                <a:alpha val="8000"/>
              </a:srgbClr>
            </a:outerShdw>
          </a:effectLst>
        </p:spPr>
        <p:txBody>
          <a:bodyPr/>
          <a:p/>
        </p:txBody>
      </p:sp>
      <p:sp>
        <p:nvSpPr>
          <p:cNvPr id="14" name="Shape 11"/>
          <p:cNvSpPr/>
          <p:nvPr/>
        </p:nvSpPr>
        <p:spPr>
          <a:xfrm>
            <a:off x="6172200" y="3035808"/>
            <a:ext cx="594360" cy="594360"/>
          </a:xfrm>
          <a:prstGeom prst="ellipse">
            <a:avLst/>
          </a:prstGeom>
          <a:solidFill>
            <a:srgbClr val="1B2536"/>
          </a:solidFill>
          <a:ln w="12700">
            <a:solidFill>
              <a:srgbClr val="1B2536"/>
            </a:solidFill>
            <a:prstDash val="solid"/>
          </a:ln>
        </p:spPr>
        <p:txBody>
          <a:bodyPr/>
          <a:p/>
        </p:txBody>
      </p:sp>
      <p:sp>
        <p:nvSpPr>
          <p:cNvPr id="16" name="Text 12"/>
          <p:cNvSpPr txBox="1"/>
          <p:nvPr/>
        </p:nvSpPr>
        <p:spPr>
          <a:xfrm>
            <a:off x="6995160" y="2962656"/>
            <a:ext cx="4465015" cy="320040"/>
          </a:xfrm>
          <a:prstGeom prst="rect">
            <a:avLst/>
          </a:prstGeom>
          <a:noFill/>
          <a:ln/>
        </p:spPr>
        <p:txBody>
          <a:bodyPr wrap="square" lIns="0" tIns="0" rIns="0" bIns="0" rtlCol="0" anchor="ctr"/>
          <a:lstStyle/>
          <a:p>
            <a:pPr indent="0" marL="0">
              <a:buNone/>
            </a:pPr>
            <a:r>
              <a:rPr lang="en-US" sz="1600" b="1" dirty="0">
                <a:solidFill>
                  <a:srgbClr val="1B2536"/>
                </a:solidFill>
                <a:latin typeface="Courier New" pitchFamily="34" charset="0"/>
                <a:ea typeface="Courier New" pitchFamily="34" charset="-122"/>
                <a:cs typeface="Courier New" pitchFamily="34" charset="-120"/>
              </a:rPr>
              <a:t>txndefs:write</a:t>
            </a:r>
          </a:p>
        </p:txBody>
      </p:sp>
      <p:sp>
        <p:nvSpPr>
          <p:cNvPr id="17" name="Text 13"/>
          <p:cNvSpPr txBox="1"/>
          <p:nvPr/>
        </p:nvSpPr>
        <p:spPr>
          <a:xfrm>
            <a:off x="6995160" y="3282696"/>
            <a:ext cx="4465015" cy="457200"/>
          </a:xfrm>
          <a:prstGeom prst="rect">
            <a:avLst/>
          </a:prstGeom>
          <a:noFill/>
          <a:ln/>
        </p:spPr>
        <p:txBody>
          <a:bodyPr wrap="square" lIns="0" tIns="0" rIns="0" bIns="0" rtlCol="0" anchor="t"/>
          <a:lstStyle/>
          <a:p>
            <a:pPr indent="0" marL="0">
              <a:buNone/>
            </a:pPr>
            <a:r>
              <a:rPr lang="en-US" sz="1250" dirty="0">
                <a:solidFill>
                  <a:srgbClr val="3C4A60"/>
                </a:solidFill>
                <a:latin typeface="Calibri" pitchFamily="34" charset="0"/>
                <a:ea typeface="Calibri" pitchFamily="34" charset="-122"/>
                <a:cs typeface="Calibri" pitchFamily="34" charset="-120"/>
              </a:rPr>
              <a:t>Create and update forms — schemas are validated before saving</a:t>
            </a:r>
          </a:p>
        </p:txBody>
      </p:sp>
      <p:sp>
        <p:nvSpPr>
          <p:cNvPr id="18" name="Shape 14"/>
          <p:cNvSpPr/>
          <p:nvPr/>
        </p:nvSpPr>
        <p:spPr>
          <a:xfrm>
            <a:off x="5943600" y="3968496"/>
            <a:ext cx="5699455" cy="960120"/>
          </a:xfrm>
          <a:prstGeom prst="roundRect">
            <a:avLst>
              <a:gd name="adj" fmla="val 7619"/>
            </a:avLst>
          </a:prstGeom>
          <a:solidFill>
            <a:srgbClr val="FDF1E6"/>
          </a:solidFill>
          <a:ln w="9525">
            <a:solidFill>
              <a:srgbClr val="E2E5EA"/>
            </a:solidFill>
            <a:prstDash val="solid"/>
          </a:ln>
          <a:effectLst>
            <a:outerShdw sx="100000" sy="100000" kx="0" ky="0" algn="bl" rotWithShape="0" blurRad="76200" dist="25400" dir="5400000">
              <a:srgbClr val="000000">
                <a:alpha val="8000"/>
              </a:srgbClr>
            </a:outerShdw>
          </a:effectLst>
        </p:spPr>
        <p:txBody>
          <a:bodyPr/>
          <a:p/>
        </p:txBody>
      </p:sp>
      <p:sp>
        <p:nvSpPr>
          <p:cNvPr id="19" name="Shape 15"/>
          <p:cNvSpPr/>
          <p:nvPr/>
        </p:nvSpPr>
        <p:spPr>
          <a:xfrm>
            <a:off x="6172200" y="4151376"/>
            <a:ext cx="594360" cy="594360"/>
          </a:xfrm>
          <a:prstGeom prst="ellipse">
            <a:avLst/>
          </a:prstGeom>
          <a:solidFill>
            <a:srgbClr val="E3710A"/>
          </a:solidFill>
          <a:ln w="12700">
            <a:solidFill>
              <a:srgbClr val="E3710A"/>
            </a:solidFill>
            <a:prstDash val="solid"/>
          </a:ln>
        </p:spPr>
        <p:txBody>
          <a:bodyPr/>
          <a:p/>
        </p:txBody>
      </p:sp>
      <p:sp>
        <p:nvSpPr>
          <p:cNvPr id="21" name="Text 16"/>
          <p:cNvSpPr txBox="1"/>
          <p:nvPr/>
        </p:nvSpPr>
        <p:spPr>
          <a:xfrm>
            <a:off x="6995160" y="4078224"/>
            <a:ext cx="4465015" cy="320040"/>
          </a:xfrm>
          <a:prstGeom prst="rect">
            <a:avLst/>
          </a:prstGeom>
          <a:noFill/>
          <a:ln/>
        </p:spPr>
        <p:txBody>
          <a:bodyPr wrap="square" lIns="0" tIns="0" rIns="0" bIns="0" rtlCol="0" anchor="ctr"/>
          <a:lstStyle/>
          <a:p>
            <a:pPr indent="0" marL="0">
              <a:buNone/>
            </a:pPr>
            <a:r>
              <a:rPr lang="en-US" sz="1600" b="1" dirty="0">
                <a:solidFill>
                  <a:srgbClr val="1B2536"/>
                </a:solidFill>
                <a:latin typeface="Courier New" pitchFamily="34" charset="0"/>
                <a:ea typeface="Courier New" pitchFamily="34" charset="-122"/>
                <a:cs typeface="Courier New" pitchFamily="34" charset="-120"/>
              </a:rPr>
              <a:t>transactions:read</a:t>
            </a:r>
          </a:p>
        </p:txBody>
      </p:sp>
      <p:sp>
        <p:nvSpPr>
          <p:cNvPr id="22" name="Text 17"/>
          <p:cNvSpPr txBox="1"/>
          <p:nvPr/>
        </p:nvSpPr>
        <p:spPr>
          <a:xfrm>
            <a:off x="6995160" y="4398264"/>
            <a:ext cx="4465015" cy="457200"/>
          </a:xfrm>
          <a:prstGeom prst="rect">
            <a:avLst/>
          </a:prstGeom>
          <a:noFill/>
          <a:ln/>
        </p:spPr>
        <p:txBody>
          <a:bodyPr wrap="square" lIns="0" tIns="0" rIns="0" bIns="0" rtlCol="0" anchor="t"/>
          <a:lstStyle/>
          <a:p>
            <a:pPr indent="0" marL="0">
              <a:buNone/>
            </a:pPr>
            <a:r>
              <a:rPr lang="en-US" sz="1250" dirty="0">
                <a:solidFill>
                  <a:srgbClr val="3C4A60"/>
                </a:solidFill>
                <a:latin typeface="Calibri" pitchFamily="34" charset="0"/>
                <a:ea typeface="Calibri" pitchFamily="34" charset="-122"/>
                <a:cs typeface="Calibri" pitchFamily="34" charset="-120"/>
              </a:rPr>
              <a:t>Read submitted responses via the pull API or MCP</a:t>
            </a:r>
          </a:p>
        </p:txBody>
      </p:sp>
      <p:sp>
        <p:nvSpPr>
          <p:cNvPr id="23" name="Shape 18"/>
          <p:cNvSpPr/>
          <p:nvPr/>
        </p:nvSpPr>
        <p:spPr>
          <a:xfrm>
            <a:off x="5943600" y="5084064"/>
            <a:ext cx="5699455" cy="960120"/>
          </a:xfrm>
          <a:prstGeom prst="roundRect">
            <a:avLst>
              <a:gd name="adj" fmla="val 7619"/>
            </a:avLst>
          </a:prstGeom>
          <a:solidFill>
            <a:srgbClr val="FDF1E6"/>
          </a:solidFill>
          <a:ln w="9525">
            <a:solidFill>
              <a:srgbClr val="E2E5EA"/>
            </a:solidFill>
            <a:prstDash val="solid"/>
          </a:ln>
          <a:effectLst>
            <a:outerShdw sx="100000" sy="100000" kx="0" ky="0" algn="bl" rotWithShape="0" blurRad="76200" dist="25400" dir="5400000">
              <a:srgbClr val="000000">
                <a:alpha val="8000"/>
              </a:srgbClr>
            </a:outerShdw>
          </a:effectLst>
        </p:spPr>
        <p:txBody>
          <a:bodyPr/>
          <a:p/>
        </p:txBody>
      </p:sp>
      <p:sp>
        <p:nvSpPr>
          <p:cNvPr id="24" name="Shape 19"/>
          <p:cNvSpPr/>
          <p:nvPr/>
        </p:nvSpPr>
        <p:spPr>
          <a:xfrm>
            <a:off x="6172200" y="5266944"/>
            <a:ext cx="594360" cy="594360"/>
          </a:xfrm>
          <a:prstGeom prst="ellipse">
            <a:avLst/>
          </a:prstGeom>
          <a:solidFill>
            <a:srgbClr val="E3710A"/>
          </a:solidFill>
          <a:ln w="12700">
            <a:solidFill>
              <a:srgbClr val="E3710A"/>
            </a:solidFill>
            <a:prstDash val="solid"/>
          </a:ln>
        </p:spPr>
        <p:txBody>
          <a:bodyPr/>
          <a:p/>
        </p:txBody>
      </p:sp>
      <p:sp>
        <p:nvSpPr>
          <p:cNvPr id="26" name="Text 20"/>
          <p:cNvSpPr txBox="1"/>
          <p:nvPr/>
        </p:nvSpPr>
        <p:spPr>
          <a:xfrm>
            <a:off x="6995160" y="5193792"/>
            <a:ext cx="4465015" cy="320040"/>
          </a:xfrm>
          <a:prstGeom prst="rect">
            <a:avLst/>
          </a:prstGeom>
          <a:noFill/>
          <a:ln/>
        </p:spPr>
        <p:txBody>
          <a:bodyPr wrap="square" lIns="0" tIns="0" rIns="0" bIns="0" rtlCol="0" anchor="ctr"/>
          <a:lstStyle/>
          <a:p>
            <a:pPr indent="0" marL="0">
              <a:buNone/>
            </a:pPr>
            <a:r>
              <a:rPr lang="en-US" sz="1600" b="1" dirty="0">
                <a:solidFill>
                  <a:srgbClr val="1B2536"/>
                </a:solidFill>
                <a:latin typeface="Courier New" pitchFamily="34" charset="0"/>
                <a:ea typeface="Courier New" pitchFamily="34" charset="-122"/>
                <a:cs typeface="Courier New" pitchFamily="34" charset="-120"/>
              </a:rPr>
              <a:t>connections:manage</a:t>
            </a:r>
          </a:p>
        </p:txBody>
      </p:sp>
      <p:sp>
        <p:nvSpPr>
          <p:cNvPr id="27" name="Text 21"/>
          <p:cNvSpPr txBox="1"/>
          <p:nvPr/>
        </p:nvSpPr>
        <p:spPr>
          <a:xfrm>
            <a:off x="6995160" y="5513832"/>
            <a:ext cx="4465015" cy="457200"/>
          </a:xfrm>
          <a:prstGeom prst="rect">
            <a:avLst/>
          </a:prstGeom>
          <a:noFill/>
          <a:ln/>
        </p:spPr>
        <p:txBody>
          <a:bodyPr wrap="square" lIns="0" tIns="0" rIns="0" bIns="0" rtlCol="0" anchor="t"/>
          <a:lstStyle/>
          <a:p>
            <a:pPr indent="0" marL="0">
              <a:buNone/>
            </a:pPr>
            <a:r>
              <a:rPr lang="en-US" sz="1250" dirty="0">
                <a:solidFill>
                  <a:srgbClr val="3C4A60"/>
                </a:solidFill>
                <a:latin typeface="Calibri" pitchFamily="34" charset="0"/>
                <a:ea typeface="Calibri" pitchFamily="34" charset="-122"/>
                <a:cs typeface="Calibri" pitchFamily="34" charset="-120"/>
              </a:rPr>
              <a:t>Set webhook URLs, signing secrets and auth headers</a:t>
            </a:r>
          </a:p>
        </p:txBody>
      </p:sp>
      <p:sp>
        <p:nvSpPr>
          <p:cNvPr id="28" name="Text 22"/>
          <p:cNvSpPr txBox="1"/>
          <p:nvPr/>
        </p:nvSpPr>
        <p:spPr>
          <a:xfrm>
            <a:off x="548640" y="5257800"/>
            <a:ext cx="4937760" cy="822960"/>
          </a:xfrm>
          <a:prstGeom prst="rect">
            <a:avLst/>
          </a:prstGeom>
          <a:noFill/>
          <a:ln/>
        </p:spPr>
        <p:txBody>
          <a:bodyPr wrap="square" lIns="0" tIns="0" rIns="0" bIns="0" rtlCol="0" anchor="ctr"/>
          <a:lstStyle/>
          <a:p>
            <a:pPr indent="0" marL="0">
              <a:buNone/>
            </a:pPr>
            <a:r>
              <a:rPr lang="en-US" sz="1800" i="1" dirty="0">
                <a:solidFill>
                  <a:srgbClr val="9D5B00"/>
                </a:solidFill>
                <a:latin typeface="Cambria" pitchFamily="34" charset="0"/>
                <a:ea typeface="Cambria" pitchFamily="34" charset="-122"/>
                <a:cs typeface="Cambria" pitchFamily="34" charset="-120"/>
              </a:rPr>
              <a:t>Hashed at rest. Shown once. Revoked instantly.</a:t>
            </a:r>
          </a:p>
        </p:txBody>
      </p:sp>
      <p:pic>
        <p:nvPicPr>
          <p:cNvPr id="29" name="Picture 28" descr="FaEye.png"/>
          <p:cNvPicPr>
            <a:picLocks noChangeAspect="1"/>
          </p:cNvPicPr>
          <p:nvPr/>
        </p:nvPicPr>
        <p:blipFill>
          <a:blip r:embed="rId6"/>
          <a:stretch>
            <a:fillRect/>
          </a:stretch>
        </p:blipFill>
        <p:spPr>
          <a:xfrm>
            <a:off x="6326734" y="2074774"/>
            <a:ext cx="285293" cy="285293"/>
          </a:xfrm>
          <a:prstGeom prst="rect">
            <a:avLst/>
          </a:prstGeom>
        </p:spPr>
      </p:pic>
      <p:pic>
        <p:nvPicPr>
          <p:cNvPr id="30" name="Picture 29" descr="FaPen.png"/>
          <p:cNvPicPr>
            <a:picLocks noChangeAspect="1"/>
          </p:cNvPicPr>
          <p:nvPr/>
        </p:nvPicPr>
        <p:blipFill>
          <a:blip r:embed="rId7"/>
          <a:stretch>
            <a:fillRect/>
          </a:stretch>
        </p:blipFill>
        <p:spPr>
          <a:xfrm>
            <a:off x="6326734" y="3190342"/>
            <a:ext cx="285293" cy="285293"/>
          </a:xfrm>
          <a:prstGeom prst="rect">
            <a:avLst/>
          </a:prstGeom>
        </p:spPr>
      </p:pic>
      <p:pic>
        <p:nvPicPr>
          <p:cNvPr id="31" name="Picture 30" descr="image.png"/>
          <p:cNvPicPr>
            <a:picLocks noChangeAspect="1"/>
          </p:cNvPicPr>
          <p:nvPr/>
        </p:nvPicPr>
        <p:blipFill>
          <a:blip r:embed="rId8"/>
          <a:stretch>
            <a:fillRect/>
          </a:stretch>
        </p:blipFill>
        <p:spPr>
          <a:xfrm>
            <a:off x="6326734" y="4305910"/>
            <a:ext cx="285293" cy="285293"/>
          </a:xfrm>
          <a:prstGeom prst="rect">
            <a:avLst/>
          </a:prstGeom>
        </p:spPr>
      </p:pic>
      <p:pic>
        <p:nvPicPr>
          <p:cNvPr id="32" name="Picture 31" descr="image.png"/>
          <p:cNvPicPr>
            <a:picLocks noChangeAspect="1"/>
          </p:cNvPicPr>
          <p:nvPr/>
        </p:nvPicPr>
        <p:blipFill>
          <a:blip r:embed="rId9"/>
          <a:stretch>
            <a:fillRect/>
          </a:stretch>
        </p:blipFill>
        <p:spPr>
          <a:xfrm>
            <a:off x="6326734" y="5421478"/>
            <a:ext cx="285293" cy="28529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MCP: let an LLM run the platform</a:t>
            </a:r>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The Model Context Protocol server exposes the same three jobs as tools any MCP client can call</a:t>
            </a:r>
          </a:p>
        </p:txBody>
      </p:sp>
      <p:sp>
        <p:nvSpPr>
          <p:cNvPr id="4" name="Shape 2"/>
          <p:cNvSpPr/>
          <p:nvPr/>
        </p:nvSpPr>
        <p:spPr>
          <a:xfrm>
            <a:off x="548640" y="1920240"/>
            <a:ext cx="3429000" cy="3931920"/>
          </a:xfrm>
          <a:prstGeom prst="roundRect">
            <a:avLst>
              <a:gd name="adj" fmla="val 2133"/>
            </a:avLst>
          </a:prstGeom>
          <a:solidFill>
            <a:srgbClr val="F4F4F4"/>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914400" y="2331720"/>
            <a:ext cx="777240" cy="777240"/>
          </a:xfrm>
          <a:prstGeom prst="ellipse">
            <a:avLst/>
          </a:prstGeom>
          <a:solidFill>
            <a:srgbClr val="E3710A"/>
          </a:solidFill>
          <a:ln w="12700">
            <a:solidFill>
              <a:srgbClr val="E3710A"/>
            </a:solidFill>
            <a:prstDash val="solid"/>
          </a:ln>
        </p:spPr>
      </p:sp>
      <p:pic>
        <p:nvPicPr>
          <p:cNvPr id="6" name="Image 0" descr="preencoded.png">    </p:cNvPr>
          <p:cNvPicPr>
            <a:picLocks noChangeAspect="1"/>
          </p:cNvPicPr>
          <p:nvPr/>
        </p:nvPicPr>
        <p:blipFill>
          <a:blip r:embed="rId1"/>
          <a:stretch>
            <a:fillRect/>
          </a:stretch>
        </p:blipFill>
        <p:spPr>
          <a:xfrm>
            <a:off x="1116482" y="2533802"/>
            <a:ext cx="373075" cy="373075"/>
          </a:xfrm>
          <a:prstGeom prst="rect">
            <a:avLst/>
          </a:prstGeom>
        </p:spPr>
      </p:pic>
      <p:sp>
        <p:nvSpPr>
          <p:cNvPr id="7" name="Text 4"/>
          <p:cNvSpPr txBox="1"/>
          <p:nvPr/>
        </p:nvSpPr>
        <p:spPr>
          <a:xfrm>
            <a:off x="914400" y="3337560"/>
            <a:ext cx="2697480" cy="548640"/>
          </a:xfrm>
          <a:prstGeom prst="rect">
            <a:avLst/>
          </a:prstGeom>
          <a:noFill/>
          <a:ln/>
        </p:spPr>
        <p:txBody>
          <a:bodyPr wrap="square" lIns="0" tIns="0" rIns="0" bIns="0" rtlCol="0" anchor="ctr"/>
          <a:lstStyle/>
          <a:p>
            <a:pPr indent="0" marL="0">
              <a:buNone/>
            </a:pPr>
            <a:r>
              <a:rPr lang="en-US" sz="2400" b="1" dirty="0">
                <a:solidFill>
                  <a:srgbClr val="1B2536"/>
                </a:solidFill>
                <a:latin typeface="Cambria" pitchFamily="34" charset="0"/>
                <a:ea typeface="Cambria" pitchFamily="34" charset="-122"/>
                <a:cs typeface="Cambria" pitchFamily="34" charset="-120"/>
              </a:rPr>
              <a:t>Configure</a:t>
            </a:r>
            <a:endParaRPr lang="en-US" sz="2400" dirty="0"/>
          </a:p>
        </p:txBody>
      </p:sp>
      <p:sp>
        <p:nvSpPr>
          <p:cNvPr id="8" name="Text 5"/>
          <p:cNvSpPr txBox="1"/>
          <p:nvPr/>
        </p:nvSpPr>
        <p:spPr>
          <a:xfrm>
            <a:off x="914400" y="3931920"/>
            <a:ext cx="2697480" cy="1828800"/>
          </a:xfrm>
          <a:prstGeom prst="rect">
            <a:avLst/>
          </a:prstGeom>
          <a:noFill/>
          <a:ln/>
        </p:spPr>
        <p:txBody>
          <a:bodyPr wrap="square" lIns="0" tIns="0" rIns="0" bIns="0" rtlCol="0" anchor="t"/>
          <a:lstStyle/>
          <a:p>
            <a:pPr indent="0" marL="0">
              <a:buNone/>
            </a:pPr>
            <a:r>
              <a:rPr lang="en-US" sz="1200" dirty="0" b="1">
                <a:solidFill>
                  <a:srgbClr val="9D5B00"/>
                </a:solidFill>
                <a:latin typeface="Courier New" pitchFamily="34" charset="0"/>
                <a:ea typeface="Courier New" pitchFamily="34" charset="-122"/>
                <a:cs typeface="Courier New" pitchFamily="34" charset="-120"/>
              </a:rPr>
              <a:t>get_schema_guide</a:t>
            </a:r>
          </a:p>
          <a:p>
            <a:pPr indent="0" marL="0">
              <a:buNone/>
            </a:pPr>
            <a:r>
              <a:rPr lang="en-US" sz="1200" dirty="0" b="1">
                <a:solidFill>
                  <a:srgbClr val="9D5B00"/>
                </a:solidFill>
                <a:latin typeface="Courier New" pitchFamily="34" charset="0"/>
                <a:ea typeface="Courier New" pitchFamily="34" charset="-122"/>
                <a:cs typeface="Courier New" pitchFamily="34" charset="-120"/>
              </a:rPr>
              <a:t>create_txndef</a:t>
            </a:r>
          </a:p>
          <a:p>
            <a:pPr indent="0" marL="0">
              <a:buNone/>
            </a:pPr>
            <a:r>
              <a:rPr lang="en-US" sz="1200" dirty="0" b="1">
                <a:solidFill>
                  <a:srgbClr val="9D5B00"/>
                </a:solidFill>
                <a:latin typeface="Courier New" pitchFamily="34" charset="0"/>
                <a:ea typeface="Courier New" pitchFamily="34" charset="-122"/>
                <a:cs typeface="Courier New" pitchFamily="34" charset="-120"/>
              </a:rPr>
              <a:t>update_txndef</a:t>
            </a:r>
          </a:p>
          <a:p>
            <a:pPr indent="0" marL="0">
              <a:buNone/>
            </a:pPr>
            <a:r>
              <a:rPr lang="en-US" sz="600" dirty="0">
                <a:solidFill>
                  <a:srgbClr val="3C4A60"/>
                </a:solidFill>
                <a:latin typeface="Calibri" pitchFamily="34" charset="0"/>
                <a:ea typeface="Calibri" pitchFamily="34" charset="-122"/>
                <a:cs typeface="Calibri" pitchFamily="34" charset="-120"/>
              </a:rPr>
              <a:t/>
            </a:r>
          </a:p>
          <a:p>
            <a:pPr indent="0" marL="0">
              <a:buNone/>
            </a:pPr>
            <a:r>
              <a:rPr lang="en-US" sz="1500" dirty="0">
                <a:solidFill>
                  <a:srgbClr val="3C4A60"/>
                </a:solidFill>
                <a:latin typeface="Calibri" pitchFamily="34" charset="0"/>
                <a:ea typeface="Calibri" pitchFamily="34" charset="-122"/>
                <a:cs typeface="Calibri" pitchFamily="34" charset="-120"/>
              </a:rPr>
              <a:t>Describe the form in plain English. The LLM writes the schema; it's validated before it's saved.</a:t>
            </a:r>
          </a:p>
        </p:txBody>
      </p:sp>
      <p:sp>
        <p:nvSpPr>
          <p:cNvPr id="9" name="Shape 6"/>
          <p:cNvSpPr/>
          <p:nvPr/>
        </p:nvSpPr>
        <p:spPr>
          <a:xfrm>
            <a:off x="4343400" y="1920240"/>
            <a:ext cx="3429000" cy="3931920"/>
          </a:xfrm>
          <a:prstGeom prst="roundRect">
            <a:avLst>
              <a:gd name="adj" fmla="val 2133"/>
            </a:avLst>
          </a:prstGeom>
          <a:solidFill>
            <a:srgbClr val="F4F4F4"/>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709160" y="2331720"/>
            <a:ext cx="777240" cy="777240"/>
          </a:xfrm>
          <a:prstGeom prst="ellipse">
            <a:avLst/>
          </a:prstGeom>
          <a:solidFill>
            <a:srgbClr val="E3710A"/>
          </a:solidFill>
          <a:ln w="12700">
            <a:solidFill>
              <a:srgbClr val="E3710A"/>
            </a:solidFill>
            <a:prstDash val="solid"/>
          </a:ln>
        </p:spPr>
      </p:sp>
      <p:pic>
        <p:nvPicPr>
          <p:cNvPr id="11" name="Image 1" descr="preencoded.png">    </p:cNvPr>
          <p:cNvPicPr>
            <a:picLocks noChangeAspect="1"/>
          </p:cNvPicPr>
          <p:nvPr/>
        </p:nvPicPr>
        <p:blipFill>
          <a:blip r:embed="rId2"/>
          <a:stretch>
            <a:fillRect/>
          </a:stretch>
        </p:blipFill>
        <p:spPr>
          <a:xfrm>
            <a:off x="4911242" y="2533802"/>
            <a:ext cx="373075" cy="373075"/>
          </a:xfrm>
          <a:prstGeom prst="rect">
            <a:avLst/>
          </a:prstGeom>
        </p:spPr>
      </p:pic>
      <p:sp>
        <p:nvSpPr>
          <p:cNvPr id="12" name="Text 8"/>
          <p:cNvSpPr txBox="1"/>
          <p:nvPr/>
        </p:nvSpPr>
        <p:spPr>
          <a:xfrm>
            <a:off x="4709160" y="3337560"/>
            <a:ext cx="2697480" cy="548640"/>
          </a:xfrm>
          <a:prstGeom prst="rect">
            <a:avLst/>
          </a:prstGeom>
          <a:noFill/>
          <a:ln/>
        </p:spPr>
        <p:txBody>
          <a:bodyPr wrap="square" lIns="0" tIns="0" rIns="0" bIns="0" rtlCol="0" anchor="ctr"/>
          <a:lstStyle/>
          <a:p>
            <a:pPr indent="0" marL="0">
              <a:buNone/>
            </a:pPr>
            <a:r>
              <a:rPr lang="en-US" sz="2400" b="1" dirty="0">
                <a:solidFill>
                  <a:srgbClr val="1B2536"/>
                </a:solidFill>
                <a:latin typeface="Cambria" pitchFamily="34" charset="0"/>
                <a:ea typeface="Cambria" pitchFamily="34" charset="-122"/>
                <a:cs typeface="Cambria" pitchFamily="34" charset="-120"/>
              </a:rPr>
              <a:t>Integrate</a:t>
            </a:r>
            <a:endParaRPr lang="en-US" sz="2400" dirty="0"/>
          </a:p>
        </p:txBody>
      </p:sp>
      <p:sp>
        <p:nvSpPr>
          <p:cNvPr id="13" name="Text 9"/>
          <p:cNvSpPr txBox="1"/>
          <p:nvPr/>
        </p:nvSpPr>
        <p:spPr>
          <a:xfrm>
            <a:off x="4709160" y="3931920"/>
            <a:ext cx="2697480" cy="1828800"/>
          </a:xfrm>
          <a:prstGeom prst="rect">
            <a:avLst/>
          </a:prstGeom>
          <a:noFill/>
          <a:ln/>
        </p:spPr>
        <p:txBody>
          <a:bodyPr wrap="square" lIns="0" tIns="0" rIns="0" bIns="0" rtlCol="0" anchor="t"/>
          <a:lstStyle/>
          <a:p>
            <a:pPr indent="0" marL="0">
              <a:buNone/>
            </a:pPr>
            <a:r>
              <a:rPr lang="en-US" sz="1200" dirty="0" b="1">
                <a:solidFill>
                  <a:srgbClr val="9D5B00"/>
                </a:solidFill>
                <a:latin typeface="Courier New" pitchFamily="34" charset="0"/>
                <a:ea typeface="Courier New" pitchFamily="34" charset="-122"/>
                <a:cs typeface="Courier New" pitchFamily="34" charset="-120"/>
              </a:rPr>
              <a:t>configure_connection</a:t>
            </a:r>
          </a:p>
          <a:p>
            <a:pPr indent="0" marL="0">
              <a:buNone/>
            </a:pPr>
            <a:r>
              <a:rPr lang="en-US" sz="1200" dirty="0" b="1">
                <a:solidFill>
                  <a:srgbClr val="9D5B00"/>
                </a:solidFill>
                <a:latin typeface="Courier New" pitchFamily="34" charset="0"/>
                <a:ea typeface="Courier New" pitchFamily="34" charset="-122"/>
                <a:cs typeface="Courier New" pitchFamily="34" charset="-120"/>
              </a:rPr>
              <a:t>test_connection</a:t>
            </a:r>
          </a:p>
          <a:p>
            <a:pPr indent="0" marL="0">
              <a:buNone/>
            </a:pPr>
            <a:r>
              <a:rPr lang="en-US" sz="600" dirty="0">
                <a:solidFill>
                  <a:srgbClr val="3C4A60"/>
                </a:solidFill>
                <a:latin typeface="Calibri" pitchFamily="34" charset="0"/>
                <a:ea typeface="Calibri" pitchFamily="34" charset="-122"/>
                <a:cs typeface="Calibri" pitchFamily="34" charset="-120"/>
              </a:rPr>
              <a:t/>
            </a:r>
          </a:p>
          <a:p>
            <a:pPr indent="0" marL="0">
              <a:buNone/>
            </a:pPr>
            <a:r>
              <a:rPr lang="en-US" sz="1500" dirty="0">
                <a:solidFill>
                  <a:srgbClr val="3C4A60"/>
                </a:solidFill>
                <a:latin typeface="Calibri" pitchFamily="34" charset="0"/>
                <a:ea typeface="Calibri" pitchFamily="34" charset="-122"/>
                <a:cs typeface="Calibri" pitchFamily="34" charset="-120"/>
              </a:rPr>
              <a:t>Point completed responses at a third-party system. Deliveries are signed; credentials stored encrypted.</a:t>
            </a:r>
          </a:p>
        </p:txBody>
      </p:sp>
      <p:sp>
        <p:nvSpPr>
          <p:cNvPr id="14" name="Shape 10"/>
          <p:cNvSpPr/>
          <p:nvPr/>
        </p:nvSpPr>
        <p:spPr>
          <a:xfrm>
            <a:off x="8138160" y="1920240"/>
            <a:ext cx="3429000" cy="3931920"/>
          </a:xfrm>
          <a:prstGeom prst="roundRect">
            <a:avLst>
              <a:gd name="adj" fmla="val 2133"/>
            </a:avLst>
          </a:prstGeom>
          <a:solidFill>
            <a:srgbClr val="F4F4F4"/>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8503920" y="2331720"/>
            <a:ext cx="777240" cy="777240"/>
          </a:xfrm>
          <a:prstGeom prst="ellipse">
            <a:avLst/>
          </a:prstGeom>
          <a:solidFill>
            <a:srgbClr val="E3710A"/>
          </a:solidFill>
          <a:ln w="12700">
            <a:solidFill>
              <a:srgbClr val="E3710A"/>
            </a:solidFill>
            <a:prstDash val="solid"/>
          </a:ln>
        </p:spPr>
      </p:sp>
      <p:pic>
        <p:nvPicPr>
          <p:cNvPr id="16" name="Image 2" descr="preencoded.png">    </p:cNvPr>
          <p:cNvPicPr>
            <a:picLocks noChangeAspect="1"/>
          </p:cNvPicPr>
          <p:nvPr/>
        </p:nvPicPr>
        <p:blipFill>
          <a:blip r:embed="rId3"/>
          <a:stretch>
            <a:fillRect/>
          </a:stretch>
        </p:blipFill>
        <p:spPr>
          <a:xfrm>
            <a:off x="8706002" y="2533802"/>
            <a:ext cx="373075" cy="373075"/>
          </a:xfrm>
          <a:prstGeom prst="rect">
            <a:avLst/>
          </a:prstGeom>
        </p:spPr>
      </p:pic>
      <p:sp>
        <p:nvSpPr>
          <p:cNvPr id="17" name="Text 12"/>
          <p:cNvSpPr txBox="1"/>
          <p:nvPr/>
        </p:nvSpPr>
        <p:spPr>
          <a:xfrm>
            <a:off x="8503920" y="3337560"/>
            <a:ext cx="2697480" cy="548640"/>
          </a:xfrm>
          <a:prstGeom prst="rect">
            <a:avLst/>
          </a:prstGeom>
          <a:noFill/>
          <a:ln/>
        </p:spPr>
        <p:txBody>
          <a:bodyPr wrap="square" lIns="0" tIns="0" rIns="0" bIns="0" rtlCol="0" anchor="ctr"/>
          <a:lstStyle/>
          <a:p>
            <a:pPr indent="0" marL="0">
              <a:buNone/>
            </a:pPr>
            <a:r>
              <a:rPr lang="en-US" sz="2400" b="1" dirty="0">
                <a:solidFill>
                  <a:srgbClr val="1B2536"/>
                </a:solidFill>
                <a:latin typeface="Cambria" pitchFamily="34" charset="0"/>
                <a:ea typeface="Cambria" pitchFamily="34" charset="-122"/>
                <a:cs typeface="Cambria" pitchFamily="34" charset="-120"/>
              </a:rPr>
              <a:t>Extract</a:t>
            </a:r>
            <a:endParaRPr lang="en-US" sz="2400" dirty="0"/>
          </a:p>
        </p:txBody>
      </p:sp>
      <p:sp>
        <p:nvSpPr>
          <p:cNvPr id="18" name="Text 13"/>
          <p:cNvSpPr txBox="1"/>
          <p:nvPr/>
        </p:nvSpPr>
        <p:spPr>
          <a:xfrm>
            <a:off x="8503920" y="3931920"/>
            <a:ext cx="2697480" cy="1828800"/>
          </a:xfrm>
          <a:prstGeom prst="rect">
            <a:avLst/>
          </a:prstGeom>
          <a:noFill/>
          <a:ln/>
        </p:spPr>
        <p:txBody>
          <a:bodyPr wrap="square" lIns="0" tIns="0" rIns="0" bIns="0" rtlCol="0" anchor="t"/>
          <a:lstStyle/>
          <a:p>
            <a:pPr indent="0" marL="0">
              <a:buNone/>
            </a:pPr>
            <a:r>
              <a:rPr lang="en-US" sz="1200" dirty="0" b="1">
                <a:solidFill>
                  <a:srgbClr val="9D5B00"/>
                </a:solidFill>
                <a:latin typeface="Courier New" pitchFamily="34" charset="0"/>
                <a:ea typeface="Courier New" pitchFamily="34" charset="-122"/>
                <a:cs typeface="Courier New" pitchFamily="34" charset="-120"/>
              </a:rPr>
              <a:t>list_transactions</a:t>
            </a:r>
          </a:p>
          <a:p>
            <a:pPr indent="0" marL="0">
              <a:buNone/>
            </a:pPr>
            <a:r>
              <a:rPr lang="en-US" sz="1200" dirty="0" b="1">
                <a:solidFill>
                  <a:srgbClr val="9D5B00"/>
                </a:solidFill>
                <a:latin typeface="Courier New" pitchFamily="34" charset="0"/>
                <a:ea typeface="Courier New" pitchFamily="34" charset="-122"/>
                <a:cs typeface="Courier New" pitchFamily="34" charset="-120"/>
              </a:rPr>
              <a:t>get_transaction</a:t>
            </a:r>
          </a:p>
          <a:p>
            <a:pPr indent="0" marL="0">
              <a:buNone/>
            </a:pPr>
            <a:r>
              <a:rPr lang="en-US" sz="600" dirty="0">
                <a:solidFill>
                  <a:srgbClr val="3C4A60"/>
                </a:solidFill>
                <a:latin typeface="Calibri" pitchFamily="34" charset="0"/>
                <a:ea typeface="Calibri" pitchFamily="34" charset="-122"/>
                <a:cs typeface="Calibri" pitchFamily="34" charset="-120"/>
              </a:rPr>
              <a:t/>
            </a:r>
          </a:p>
          <a:p>
            <a:pPr indent="0" marL="0">
              <a:buNone/>
            </a:pPr>
            <a:r>
              <a:rPr lang="en-US" sz="1500" dirty="0">
                <a:solidFill>
                  <a:srgbClr val="3C4A60"/>
                </a:solidFill>
                <a:latin typeface="Calibri" pitchFamily="34" charset="0"/>
                <a:ea typeface="Calibri" pitchFamily="34" charset="-122"/>
                <a:cs typeface="Calibri" pitchFamily="34" charset="-120"/>
              </a:rPr>
              <a:t>Ask questions of the responses: “How many DWRS applications came in this week?”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4F4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Connecting an MCP client</a:t>
            </a:r>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Streamable HTTP at /mcp, authenticated with the same bearer key</a:t>
            </a:r>
          </a:p>
        </p:txBody>
      </p:sp>
      <p:sp>
        <p:nvSpPr>
          <p:cNvPr id="4" name="Shape 2"/>
          <p:cNvSpPr/>
          <p:nvPr/>
        </p:nvSpPr>
        <p:spPr>
          <a:xfrm>
            <a:off x="548640" y="1691640"/>
            <a:ext cx="11094415" cy="777240"/>
          </a:xfrm>
          <a:prstGeom prst="roundRect">
            <a:avLst>
              <a:gd name="adj" fmla="val 9412"/>
            </a:avLst>
          </a:prstGeom>
          <a:solidFill>
            <a:srgbClr val="0F1623"/>
          </a:solidFill>
          <a:ln w="12700">
            <a:solidFill>
              <a:srgbClr val="0F1623"/>
            </a:solidFill>
            <a:prstDash val="solid"/>
          </a:ln>
        </p:spPr>
      </p:sp>
      <p:sp>
        <p:nvSpPr>
          <p:cNvPr id="5" name="Text 3"/>
          <p:cNvSpPr txBox="1"/>
          <p:nvPr/>
        </p:nvSpPr>
        <p:spPr>
          <a:xfrm>
            <a:off x="777240" y="1874519"/>
            <a:ext cx="10637215" cy="457200"/>
          </a:xfrm>
          <a:prstGeom prst="rect">
            <a:avLst/>
          </a:prstGeom>
          <a:noFill/>
          <a:ln/>
        </p:spPr>
        <p:txBody>
          <a:bodyPr wrap="square" lIns="0" tIns="0" rIns="0" bIns="0" rtlCol="0" anchor="t"/>
          <a:lstStyle/>
          <a:p>
            <a:pPr indent="0" marL="0">
              <a:buNone/>
            </a:pPr>
            <a:r>
              <a:rPr lang="en-US" sz="1200" dirty="0">
                <a:solidFill>
                  <a:srgbClr val="6A7A92"/>
                </a:solidFill>
                <a:latin typeface="Courier New" pitchFamily="34" charset="0"/>
                <a:ea typeface="Courier New" pitchFamily="34" charset="-122"/>
                <a:cs typeface="Courier New" pitchFamily="34" charset="-120"/>
              </a:rPr>
              <a:t xml:space="preserve">$ </a:t>
            </a:r>
            <a:r>
              <a:rPr lang="en-US" sz="1200" dirty="0">
                <a:solidFill>
                  <a:srgbClr val="D6DEEB"/>
                </a:solidFill>
                <a:latin typeface="Courier New" pitchFamily="34" charset="0"/>
                <a:ea typeface="Courier New" pitchFamily="34" charset="-122"/>
                <a:cs typeface="Courier New" pitchFamily="34" charset="-120"/>
              </a:rPr>
              <a:t>MCP=http://localhost:5050/mcp</a:t>
            </a:r>
            <a:r>
              <a:rPr lang="en-US" sz="1200" dirty="0">
                <a:solidFill>
                  <a:srgbClr val="6A7A92"/>
                </a:solidFill>
                <a:latin typeface="Courier New" pitchFamily="34" charset="0"/>
                <a:ea typeface="Courier New" pitchFamily="34" charset="-122"/>
                <a:cs typeface="Courier New" pitchFamily="34" charset="-120"/>
              </a:rPr>
              <a:t xml:space="preserve">     # the MCP endpoint</a:t>
            </a:r>
          </a:p>
          <a:p>
            <a:pPr indent="0" marL="0">
              <a:buNone/>
            </a:pPr>
            <a:r>
              <a:rPr lang="en-US" sz="1200" dirty="0">
                <a:solidFill>
                  <a:srgbClr val="6A7A92"/>
                </a:solidFill>
                <a:latin typeface="Courier New" pitchFamily="34" charset="0"/>
                <a:ea typeface="Courier New" pitchFamily="34" charset="-122"/>
                <a:cs typeface="Courier New" pitchFamily="34" charset="-120"/>
              </a:rPr>
              <a:t xml:space="preserve">$ </a:t>
            </a:r>
            <a:r>
              <a:rPr lang="en-US" sz="1200" dirty="0">
                <a:solidFill>
                  <a:srgbClr val="D6DEEB"/>
                </a:solidFill>
                <a:latin typeface="Courier New" pitchFamily="34" charset="0"/>
                <a:ea typeface="Courier New" pitchFamily="34" charset="-122"/>
                <a:cs typeface="Courier New" pitchFamily="34" charset="-120"/>
              </a:rPr>
              <a:t>KEY=ddt_…</a:t>
            </a:r>
            <a:r>
              <a:rPr lang="en-US" sz="1200" dirty="0">
                <a:solidFill>
                  <a:srgbClr val="6A7A92"/>
                </a:solidFill>
                <a:latin typeface="Courier New" pitchFamily="34" charset="0"/>
                <a:ea typeface="Courier New" pitchFamily="34" charset="-122"/>
                <a:cs typeface="Courier New" pitchFamily="34" charset="-120"/>
              </a:rPr>
              <a:t xml:space="preserve">                         # a key with the scopes the LLM needs</a:t>
            </a:r>
          </a:p>
        </p:txBody>
      </p:sp>
      <p:sp>
        <p:nvSpPr>
          <p:cNvPr id="6" name="Shape 4"/>
          <p:cNvSpPr/>
          <p:nvPr/>
        </p:nvSpPr>
        <p:spPr>
          <a:xfrm>
            <a:off x="548640" y="2697480"/>
            <a:ext cx="5364328" cy="1463040"/>
          </a:xfrm>
          <a:prstGeom prst="roundRect">
            <a:avLst>
              <a:gd name="adj" fmla="val 5000"/>
            </a:avLst>
          </a:prstGeom>
          <a:solidFill>
            <a:srgbClr val="0F1623"/>
          </a:solidFill>
          <a:ln w="12700">
            <a:solidFill>
              <a:srgbClr val="0F1623"/>
            </a:solidFill>
            <a:prstDash val="solid"/>
          </a:ln>
        </p:spPr>
      </p:sp>
      <p:sp>
        <p:nvSpPr>
          <p:cNvPr id="7" name="Text 5"/>
          <p:cNvSpPr txBox="1"/>
          <p:nvPr/>
        </p:nvSpPr>
        <p:spPr>
          <a:xfrm>
            <a:off x="777240" y="2834640"/>
            <a:ext cx="4907128" cy="274320"/>
          </a:xfrm>
          <a:prstGeom prst="rect">
            <a:avLst/>
          </a:prstGeom>
          <a:noFill/>
          <a:ln/>
        </p:spPr>
        <p:txBody>
          <a:bodyPr wrap="square" lIns="0" tIns="0" rIns="0" bIns="0" rtlCol="0" anchor="ctr"/>
          <a:lstStyle/>
          <a:p>
            <a:pPr indent="0" marL="0">
              <a:buNone/>
            </a:pPr>
            <a:r>
              <a:rPr lang="en-US" sz="1100" dirty="0">
                <a:solidFill>
                  <a:srgbClr val="7A8699"/>
                </a:solidFill>
                <a:latin typeface="Calibri" pitchFamily="34" charset="0"/>
                <a:ea typeface="Calibri" pitchFamily="34" charset="-122"/>
                <a:cs typeface="Calibri" pitchFamily="34" charset="-120"/>
              </a:rPr>
              <a:t>1 · Issue a key for the client</a:t>
            </a:r>
          </a:p>
        </p:txBody>
      </p:sp>
      <p:sp>
        <p:nvSpPr>
          <p:cNvPr id="8" name="Text 6"/>
          <p:cNvSpPr txBox="1"/>
          <p:nvPr/>
        </p:nvSpPr>
        <p:spPr>
          <a:xfrm>
            <a:off x="777240" y="3154680"/>
            <a:ext cx="4907128" cy="868680"/>
          </a:xfrm>
          <a:prstGeom prst="rect">
            <a:avLst/>
          </a:prstGeom>
          <a:noFill/>
          <a:ln/>
        </p:spPr>
        <p:txBody>
          <a:bodyPr wrap="square" lIns="0" tIns="0" rIns="0" bIns="0" rtlCol="0" anchor="t"/>
          <a:lstStyle/>
          <a:p>
            <a:pPr indent="0" marL="0">
              <a:buNone/>
            </a:pPr>
            <a:r>
              <a:rPr lang="en-US" sz="1100" dirty="0">
                <a:solidFill>
                  <a:srgbClr val="6A7A92"/>
                </a:solidFill>
                <a:latin typeface="Courier New" pitchFamily="34" charset="0"/>
                <a:ea typeface="Courier New" pitchFamily="34" charset="-122"/>
                <a:cs typeface="Courier New" pitchFamily="34" charset="-120"/>
              </a:rPr>
              <a:t xml:space="preserve">$ </a:t>
            </a:r>
            <a:r>
              <a:rPr lang="en-US" sz="1100" dirty="0">
                <a:solidFill>
                  <a:srgbClr val="D6DEEB"/>
                </a:solidFill>
                <a:latin typeface="Courier New" pitchFamily="34" charset="0"/>
                <a:ea typeface="Courier New" pitchFamily="34" charset="-122"/>
                <a:cs typeface="Courier New" pitchFamily="34" charset="-120"/>
              </a:rPr>
              <a:t>docker compose exec server node \</a:t>
            </a:r>
          </a:p>
          <a:p>
            <a:pPr indent="0" marL="0">
              <a:buNone/>
            </a:pPr>
            <a:r>
              <a:rPr lang="en-US" sz="1100" dirty="0">
                <a:solidFill>
                  <a:srgbClr val="D6DEEB"/>
                </a:solidFill>
                <a:latin typeface="Courier New" pitchFamily="34" charset="0"/>
                <a:ea typeface="Courier New" pitchFamily="34" charset="-122"/>
                <a:cs typeface="Courier New" pitchFamily="34" charset="-120"/>
              </a:rPr>
              <a:t xml:space="preserve">    scripts/create-api-key.js --name </a:t>
            </a:r>
            <a:r>
              <a:rPr lang="en-US" sz="1100" dirty="0">
                <a:solidFill>
                  <a:srgbClr val="9CDCFE"/>
                </a:solidFill>
                <a:latin typeface="Courier New" pitchFamily="34" charset="0"/>
                <a:ea typeface="Courier New" pitchFamily="34" charset="-122"/>
                <a:cs typeface="Courier New" pitchFamily="34" charset="-120"/>
              </a:rPr>
              <a:t>"Claude Code"</a:t>
            </a:r>
          </a:p>
          <a:p>
            <a:pPr indent="0" marL="0">
              <a:buNone/>
            </a:pPr>
            <a:r>
              <a:rPr lang="en-US" sz="1100" dirty="0">
                <a:solidFill>
                  <a:srgbClr val="6A7A92"/>
                </a:solidFill>
                <a:latin typeface="Courier New" pitchFamily="34" charset="0"/>
                <a:ea typeface="Courier New" pitchFamily="34" charset="-122"/>
                <a:cs typeface="Courier New" pitchFamily="34" charset="-120"/>
              </a:rPr>
              <a:t>Created API key "Claude Code" (ddt_xpILLxIe…)</a:t>
            </a:r>
          </a:p>
        </p:txBody>
      </p:sp>
      <p:sp>
        <p:nvSpPr>
          <p:cNvPr id="9" name="Shape 7"/>
          <p:cNvSpPr/>
          <p:nvPr/>
        </p:nvSpPr>
        <p:spPr>
          <a:xfrm>
            <a:off x="6278728" y="2697480"/>
            <a:ext cx="5364328" cy="1463040"/>
          </a:xfrm>
          <a:prstGeom prst="roundRect">
            <a:avLst>
              <a:gd name="adj" fmla="val 5000"/>
            </a:avLst>
          </a:prstGeom>
          <a:solidFill>
            <a:srgbClr val="0F1623"/>
          </a:solidFill>
          <a:ln w="12700">
            <a:solidFill>
              <a:srgbClr val="0F1623"/>
            </a:solidFill>
            <a:prstDash val="solid"/>
          </a:ln>
        </p:spPr>
      </p:sp>
      <p:sp>
        <p:nvSpPr>
          <p:cNvPr id="10" name="Text 8"/>
          <p:cNvSpPr txBox="1"/>
          <p:nvPr/>
        </p:nvSpPr>
        <p:spPr>
          <a:xfrm>
            <a:off x="6507328" y="2834640"/>
            <a:ext cx="4907128" cy="274320"/>
          </a:xfrm>
          <a:prstGeom prst="rect">
            <a:avLst/>
          </a:prstGeom>
          <a:noFill/>
          <a:ln/>
        </p:spPr>
        <p:txBody>
          <a:bodyPr wrap="square" lIns="0" tIns="0" rIns="0" bIns="0" rtlCol="0" anchor="ctr"/>
          <a:lstStyle/>
          <a:p>
            <a:pPr indent="0" marL="0">
              <a:buNone/>
            </a:pPr>
            <a:r>
              <a:rPr lang="en-US" sz="1100" dirty="0">
                <a:solidFill>
                  <a:srgbClr val="7A8699"/>
                </a:solidFill>
                <a:latin typeface="Calibri" pitchFamily="34" charset="0"/>
                <a:ea typeface="Calibri" pitchFamily="34" charset="-122"/>
                <a:cs typeface="Calibri" pitchFamily="34" charset="-120"/>
              </a:rPr>
              <a:t>2 · Claude Code</a:t>
            </a:r>
          </a:p>
        </p:txBody>
      </p:sp>
      <p:sp>
        <p:nvSpPr>
          <p:cNvPr id="11" name="Text 9"/>
          <p:cNvSpPr txBox="1"/>
          <p:nvPr/>
        </p:nvSpPr>
        <p:spPr>
          <a:xfrm>
            <a:off x="6507328" y="3154680"/>
            <a:ext cx="4907128" cy="868680"/>
          </a:xfrm>
          <a:prstGeom prst="rect">
            <a:avLst/>
          </a:prstGeom>
          <a:noFill/>
          <a:ln/>
        </p:spPr>
        <p:txBody>
          <a:bodyPr wrap="square" lIns="0" tIns="0" rIns="0" bIns="0" rtlCol="0" anchor="t"/>
          <a:lstStyle/>
          <a:p>
            <a:pPr indent="0" marL="0">
              <a:buNone/>
            </a:pPr>
            <a:r>
              <a:rPr lang="en-US" sz="1100" dirty="0">
                <a:solidFill>
                  <a:srgbClr val="6A7A92"/>
                </a:solidFill>
                <a:latin typeface="Courier New" pitchFamily="34" charset="0"/>
                <a:ea typeface="Courier New" pitchFamily="34" charset="-122"/>
                <a:cs typeface="Courier New" pitchFamily="34" charset="-120"/>
              </a:rPr>
              <a:t xml:space="preserve">$ </a:t>
            </a:r>
            <a:r>
              <a:rPr lang="en-US" sz="1100" dirty="0">
                <a:solidFill>
                  <a:srgbClr val="D6DEEB"/>
                </a:solidFill>
                <a:latin typeface="Courier New" pitchFamily="34" charset="0"/>
                <a:ea typeface="Courier New" pitchFamily="34" charset="-122"/>
                <a:cs typeface="Courier New" pitchFamily="34" charset="-120"/>
              </a:rPr>
              <a:t>claude mcp add --transport http dd-transactions \</a:t>
            </a:r>
          </a:p>
          <a:p>
            <a:pPr indent="0" marL="0">
              <a:buNone/>
            </a:pPr>
            <a:r>
              <a:rPr lang="en-US" sz="1100" dirty="0">
                <a:solidFill>
                  <a:srgbClr val="D6DEEB"/>
                </a:solidFill>
                <a:latin typeface="Courier New" pitchFamily="34" charset="0"/>
                <a:ea typeface="Courier New" pitchFamily="34" charset="-122"/>
                <a:cs typeface="Courier New" pitchFamily="34" charset="-120"/>
              </a:rPr>
              <a:t xml:space="preserve">    $MCP --header </a:t>
            </a:r>
            <a:r>
              <a:rPr lang="en-US" sz="1100" dirty="0">
                <a:solidFill>
                  <a:srgbClr val="9CDCFE"/>
                </a:solidFill>
                <a:latin typeface="Courier New" pitchFamily="34" charset="0"/>
                <a:ea typeface="Courier New" pitchFamily="34" charset="-122"/>
                <a:cs typeface="Courier New" pitchFamily="34" charset="-120"/>
              </a:rPr>
              <a:t>"Authorization: Bearer $KEY"</a:t>
            </a:r>
          </a:p>
          <a:p>
            <a:pPr indent="0" marL="0">
              <a:buNone/>
            </a:pPr>
            <a:r>
              <a:rPr lang="en-US" sz="1100" dirty="0">
                <a:solidFill>
                  <a:srgbClr val="6A7A92"/>
                </a:solidFill>
                <a:latin typeface="Courier New" pitchFamily="34" charset="0"/>
                <a:ea typeface="Courier New" pitchFamily="34" charset="-122"/>
                <a:cs typeface="Courier New" pitchFamily="34" charset="-120"/>
              </a:rPr>
              <a:t xml:space="preserve">$ </a:t>
            </a:r>
            <a:r>
              <a:rPr lang="en-US" sz="1100" dirty="0">
                <a:solidFill>
                  <a:srgbClr val="D6DEEB"/>
                </a:solidFill>
                <a:latin typeface="Courier New" pitchFamily="34" charset="0"/>
                <a:ea typeface="Courier New" pitchFamily="34" charset="-122"/>
                <a:cs typeface="Courier New" pitchFamily="34" charset="-120"/>
              </a:rPr>
              <a:t>claude mcp list</a:t>
            </a:r>
          </a:p>
          <a:p>
            <a:pPr indent="0" marL="0">
              <a:buNone/>
            </a:pPr>
            <a:r>
              <a:rPr lang="en-US" sz="1100" dirty="0">
                <a:solidFill>
                  <a:srgbClr val="6A7A92"/>
                </a:solidFill>
                <a:latin typeface="Courier New" pitchFamily="34" charset="0"/>
                <a:ea typeface="Courier New" pitchFamily="34" charset="-122"/>
                <a:cs typeface="Courier New" pitchFamily="34" charset="-120"/>
              </a:rPr>
              <a:t>dd-transactions: http://localhost:5050/mcp (HTTP) ✓</a:t>
            </a:r>
          </a:p>
        </p:txBody>
      </p:sp>
      <p:sp>
        <p:nvSpPr>
          <p:cNvPr id="12" name="Shape 10"/>
          <p:cNvSpPr/>
          <p:nvPr/>
        </p:nvSpPr>
        <p:spPr>
          <a:xfrm>
            <a:off x="548640" y="4389120"/>
            <a:ext cx="5364328" cy="1463040"/>
          </a:xfrm>
          <a:prstGeom prst="roundRect">
            <a:avLst>
              <a:gd name="adj" fmla="val 5000"/>
            </a:avLst>
          </a:prstGeom>
          <a:solidFill>
            <a:srgbClr val="0F1623"/>
          </a:solidFill>
          <a:ln w="12700">
            <a:solidFill>
              <a:srgbClr val="0F1623"/>
            </a:solidFill>
            <a:prstDash val="solid"/>
          </a:ln>
        </p:spPr>
      </p:sp>
      <p:sp>
        <p:nvSpPr>
          <p:cNvPr id="13" name="Text 11"/>
          <p:cNvSpPr txBox="1"/>
          <p:nvPr/>
        </p:nvSpPr>
        <p:spPr>
          <a:xfrm>
            <a:off x="777240" y="4526280"/>
            <a:ext cx="4907128" cy="274320"/>
          </a:xfrm>
          <a:prstGeom prst="rect">
            <a:avLst/>
          </a:prstGeom>
          <a:noFill/>
          <a:ln/>
        </p:spPr>
        <p:txBody>
          <a:bodyPr wrap="square" lIns="0" tIns="0" rIns="0" bIns="0" rtlCol="0" anchor="ctr"/>
          <a:lstStyle/>
          <a:p>
            <a:pPr indent="0" marL="0">
              <a:buNone/>
            </a:pPr>
            <a:r>
              <a:rPr lang="en-US" sz="1100" dirty="0">
                <a:solidFill>
                  <a:srgbClr val="7A8699"/>
                </a:solidFill>
                <a:latin typeface="Calibri" pitchFamily="34" charset="0"/>
                <a:ea typeface="Calibri" pitchFamily="34" charset="-122"/>
                <a:cs typeface="Calibri" pitchFamily="34" charset="-120"/>
              </a:rPr>
              <a:t>3 · Claude Desktop — under mcpServers in claude_desktop_config.json</a:t>
            </a:r>
          </a:p>
        </p:txBody>
      </p:sp>
      <p:sp>
        <p:nvSpPr>
          <p:cNvPr id="14" name="Text 12"/>
          <p:cNvSpPr txBox="1"/>
          <p:nvPr/>
        </p:nvSpPr>
        <p:spPr>
          <a:xfrm>
            <a:off x="777240" y="4846320"/>
            <a:ext cx="4907128" cy="868680"/>
          </a:xfrm>
          <a:prstGeom prst="rect">
            <a:avLst/>
          </a:prstGeom>
          <a:noFill/>
          <a:ln/>
        </p:spPr>
        <p:txBody>
          <a:bodyPr wrap="square" lIns="0" tIns="0" rIns="0" bIns="0" rtlCol="0" anchor="t"/>
          <a:lstStyle/>
          <a:p>
            <a:pPr indent="0" marL="0">
              <a:buNone/>
            </a:pPr>
            <a:r>
              <a:rPr lang="en-US" sz="1100" dirty="0">
                <a:solidFill>
                  <a:srgbClr val="F4A259"/>
                </a:solidFill>
                <a:latin typeface="Courier New" pitchFamily="34" charset="0"/>
                <a:ea typeface="Courier New" pitchFamily="34" charset="-122"/>
                <a:cs typeface="Courier New" pitchFamily="34" charset="-120"/>
              </a:rPr>
              <a:t>"dd-transactions"</a:t>
            </a:r>
            <a:r>
              <a:rPr lang="en-US" sz="1100" dirty="0">
                <a:solidFill>
                  <a:srgbClr val="D6DEEB"/>
                </a:solidFill>
                <a:latin typeface="Courier New" pitchFamily="34" charset="0"/>
                <a:ea typeface="Courier New" pitchFamily="34" charset="-122"/>
                <a:cs typeface="Courier New" pitchFamily="34" charset="-120"/>
              </a:rPr>
              <a:t>:</a:t>
            </a:r>
            <a:r>
              <a:rPr lang="en-US" sz="1100" dirty="0">
                <a:solidFill>
                  <a:srgbClr val="D6DEEB"/>
                </a:solidFill>
                <a:latin typeface="Courier New" pitchFamily="34" charset="0"/>
                <a:ea typeface="Courier New" pitchFamily="34" charset="-122"/>
                <a:cs typeface="Courier New" pitchFamily="34" charset="-120"/>
              </a:rPr>
              <a:t xml:space="preserve"> {</a:t>
            </a:r>
          </a:p>
          <a:p>
            <a:pPr indent="0" marL="0">
              <a:buNone/>
            </a:pPr>
            <a:r>
              <a:rPr lang="en-US" sz="1100" dirty="0">
                <a:solidFill>
                  <a:srgbClr val="D6DEEB"/>
                </a:solidFill>
                <a:latin typeface="Courier New" pitchFamily="34" charset="0"/>
                <a:ea typeface="Courier New" pitchFamily="34" charset="-122"/>
                <a:cs typeface="Courier New" pitchFamily="34" charset="-120"/>
              </a:rPr>
              <a:t xml:space="preserve">  </a:t>
            </a:r>
            <a:r>
              <a:rPr lang="en-US" sz="1100" dirty="0">
                <a:solidFill>
                  <a:srgbClr val="F4A259"/>
                </a:solidFill>
                <a:latin typeface="Courier New" pitchFamily="34" charset="0"/>
                <a:ea typeface="Courier New" pitchFamily="34" charset="-122"/>
                <a:cs typeface="Courier New" pitchFamily="34" charset="-120"/>
              </a:rPr>
              <a:t>"command"</a:t>
            </a:r>
            <a:r>
              <a:rPr lang="en-US" sz="1100" dirty="0">
                <a:solidFill>
                  <a:srgbClr val="D6DEEB"/>
                </a:solidFill>
                <a:latin typeface="Courier New" pitchFamily="34" charset="0"/>
                <a:ea typeface="Courier New" pitchFamily="34" charset="-122"/>
                <a:cs typeface="Courier New" pitchFamily="34" charset="-120"/>
              </a:rPr>
              <a:t>:</a:t>
            </a:r>
            <a:r>
              <a:rPr lang="en-US" sz="1100" dirty="0">
                <a:solidFill>
                  <a:srgbClr val="D6DEEB"/>
                </a:solidFill>
                <a:latin typeface="Courier New" pitchFamily="34" charset="0"/>
                <a:ea typeface="Courier New" pitchFamily="34" charset="-122"/>
                <a:cs typeface="Courier New" pitchFamily="34" charset="-120"/>
              </a:rPr>
              <a:t xml:space="preserve"> </a:t>
            </a:r>
            <a:r>
              <a:rPr lang="en-US" sz="1100" dirty="0">
                <a:solidFill>
                  <a:srgbClr val="9CDCFE"/>
                </a:solidFill>
                <a:latin typeface="Courier New" pitchFamily="34" charset="0"/>
                <a:ea typeface="Courier New" pitchFamily="34" charset="-122"/>
                <a:cs typeface="Courier New" pitchFamily="34" charset="-120"/>
              </a:rPr>
              <a:t>"npx"</a:t>
            </a:r>
            <a:r>
              <a:rPr lang="en-US" sz="1100" dirty="0">
                <a:solidFill>
                  <a:srgbClr val="D6DEEB"/>
                </a:solidFill>
                <a:latin typeface="Courier New" pitchFamily="34" charset="0"/>
                <a:ea typeface="Courier New" pitchFamily="34" charset="-122"/>
                <a:cs typeface="Courier New" pitchFamily="34" charset="-120"/>
              </a:rPr>
              <a:t>,</a:t>
            </a:r>
          </a:p>
          <a:p>
            <a:pPr indent="0" marL="0">
              <a:buNone/>
            </a:pPr>
            <a:r>
              <a:rPr lang="en-US" sz="1100" dirty="0">
                <a:solidFill>
                  <a:srgbClr val="D6DEEB"/>
                </a:solidFill>
                <a:latin typeface="Courier New" pitchFamily="34" charset="0"/>
                <a:ea typeface="Courier New" pitchFamily="34" charset="-122"/>
                <a:cs typeface="Courier New" pitchFamily="34" charset="-120"/>
              </a:rPr>
              <a:t xml:space="preserve">  </a:t>
            </a:r>
            <a:r>
              <a:rPr lang="en-US" sz="1100" dirty="0">
                <a:solidFill>
                  <a:srgbClr val="F4A259"/>
                </a:solidFill>
                <a:latin typeface="Courier New" pitchFamily="34" charset="0"/>
                <a:ea typeface="Courier New" pitchFamily="34" charset="-122"/>
                <a:cs typeface="Courier New" pitchFamily="34" charset="-120"/>
              </a:rPr>
              <a:t>"args"</a:t>
            </a:r>
            <a:r>
              <a:rPr lang="en-US" sz="1100" dirty="0">
                <a:solidFill>
                  <a:srgbClr val="D6DEEB"/>
                </a:solidFill>
                <a:latin typeface="Courier New" pitchFamily="34" charset="0"/>
                <a:ea typeface="Courier New" pitchFamily="34" charset="-122"/>
                <a:cs typeface="Courier New" pitchFamily="34" charset="-120"/>
              </a:rPr>
              <a:t>:</a:t>
            </a:r>
            <a:r>
              <a:rPr lang="en-US" sz="1100" dirty="0">
                <a:solidFill>
                  <a:srgbClr val="D6DEEB"/>
                </a:solidFill>
                <a:latin typeface="Courier New" pitchFamily="34" charset="0"/>
                <a:ea typeface="Courier New" pitchFamily="34" charset="-122"/>
                <a:cs typeface="Courier New" pitchFamily="34" charset="-120"/>
              </a:rPr>
              <a:t xml:space="preserve"> [</a:t>
            </a:r>
            <a:r>
              <a:rPr lang="en-US" sz="1100" dirty="0">
                <a:solidFill>
                  <a:srgbClr val="9CDCFE"/>
                </a:solidFill>
                <a:latin typeface="Courier New" pitchFamily="34" charset="0"/>
                <a:ea typeface="Courier New" pitchFamily="34" charset="-122"/>
                <a:cs typeface="Courier New" pitchFamily="34" charset="-120"/>
              </a:rPr>
              <a:t>"mcp-remote"</a:t>
            </a:r>
            <a:r>
              <a:rPr lang="en-US" sz="1100" dirty="0">
                <a:solidFill>
                  <a:srgbClr val="D6DEEB"/>
                </a:solidFill>
                <a:latin typeface="Courier New" pitchFamily="34" charset="0"/>
                <a:ea typeface="Courier New" pitchFamily="34" charset="-122"/>
                <a:cs typeface="Courier New" pitchFamily="34" charset="-120"/>
              </a:rPr>
              <a:t xml:space="preserve">, </a:t>
            </a:r>
            <a:r>
              <a:rPr lang="en-US" sz="1100" dirty="0">
                <a:solidFill>
                  <a:srgbClr val="9CDCFE"/>
                </a:solidFill>
                <a:latin typeface="Courier New" pitchFamily="34" charset="0"/>
                <a:ea typeface="Courier New" pitchFamily="34" charset="-122"/>
                <a:cs typeface="Courier New" pitchFamily="34" charset="-120"/>
              </a:rPr>
              <a:t>"http://localhost:5050/mcp"</a:t>
            </a:r>
            <a:r>
              <a:rPr lang="en-US" sz="1100" dirty="0">
                <a:solidFill>
                  <a:srgbClr val="D6DEEB"/>
                </a:solidFill>
                <a:latin typeface="Courier New" pitchFamily="34" charset="0"/>
                <a:ea typeface="Courier New" pitchFamily="34" charset="-122"/>
                <a:cs typeface="Courier New" pitchFamily="34" charset="-120"/>
              </a:rPr>
              <a:t>,</a:t>
            </a:r>
          </a:p>
          <a:p>
            <a:pPr indent="0" marL="0">
              <a:buNone/>
            </a:pPr>
            <a:r>
              <a:rPr lang="en-US" sz="1100" dirty="0">
                <a:solidFill>
                  <a:srgbClr val="D6DEEB"/>
                </a:solidFill>
                <a:latin typeface="Courier New" pitchFamily="34" charset="0"/>
                <a:ea typeface="Courier New" pitchFamily="34" charset="-122"/>
                <a:cs typeface="Courier New" pitchFamily="34" charset="-120"/>
              </a:rPr>
              <a:t xml:space="preserve">    </a:t>
            </a:r>
            <a:r>
              <a:rPr lang="en-US" sz="1100" dirty="0">
                <a:solidFill>
                  <a:srgbClr val="9CDCFE"/>
                </a:solidFill>
                <a:latin typeface="Courier New" pitchFamily="34" charset="0"/>
                <a:ea typeface="Courier New" pitchFamily="34" charset="-122"/>
                <a:cs typeface="Courier New" pitchFamily="34" charset="-120"/>
              </a:rPr>
              <a:t>"--header"</a:t>
            </a:r>
            <a:r>
              <a:rPr lang="en-US" sz="1100" dirty="0">
                <a:solidFill>
                  <a:srgbClr val="D6DEEB"/>
                </a:solidFill>
                <a:latin typeface="Courier New" pitchFamily="34" charset="0"/>
                <a:ea typeface="Courier New" pitchFamily="34" charset="-122"/>
                <a:cs typeface="Courier New" pitchFamily="34" charset="-120"/>
              </a:rPr>
              <a:t xml:space="preserve">, </a:t>
            </a:r>
            <a:r>
              <a:rPr lang="en-US" sz="1100" dirty="0">
                <a:solidFill>
                  <a:srgbClr val="9CDCFE"/>
                </a:solidFill>
                <a:latin typeface="Courier New" pitchFamily="34" charset="0"/>
                <a:ea typeface="Courier New" pitchFamily="34" charset="-122"/>
                <a:cs typeface="Courier New" pitchFamily="34" charset="-120"/>
              </a:rPr>
              <a:t>"Authorization: Bearer ddt_…"</a:t>
            </a:r>
            <a:r>
              <a:rPr lang="en-US" sz="1100" dirty="0">
                <a:solidFill>
                  <a:srgbClr val="D6DEEB"/>
                </a:solidFill>
                <a:latin typeface="Courier New" pitchFamily="34" charset="0"/>
                <a:ea typeface="Courier New" pitchFamily="34" charset="-122"/>
                <a:cs typeface="Courier New" pitchFamily="34" charset="-120"/>
              </a:rPr>
              <a:t>] }</a:t>
            </a:r>
          </a:p>
        </p:txBody>
      </p:sp>
      <p:sp>
        <p:nvSpPr>
          <p:cNvPr id="15" name="Shape 13"/>
          <p:cNvSpPr/>
          <p:nvPr/>
        </p:nvSpPr>
        <p:spPr>
          <a:xfrm>
            <a:off x="6278728" y="4389120"/>
            <a:ext cx="5364328" cy="1463040"/>
          </a:xfrm>
          <a:prstGeom prst="roundRect">
            <a:avLst>
              <a:gd name="adj" fmla="val 5000"/>
            </a:avLst>
          </a:prstGeom>
          <a:solidFill>
            <a:srgbClr val="0F1623"/>
          </a:solidFill>
          <a:ln w="12700">
            <a:solidFill>
              <a:srgbClr val="0F1623"/>
            </a:solidFill>
            <a:prstDash val="solid"/>
          </a:ln>
        </p:spPr>
      </p:sp>
      <p:sp>
        <p:nvSpPr>
          <p:cNvPr id="16" name="Text 14"/>
          <p:cNvSpPr txBox="1"/>
          <p:nvPr/>
        </p:nvSpPr>
        <p:spPr>
          <a:xfrm>
            <a:off x="6507328" y="4526280"/>
            <a:ext cx="4907128" cy="274320"/>
          </a:xfrm>
          <a:prstGeom prst="rect">
            <a:avLst/>
          </a:prstGeom>
          <a:noFill/>
          <a:ln/>
        </p:spPr>
        <p:txBody>
          <a:bodyPr wrap="square" lIns="0" tIns="0" rIns="0" bIns="0" rtlCol="0" anchor="ctr"/>
          <a:lstStyle/>
          <a:p>
            <a:pPr indent="0" marL="0">
              <a:buNone/>
            </a:pPr>
            <a:r>
              <a:rPr lang="en-US" sz="1100" dirty="0">
                <a:solidFill>
                  <a:srgbClr val="7A8699"/>
                </a:solidFill>
                <a:latin typeface="Calibri" pitchFamily="34" charset="0"/>
                <a:ea typeface="Calibri" pitchFamily="34" charset="-122"/>
                <a:cs typeface="Calibri" pitchFamily="34" charset="-120"/>
              </a:rPr>
              <a:t>4 · Raw JSON-RPC — any client, any language</a:t>
            </a:r>
          </a:p>
        </p:txBody>
      </p:sp>
      <p:sp>
        <p:nvSpPr>
          <p:cNvPr id="17" name="Text 15"/>
          <p:cNvSpPr txBox="1"/>
          <p:nvPr/>
        </p:nvSpPr>
        <p:spPr>
          <a:xfrm>
            <a:off x="6507328" y="4846320"/>
            <a:ext cx="4907128" cy="868680"/>
          </a:xfrm>
          <a:prstGeom prst="rect">
            <a:avLst/>
          </a:prstGeom>
          <a:noFill/>
          <a:ln/>
        </p:spPr>
        <p:txBody>
          <a:bodyPr wrap="square" lIns="0" tIns="0" rIns="0" bIns="0" rtlCol="0" anchor="t"/>
          <a:lstStyle/>
          <a:p>
            <a:pPr indent="0" marL="0">
              <a:buNone/>
            </a:pPr>
            <a:r>
              <a:rPr lang="en-US" sz="1100" dirty="0">
                <a:solidFill>
                  <a:srgbClr val="6A7A92"/>
                </a:solidFill>
                <a:latin typeface="Courier New" pitchFamily="34" charset="0"/>
                <a:ea typeface="Courier New" pitchFamily="34" charset="-122"/>
                <a:cs typeface="Courier New" pitchFamily="34" charset="-120"/>
              </a:rPr>
              <a:t xml:space="preserve">$ </a:t>
            </a:r>
            <a:r>
              <a:rPr lang="en-US" sz="1100" dirty="0">
                <a:solidFill>
                  <a:srgbClr val="D6DEEB"/>
                </a:solidFill>
                <a:latin typeface="Courier New" pitchFamily="34" charset="0"/>
                <a:ea typeface="Courier New" pitchFamily="34" charset="-122"/>
                <a:cs typeface="Courier New" pitchFamily="34" charset="-120"/>
              </a:rPr>
              <a:t xml:space="preserve">curl -s $MCP -H </a:t>
            </a:r>
            <a:r>
              <a:rPr lang="en-US" sz="1100" dirty="0">
                <a:solidFill>
                  <a:srgbClr val="9CDCFE"/>
                </a:solidFill>
                <a:latin typeface="Courier New" pitchFamily="34" charset="0"/>
                <a:ea typeface="Courier New" pitchFamily="34" charset="-122"/>
                <a:cs typeface="Courier New" pitchFamily="34" charset="-120"/>
              </a:rPr>
              <a:t>"Authorization: Bearer $KEY"</a:t>
            </a:r>
            <a:r>
              <a:rPr lang="en-US" sz="1100" dirty="0">
                <a:solidFill>
                  <a:srgbClr val="D6DEEB"/>
                </a:solidFill>
                <a:latin typeface="Courier New" pitchFamily="34" charset="0"/>
                <a:ea typeface="Courier New" pitchFamily="34" charset="-122"/>
                <a:cs typeface="Courier New" pitchFamily="34" charset="-120"/>
              </a:rPr>
              <a:t xml:space="preserve"> \</a:t>
            </a:r>
          </a:p>
          <a:p>
            <a:pPr indent="0" marL="0">
              <a:buNone/>
            </a:pPr>
            <a:r>
              <a:rPr lang="en-US" sz="1100" dirty="0">
                <a:solidFill>
                  <a:srgbClr val="D6DEEB"/>
                </a:solidFill>
                <a:latin typeface="Courier New" pitchFamily="34" charset="0"/>
                <a:ea typeface="Courier New" pitchFamily="34" charset="-122"/>
                <a:cs typeface="Courier New" pitchFamily="34" charset="-120"/>
              </a:rPr>
              <a:t xml:space="preserve">    -H </a:t>
            </a:r>
            <a:r>
              <a:rPr lang="en-US" sz="1100" dirty="0">
                <a:solidFill>
                  <a:srgbClr val="9CDCFE"/>
                </a:solidFill>
                <a:latin typeface="Courier New" pitchFamily="34" charset="0"/>
                <a:ea typeface="Courier New" pitchFamily="34" charset="-122"/>
                <a:cs typeface="Courier New" pitchFamily="34" charset="-120"/>
              </a:rPr>
              <a:t>"Accept: application/json, text/event-stream"</a:t>
            </a:r>
            <a:r>
              <a:rPr lang="en-US" sz="1100" dirty="0">
                <a:solidFill>
                  <a:srgbClr val="D6DEEB"/>
                </a:solidFill>
                <a:latin typeface="Courier New" pitchFamily="34" charset="0"/>
                <a:ea typeface="Courier New" pitchFamily="34" charset="-122"/>
                <a:cs typeface="Courier New" pitchFamily="34" charset="-120"/>
              </a:rPr>
              <a:t xml:space="preserve"> \</a:t>
            </a:r>
          </a:p>
          <a:p>
            <a:pPr indent="0" marL="0">
              <a:buNone/>
            </a:pPr>
            <a:r>
              <a:rPr lang="en-US" sz="1100" dirty="0">
                <a:solidFill>
                  <a:srgbClr val="D6DEEB"/>
                </a:solidFill>
                <a:latin typeface="Courier New" pitchFamily="34" charset="0"/>
                <a:ea typeface="Courier New" pitchFamily="34" charset="-122"/>
                <a:cs typeface="Courier New" pitchFamily="34" charset="-120"/>
              </a:rPr>
              <a:t xml:space="preserve">    -H </a:t>
            </a:r>
            <a:r>
              <a:rPr lang="en-US" sz="1100" dirty="0">
                <a:solidFill>
                  <a:srgbClr val="9CDCFE"/>
                </a:solidFill>
                <a:latin typeface="Courier New" pitchFamily="34" charset="0"/>
                <a:ea typeface="Courier New" pitchFamily="34" charset="-122"/>
                <a:cs typeface="Courier New" pitchFamily="34" charset="-120"/>
              </a:rPr>
              <a:t>"Content-Type: application/json"</a:t>
            </a:r>
            <a:r>
              <a:rPr lang="en-US" sz="1100" dirty="0">
                <a:solidFill>
                  <a:srgbClr val="D6DEEB"/>
                </a:solidFill>
                <a:latin typeface="Courier New" pitchFamily="34" charset="0"/>
                <a:ea typeface="Courier New" pitchFamily="34" charset="-122"/>
                <a:cs typeface="Courier New" pitchFamily="34" charset="-120"/>
              </a:rPr>
              <a:t xml:space="preserve"> \</a:t>
            </a:r>
          </a:p>
          <a:p>
            <a:pPr indent="0" marL="0">
              <a:buNone/>
            </a:pPr>
            <a:r>
              <a:rPr lang="en-US" sz="1100" dirty="0">
                <a:solidFill>
                  <a:srgbClr val="D6DEEB"/>
                </a:solidFill>
                <a:latin typeface="Courier New" pitchFamily="34" charset="0"/>
                <a:ea typeface="Courier New" pitchFamily="34" charset="-122"/>
                <a:cs typeface="Courier New" pitchFamily="34" charset="-120"/>
              </a:rPr>
              <a:t xml:space="preserve">    -d '{</a:t>
            </a:r>
            <a:r>
              <a:rPr lang="en-US" sz="1100" dirty="0">
                <a:solidFill>
                  <a:srgbClr val="F4A259"/>
                </a:solidFill>
                <a:latin typeface="Courier New" pitchFamily="34" charset="0"/>
                <a:ea typeface="Courier New" pitchFamily="34" charset="-122"/>
                <a:cs typeface="Courier New" pitchFamily="34" charset="-120"/>
              </a:rPr>
              <a:t>"jsonrpc"</a:t>
            </a:r>
            <a:r>
              <a:rPr lang="en-US" sz="1100" dirty="0">
                <a:solidFill>
                  <a:srgbClr val="D6DEEB"/>
                </a:solidFill>
                <a:latin typeface="Courier New" pitchFamily="34" charset="0"/>
                <a:ea typeface="Courier New" pitchFamily="34" charset="-122"/>
                <a:cs typeface="Courier New" pitchFamily="34" charset="-120"/>
              </a:rPr>
              <a:t>:</a:t>
            </a:r>
            <a:r>
              <a:rPr lang="en-US" sz="1100" dirty="0">
                <a:solidFill>
                  <a:srgbClr val="9CDCFE"/>
                </a:solidFill>
                <a:latin typeface="Courier New" pitchFamily="34" charset="0"/>
                <a:ea typeface="Courier New" pitchFamily="34" charset="-122"/>
                <a:cs typeface="Courier New" pitchFamily="34" charset="-120"/>
              </a:rPr>
              <a:t>"2.0"</a:t>
            </a:r>
            <a:r>
              <a:rPr lang="en-US" sz="1100" dirty="0">
                <a:solidFill>
                  <a:srgbClr val="D6DEEB"/>
                </a:solidFill>
                <a:latin typeface="Courier New" pitchFamily="34" charset="0"/>
                <a:ea typeface="Courier New" pitchFamily="34" charset="-122"/>
                <a:cs typeface="Courier New" pitchFamily="34" charset="-120"/>
              </a:rPr>
              <a:t>,</a:t>
            </a:r>
            <a:r>
              <a:rPr lang="en-US" sz="1100" dirty="0">
                <a:solidFill>
                  <a:srgbClr val="F4A259"/>
                </a:solidFill>
                <a:latin typeface="Courier New" pitchFamily="34" charset="0"/>
                <a:ea typeface="Courier New" pitchFamily="34" charset="-122"/>
                <a:cs typeface="Courier New" pitchFamily="34" charset="-120"/>
              </a:rPr>
              <a:t>"id"</a:t>
            </a:r>
            <a:r>
              <a:rPr lang="en-US" sz="1100" dirty="0">
                <a:solidFill>
                  <a:srgbClr val="D6DEEB"/>
                </a:solidFill>
                <a:latin typeface="Courier New" pitchFamily="34" charset="0"/>
                <a:ea typeface="Courier New" pitchFamily="34" charset="-122"/>
                <a:cs typeface="Courier New" pitchFamily="34" charset="-120"/>
              </a:rPr>
              <a:t>:</a:t>
            </a:r>
            <a:r>
              <a:rPr lang="en-US" sz="1100" dirty="0">
                <a:solidFill>
                  <a:srgbClr val="D6DEEB"/>
                </a:solidFill>
                <a:latin typeface="Courier New" pitchFamily="34" charset="0"/>
                <a:ea typeface="Courier New" pitchFamily="34" charset="-122"/>
                <a:cs typeface="Courier New" pitchFamily="34" charset="-120"/>
              </a:rPr>
              <a:t>1,</a:t>
            </a:r>
            <a:r>
              <a:rPr lang="en-US" sz="1100" dirty="0">
                <a:solidFill>
                  <a:srgbClr val="F4A259"/>
                </a:solidFill>
                <a:latin typeface="Courier New" pitchFamily="34" charset="0"/>
                <a:ea typeface="Courier New" pitchFamily="34" charset="-122"/>
                <a:cs typeface="Courier New" pitchFamily="34" charset="-120"/>
              </a:rPr>
              <a:t>"method"</a:t>
            </a:r>
            <a:r>
              <a:rPr lang="en-US" sz="1100" dirty="0">
                <a:solidFill>
                  <a:srgbClr val="D6DEEB"/>
                </a:solidFill>
                <a:latin typeface="Courier New" pitchFamily="34" charset="0"/>
                <a:ea typeface="Courier New" pitchFamily="34" charset="-122"/>
                <a:cs typeface="Courier New" pitchFamily="34" charset="-120"/>
              </a:rPr>
              <a:t>:</a:t>
            </a:r>
            <a:r>
              <a:rPr lang="en-US" sz="1100" dirty="0">
                <a:solidFill>
                  <a:srgbClr val="9CDCFE"/>
                </a:solidFill>
                <a:latin typeface="Courier New" pitchFamily="34" charset="0"/>
                <a:ea typeface="Courier New" pitchFamily="34" charset="-122"/>
                <a:cs typeface="Courier New" pitchFamily="34" charset="-120"/>
              </a:rPr>
              <a:t>"tools/list"</a:t>
            </a:r>
            <a:r>
              <a:rPr lang="en-US" sz="1100" dirty="0">
                <a:solidFill>
                  <a:srgbClr val="D6DEEB"/>
                </a:solidFill>
                <a:latin typeface="Courier New" pitchFamily="34" charset="0"/>
                <a:ea typeface="Courier New" pitchFamily="34" charset="-122"/>
                <a:cs typeface="Courier New" pitchFamily="34" charset="-120"/>
              </a:rP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
    <p:bg>
      <p:bgPr>
        <a:solidFill>
          <a:srgbClr val="F4F4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MCP in action</a:t>
            </a:r>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From one sentence to a live, connected form — in a single conversation</a:t>
            </a:r>
          </a:p>
        </p:txBody>
      </p:sp>
      <p:sp>
        <p:nvSpPr>
          <p:cNvPr id="4" name="Shape 2"/>
          <p:cNvSpPr/>
          <p:nvPr/>
        </p:nvSpPr>
        <p:spPr>
          <a:xfrm>
            <a:off x="548640" y="2103120"/>
            <a:ext cx="2468880" cy="2834640"/>
          </a:xfrm>
          <a:prstGeom prst="roundRect">
            <a:avLst>
              <a:gd name="adj" fmla="val 2963"/>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txBody>
          <a:bodyPr/>
          <a:p/>
        </p:txBody>
      </p:sp>
      <p:sp>
        <p:nvSpPr>
          <p:cNvPr id="5" name="Shape 3"/>
          <p:cNvSpPr/>
          <p:nvPr/>
        </p:nvSpPr>
        <p:spPr>
          <a:xfrm>
            <a:off x="1417320" y="2423160"/>
            <a:ext cx="731520" cy="731520"/>
          </a:xfrm>
          <a:prstGeom prst="ellipse">
            <a:avLst/>
          </a:prstGeom>
          <a:solidFill>
            <a:srgbClr val="E3710A"/>
          </a:solidFill>
          <a:ln w="12700">
            <a:solidFill>
              <a:srgbClr val="E3710A"/>
            </a:solidFill>
            <a:prstDash val="solid"/>
          </a:ln>
        </p:spPr>
        <p:txBody>
          <a:bodyPr/>
          <a:p/>
        </p:txBody>
      </p:sp>
      <p:sp>
        <p:nvSpPr>
          <p:cNvPr id="7" name="Text 4"/>
          <p:cNvSpPr txBox="1"/>
          <p:nvPr/>
        </p:nvSpPr>
        <p:spPr>
          <a:xfrm>
            <a:off x="731520" y="3291840"/>
            <a:ext cx="2103120" cy="457200"/>
          </a:xfrm>
          <a:prstGeom prst="rect">
            <a:avLst/>
          </a:prstGeom>
          <a:noFill/>
          <a:ln/>
        </p:spPr>
        <p:txBody>
          <a:bodyPr wrap="square" lIns="0" tIns="0" rIns="0" bIns="0" rtlCol="0" anchor="ctr"/>
          <a:lstStyle/>
          <a:p>
            <a:pPr algn="ctr" indent="0" marL="0">
              <a:buNone/>
            </a:pPr>
            <a:r>
              <a:rPr lang="en-US" sz="1700" b="1" dirty="0">
                <a:solidFill>
                  <a:srgbClr val="1B2536"/>
                </a:solidFill>
                <a:latin typeface="Cambria" pitchFamily="34" charset="0"/>
                <a:ea typeface="Cambria" pitchFamily="34" charset="-122"/>
                <a:cs typeface="Cambria" pitchFamily="34" charset="-120"/>
              </a:rPr>
              <a:t>Ask</a:t>
            </a:r>
          </a:p>
        </p:txBody>
      </p:sp>
      <p:sp>
        <p:nvSpPr>
          <p:cNvPr id="8" name="Text 5"/>
          <p:cNvSpPr txBox="1"/>
          <p:nvPr/>
        </p:nvSpPr>
        <p:spPr>
          <a:xfrm>
            <a:off x="777240" y="3794760"/>
            <a:ext cx="2011680" cy="1005840"/>
          </a:xfrm>
          <a:prstGeom prst="rect">
            <a:avLst/>
          </a:prstGeom>
          <a:noFill/>
          <a:ln/>
        </p:spPr>
        <p:txBody>
          <a:bodyPr wrap="square" lIns="0" tIns="0" rIns="0" bIns="0" rtlCol="0" anchor="t"/>
          <a:lstStyle/>
          <a:p>
            <a:pPr algn="ctr" indent="0" marL="0">
              <a:buNone/>
            </a:pPr>
            <a:r>
              <a:rPr lang="en-US" sz="1300" dirty="0">
                <a:solidFill>
                  <a:srgbClr val="3C4A60"/>
                </a:solidFill>
                <a:latin typeface="Calibri" pitchFamily="34" charset="0"/>
                <a:ea typeface="Calibri" pitchFamily="34" charset="-122"/>
                <a:cs typeface="Calibri" pitchFamily="34" charset="-120"/>
              </a:rPr>
              <a:t>“Build a 3-step volunteer sign-up form with a $25 fee.”</a:t>
            </a:r>
          </a:p>
        </p:txBody>
      </p:sp>
      <p:sp>
        <p:nvSpPr>
          <p:cNvPr id="9" name="Shape 6"/>
          <p:cNvSpPr/>
          <p:nvPr/>
        </p:nvSpPr>
        <p:spPr>
          <a:xfrm>
            <a:off x="3090672" y="3337560"/>
            <a:ext cx="274320" cy="365760"/>
          </a:xfrm>
          <a:prstGeom prst="rightArrow">
            <a:avLst/>
          </a:prstGeom>
          <a:solidFill>
            <a:srgbClr val="E3710A"/>
          </a:solidFill>
          <a:ln w="12700">
            <a:solidFill>
              <a:srgbClr val="E3710A"/>
            </a:solidFill>
            <a:prstDash val="solid"/>
          </a:ln>
        </p:spPr>
        <p:txBody>
          <a:bodyPr/>
          <a:p/>
        </p:txBody>
      </p:sp>
      <p:sp>
        <p:nvSpPr>
          <p:cNvPr id="10" name="Shape 7"/>
          <p:cNvSpPr/>
          <p:nvPr/>
        </p:nvSpPr>
        <p:spPr>
          <a:xfrm>
            <a:off x="3429000" y="2103120"/>
            <a:ext cx="2468880" cy="2834640"/>
          </a:xfrm>
          <a:prstGeom prst="roundRect">
            <a:avLst>
              <a:gd name="adj" fmla="val 2963"/>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txBody>
          <a:bodyPr/>
          <a:p/>
        </p:txBody>
      </p:sp>
      <p:sp>
        <p:nvSpPr>
          <p:cNvPr id="11" name="Shape 8"/>
          <p:cNvSpPr/>
          <p:nvPr/>
        </p:nvSpPr>
        <p:spPr>
          <a:xfrm>
            <a:off x="4297680" y="2423160"/>
            <a:ext cx="731520" cy="731520"/>
          </a:xfrm>
          <a:prstGeom prst="ellipse">
            <a:avLst/>
          </a:prstGeom>
          <a:solidFill>
            <a:srgbClr val="E3710A"/>
          </a:solidFill>
          <a:ln w="12700">
            <a:solidFill>
              <a:srgbClr val="E3710A"/>
            </a:solidFill>
            <a:prstDash val="solid"/>
          </a:ln>
        </p:spPr>
        <p:txBody>
          <a:bodyPr/>
          <a:p/>
        </p:txBody>
      </p:sp>
      <p:sp>
        <p:nvSpPr>
          <p:cNvPr id="13" name="Text 9"/>
          <p:cNvSpPr txBox="1"/>
          <p:nvPr/>
        </p:nvSpPr>
        <p:spPr>
          <a:xfrm>
            <a:off x="3611880" y="3291840"/>
            <a:ext cx="2103120" cy="457200"/>
          </a:xfrm>
          <a:prstGeom prst="rect">
            <a:avLst/>
          </a:prstGeom>
          <a:noFill/>
          <a:ln/>
        </p:spPr>
        <p:txBody>
          <a:bodyPr wrap="square" lIns="0" tIns="0" rIns="0" bIns="0" rtlCol="0" anchor="ctr"/>
          <a:lstStyle/>
          <a:p>
            <a:pPr algn="ctr" indent="0" marL="0">
              <a:buNone/>
            </a:pPr>
            <a:r>
              <a:rPr lang="en-US" sz="1700" b="1" dirty="0">
                <a:solidFill>
                  <a:srgbClr val="1B2536"/>
                </a:solidFill>
                <a:latin typeface="Cambria" pitchFamily="34" charset="0"/>
                <a:ea typeface="Cambria" pitchFamily="34" charset="-122"/>
                <a:cs typeface="Cambria" pitchFamily="34" charset="-120"/>
              </a:rPr>
              <a:t>Author</a:t>
            </a:r>
          </a:p>
        </p:txBody>
      </p:sp>
      <p:sp>
        <p:nvSpPr>
          <p:cNvPr id="14" name="Text 10"/>
          <p:cNvSpPr txBox="1"/>
          <p:nvPr/>
        </p:nvSpPr>
        <p:spPr>
          <a:xfrm>
            <a:off x="3657600" y="3794760"/>
            <a:ext cx="2011680" cy="1005840"/>
          </a:xfrm>
          <a:prstGeom prst="rect">
            <a:avLst/>
          </a:prstGeom>
          <a:noFill/>
          <a:ln/>
        </p:spPr>
        <p:txBody>
          <a:bodyPr wrap="square" lIns="0" tIns="0" rIns="0" bIns="0" rtlCol="0" anchor="t"/>
          <a:lstStyle/>
          <a:p>
            <a:pPr algn="ctr" indent="0" marL="0">
              <a:buNone/>
            </a:pPr>
            <a:r>
              <a:rPr lang="en-US" sz="1300" dirty="0">
                <a:solidFill>
                  <a:srgbClr val="3C4A60"/>
                </a:solidFill>
                <a:latin typeface="Calibri" pitchFamily="34" charset="0"/>
                <a:ea typeface="Calibri" pitchFamily="34" charset="-122"/>
                <a:cs typeface="Calibri" pitchFamily="34" charset="-120"/>
              </a:rPr>
              <a:t>Reads the schema guide, then create_txndef. Invalid schemas return fixable errors.</a:t>
            </a:r>
          </a:p>
        </p:txBody>
      </p:sp>
      <p:sp>
        <p:nvSpPr>
          <p:cNvPr id="15" name="Shape 11"/>
          <p:cNvSpPr/>
          <p:nvPr/>
        </p:nvSpPr>
        <p:spPr>
          <a:xfrm>
            <a:off x="5971032" y="3337560"/>
            <a:ext cx="274320" cy="365760"/>
          </a:xfrm>
          <a:prstGeom prst="rightArrow">
            <a:avLst/>
          </a:prstGeom>
          <a:solidFill>
            <a:srgbClr val="E3710A"/>
          </a:solidFill>
          <a:ln w="12700">
            <a:solidFill>
              <a:srgbClr val="E3710A"/>
            </a:solidFill>
            <a:prstDash val="solid"/>
          </a:ln>
        </p:spPr>
        <p:txBody>
          <a:bodyPr/>
          <a:p/>
        </p:txBody>
      </p:sp>
      <p:sp>
        <p:nvSpPr>
          <p:cNvPr id="16" name="Shape 12"/>
          <p:cNvSpPr/>
          <p:nvPr/>
        </p:nvSpPr>
        <p:spPr>
          <a:xfrm>
            <a:off x="6309360" y="2103120"/>
            <a:ext cx="2468880" cy="2834640"/>
          </a:xfrm>
          <a:prstGeom prst="roundRect">
            <a:avLst>
              <a:gd name="adj" fmla="val 2963"/>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txBody>
          <a:bodyPr/>
          <a:p/>
        </p:txBody>
      </p:sp>
      <p:sp>
        <p:nvSpPr>
          <p:cNvPr id="17" name="Shape 13"/>
          <p:cNvSpPr/>
          <p:nvPr/>
        </p:nvSpPr>
        <p:spPr>
          <a:xfrm>
            <a:off x="7178040" y="2423160"/>
            <a:ext cx="731520" cy="731520"/>
          </a:xfrm>
          <a:prstGeom prst="ellipse">
            <a:avLst/>
          </a:prstGeom>
          <a:solidFill>
            <a:srgbClr val="E3710A"/>
          </a:solidFill>
          <a:ln w="12700">
            <a:solidFill>
              <a:srgbClr val="E3710A"/>
            </a:solidFill>
            <a:prstDash val="solid"/>
          </a:ln>
        </p:spPr>
        <p:txBody>
          <a:bodyPr/>
          <a:p/>
        </p:txBody>
      </p:sp>
      <p:sp>
        <p:nvSpPr>
          <p:cNvPr id="19" name="Text 14"/>
          <p:cNvSpPr txBox="1"/>
          <p:nvPr/>
        </p:nvSpPr>
        <p:spPr>
          <a:xfrm>
            <a:off x="6492240" y="3291840"/>
            <a:ext cx="2103120" cy="457200"/>
          </a:xfrm>
          <a:prstGeom prst="rect">
            <a:avLst/>
          </a:prstGeom>
          <a:noFill/>
          <a:ln/>
        </p:spPr>
        <p:txBody>
          <a:bodyPr wrap="square" lIns="0" tIns="0" rIns="0" bIns="0" rtlCol="0" anchor="ctr"/>
          <a:lstStyle/>
          <a:p>
            <a:pPr algn="ctr" indent="0" marL="0">
              <a:buNone/>
            </a:pPr>
            <a:r>
              <a:rPr lang="en-US" sz="1700" b="1" dirty="0">
                <a:solidFill>
                  <a:srgbClr val="1B2536"/>
                </a:solidFill>
                <a:latin typeface="Cambria" pitchFamily="34" charset="0"/>
                <a:ea typeface="Cambria" pitchFamily="34" charset="-122"/>
                <a:cs typeface="Cambria" pitchFamily="34" charset="-120"/>
              </a:rPr>
              <a:t>Publish</a:t>
            </a:r>
          </a:p>
        </p:txBody>
      </p:sp>
      <p:sp>
        <p:nvSpPr>
          <p:cNvPr id="20" name="Text 15"/>
          <p:cNvSpPr txBox="1"/>
          <p:nvPr/>
        </p:nvSpPr>
        <p:spPr>
          <a:xfrm>
            <a:off x="6537960" y="3794760"/>
            <a:ext cx="2011680" cy="1005840"/>
          </a:xfrm>
          <a:prstGeom prst="rect">
            <a:avLst/>
          </a:prstGeom>
          <a:noFill/>
          <a:ln/>
        </p:spPr>
        <p:txBody>
          <a:bodyPr wrap="square" lIns="0" tIns="0" rIns="0" bIns="0" rtlCol="0" anchor="t"/>
          <a:lstStyle/>
          <a:p>
            <a:pPr algn="ctr" indent="0" marL="0">
              <a:buNone/>
            </a:pPr>
            <a:r>
              <a:rPr lang="en-US" sz="1300" dirty="0">
                <a:solidFill>
                  <a:srgbClr val="3C4A60"/>
                </a:solidFill>
                <a:latin typeface="Calibri" pitchFamily="34" charset="0"/>
                <a:ea typeface="Calibri" pitchFamily="34" charset="-122"/>
                <a:cs typeface="Calibri" pitchFamily="34" charset="-120"/>
              </a:rPr>
              <a:t>Saved and live immediately; the reply includes the form_url to share.</a:t>
            </a:r>
          </a:p>
        </p:txBody>
      </p:sp>
      <p:sp>
        <p:nvSpPr>
          <p:cNvPr id="21" name="Shape 16"/>
          <p:cNvSpPr/>
          <p:nvPr/>
        </p:nvSpPr>
        <p:spPr>
          <a:xfrm>
            <a:off x="8851392" y="3337560"/>
            <a:ext cx="274320" cy="365760"/>
          </a:xfrm>
          <a:prstGeom prst="rightArrow">
            <a:avLst/>
          </a:prstGeom>
          <a:solidFill>
            <a:srgbClr val="E3710A"/>
          </a:solidFill>
          <a:ln w="12700">
            <a:solidFill>
              <a:srgbClr val="E3710A"/>
            </a:solidFill>
            <a:prstDash val="solid"/>
          </a:ln>
        </p:spPr>
        <p:txBody>
          <a:bodyPr/>
          <a:p/>
        </p:txBody>
      </p:sp>
      <p:sp>
        <p:nvSpPr>
          <p:cNvPr id="22" name="Shape 17"/>
          <p:cNvSpPr/>
          <p:nvPr/>
        </p:nvSpPr>
        <p:spPr>
          <a:xfrm>
            <a:off x="9189720" y="2103120"/>
            <a:ext cx="2468880" cy="2834640"/>
          </a:xfrm>
          <a:prstGeom prst="roundRect">
            <a:avLst>
              <a:gd name="adj" fmla="val 2963"/>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txBody>
          <a:bodyPr/>
          <a:p/>
        </p:txBody>
      </p:sp>
      <p:sp>
        <p:nvSpPr>
          <p:cNvPr id="23" name="Shape 18"/>
          <p:cNvSpPr/>
          <p:nvPr/>
        </p:nvSpPr>
        <p:spPr>
          <a:xfrm>
            <a:off x="10058400" y="2423160"/>
            <a:ext cx="731520" cy="731520"/>
          </a:xfrm>
          <a:prstGeom prst="ellipse">
            <a:avLst/>
          </a:prstGeom>
          <a:solidFill>
            <a:srgbClr val="E3710A"/>
          </a:solidFill>
          <a:ln w="12700">
            <a:solidFill>
              <a:srgbClr val="E3710A"/>
            </a:solidFill>
            <a:prstDash val="solid"/>
          </a:ln>
        </p:spPr>
        <p:txBody>
          <a:bodyPr/>
          <a:p/>
        </p:txBody>
      </p:sp>
      <p:sp>
        <p:nvSpPr>
          <p:cNvPr id="25" name="Text 19"/>
          <p:cNvSpPr txBox="1"/>
          <p:nvPr/>
        </p:nvSpPr>
        <p:spPr>
          <a:xfrm>
            <a:off x="9372600" y="3291840"/>
            <a:ext cx="2103120" cy="457200"/>
          </a:xfrm>
          <a:prstGeom prst="rect">
            <a:avLst/>
          </a:prstGeom>
          <a:noFill/>
          <a:ln/>
        </p:spPr>
        <p:txBody>
          <a:bodyPr wrap="square" lIns="0" tIns="0" rIns="0" bIns="0" rtlCol="0" anchor="ctr"/>
          <a:lstStyle/>
          <a:p>
            <a:pPr algn="ctr" indent="0" marL="0">
              <a:buNone/>
            </a:pPr>
            <a:r>
              <a:rPr lang="en-US" sz="1700" b="1" dirty="0">
                <a:solidFill>
                  <a:srgbClr val="1B2536"/>
                </a:solidFill>
                <a:latin typeface="Cambria" pitchFamily="34" charset="0"/>
                <a:ea typeface="Cambria" pitchFamily="34" charset="-122"/>
                <a:cs typeface="Cambria" pitchFamily="34" charset="-120"/>
              </a:rPr>
              <a:t>Connect</a:t>
            </a:r>
          </a:p>
        </p:txBody>
      </p:sp>
      <p:sp>
        <p:nvSpPr>
          <p:cNvPr id="26" name="Text 20"/>
          <p:cNvSpPr txBox="1"/>
          <p:nvPr/>
        </p:nvSpPr>
        <p:spPr>
          <a:xfrm>
            <a:off x="9418320" y="3794760"/>
            <a:ext cx="2011680" cy="1005840"/>
          </a:xfrm>
          <a:prstGeom prst="rect">
            <a:avLst/>
          </a:prstGeom>
          <a:noFill/>
          <a:ln/>
        </p:spPr>
        <p:txBody>
          <a:bodyPr wrap="square" lIns="0" tIns="0" rIns="0" bIns="0" rtlCol="0" anchor="t"/>
          <a:lstStyle/>
          <a:p>
            <a:pPr algn="ctr" indent="0" marL="0">
              <a:buNone/>
            </a:pPr>
            <a:r>
              <a:rPr lang="en-US" sz="1300" dirty="0">
                <a:solidFill>
                  <a:srgbClr val="3C4A60"/>
                </a:solidFill>
                <a:latin typeface="Calibri" pitchFamily="34" charset="0"/>
                <a:ea typeface="Calibri" pitchFamily="34" charset="-122"/>
                <a:cs typeface="Calibri" pitchFamily="34" charset="-120"/>
              </a:rPr>
              <a:t>configure_connection sends signed responses to your CRM; list_transactions reads them back.</a:t>
            </a:r>
          </a:p>
        </p:txBody>
      </p:sp>
      <p:sp>
        <p:nvSpPr>
          <p:cNvPr id="27" name="Text 21"/>
          <p:cNvSpPr txBox="1"/>
          <p:nvPr/>
        </p:nvSpPr>
        <p:spPr>
          <a:xfrm>
            <a:off x="548640" y="5394960"/>
            <a:ext cx="11094415" cy="457200"/>
          </a:xfrm>
          <a:prstGeom prst="rect">
            <a:avLst/>
          </a:prstGeom>
          <a:noFill/>
          <a:ln/>
        </p:spPr>
        <p:txBody>
          <a:bodyPr wrap="square" lIns="0" tIns="0" rIns="0" bIns="0" rtlCol="0" anchor="ctr"/>
          <a:lstStyle/>
          <a:p>
            <a:pPr indent="0" marL="0">
              <a:buNone/>
            </a:pPr>
            <a:r>
              <a:rPr lang="en-US" sz="1600" b="1" dirty="0">
                <a:solidFill>
                  <a:srgbClr val="1B2536"/>
                </a:solidFill>
                <a:latin typeface="Calibri" pitchFamily="34" charset="0"/>
                <a:ea typeface="Calibri" pitchFamily="34" charset="-122"/>
                <a:cs typeface="Calibri" pitchFamily="34" charset="-120"/>
              </a:rPr>
              <a:t xml:space="preserve">Same schema, same validation, same keys → </a:t>
            </a:r>
            <a:r>
              <a:rPr lang="en-US" sz="1600" b="0" dirty="0">
                <a:solidFill>
                  <a:srgbClr val="1B2536"/>
                </a:solidFill>
                <a:latin typeface="Calibri" pitchFamily="34" charset="0"/>
                <a:ea typeface="Calibri" pitchFamily="34" charset="-122"/>
                <a:cs typeface="Calibri" pitchFamily="34" charset="-120"/>
              </a:rPr>
              <a:t>the LLM never gets more access than the key you give it.</a:t>
            </a:r>
          </a:p>
        </p:txBody>
      </p:sp>
      <p:pic>
        <p:nvPicPr>
          <p:cNvPr id="28" name="Picture 27" descr="FaComments.png"/>
          <p:cNvPicPr>
            <a:picLocks noChangeAspect="1"/>
          </p:cNvPicPr>
          <p:nvPr/>
        </p:nvPicPr>
        <p:blipFill>
          <a:blip r:embed="rId6"/>
          <a:stretch>
            <a:fillRect/>
          </a:stretch>
        </p:blipFill>
        <p:spPr>
          <a:xfrm>
            <a:off x="1607515" y="2613355"/>
            <a:ext cx="351130" cy="351130"/>
          </a:xfrm>
          <a:prstGeom prst="rect">
            <a:avLst/>
          </a:prstGeom>
        </p:spPr>
      </p:pic>
      <p:pic>
        <p:nvPicPr>
          <p:cNvPr id="29" name="Picture 28" descr="image.png"/>
          <p:cNvPicPr>
            <a:picLocks noChangeAspect="1"/>
          </p:cNvPicPr>
          <p:nvPr/>
        </p:nvPicPr>
        <p:blipFill>
          <a:blip r:embed="rId7"/>
          <a:stretch>
            <a:fillRect/>
          </a:stretch>
        </p:blipFill>
        <p:spPr>
          <a:xfrm>
            <a:off x="4487875" y="2613355"/>
            <a:ext cx="351130" cy="351130"/>
          </a:xfrm>
          <a:prstGeom prst="rect">
            <a:avLst/>
          </a:prstGeom>
        </p:spPr>
      </p:pic>
      <p:pic>
        <p:nvPicPr>
          <p:cNvPr id="30" name="Picture 29" descr="FaRocket.png"/>
          <p:cNvPicPr>
            <a:picLocks noChangeAspect="1"/>
          </p:cNvPicPr>
          <p:nvPr/>
        </p:nvPicPr>
        <p:blipFill>
          <a:blip r:embed="rId8"/>
          <a:stretch>
            <a:fillRect/>
          </a:stretch>
        </p:blipFill>
        <p:spPr>
          <a:xfrm>
            <a:off x="7368235" y="2613355"/>
            <a:ext cx="351130" cy="351130"/>
          </a:xfrm>
          <a:prstGeom prst="rect">
            <a:avLst/>
          </a:prstGeom>
        </p:spPr>
      </p:pic>
      <p:pic>
        <p:nvPicPr>
          <p:cNvPr id="31" name="Picture 30" descr="FaExchangeAlt.png"/>
          <p:cNvPicPr>
            <a:picLocks noChangeAspect="1"/>
          </p:cNvPicPr>
          <p:nvPr/>
        </p:nvPicPr>
        <p:blipFill>
          <a:blip r:embed="rId9"/>
          <a:stretch>
            <a:fillRect/>
          </a:stretch>
        </p:blipFill>
        <p:spPr>
          <a:xfrm>
            <a:off x="10248595" y="2613355"/>
            <a:ext cx="351130" cy="35113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1B2536"/>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Connects to the systems you already run</a:t>
            </a:r>
            <a:endParaRPr lang="en-US" sz="3600" dirty="0"/>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B8C2D3"/>
                </a:solidFill>
                <a:latin typeface="Calibri" pitchFamily="34" charset="0"/>
                <a:ea typeface="Calibri" pitchFamily="34" charset="-122"/>
                <a:cs typeface="Calibri" pitchFamily="34" charset="-120"/>
              </a:rPr>
              <a:t>Anything with an HTTP endpoint can sit before, during or after a transaction</a:t>
            </a:r>
            <a:endParaRPr lang="en-US" sz="1600" dirty="0"/>
          </a:p>
        </p:txBody>
      </p:sp>
      <p:sp>
        <p:nvSpPr>
          <p:cNvPr id="4" name="Shape 2"/>
          <p:cNvSpPr/>
          <p:nvPr/>
        </p:nvSpPr>
        <p:spPr>
          <a:xfrm flipH="1">
            <a:off x="6095848" y="2307031"/>
            <a:ext cx="0" cy="1762049"/>
          </a:xfrm>
          <a:prstGeom prst="line">
            <a:avLst/>
          </a:prstGeom>
          <a:noFill/>
          <a:ln w="19050">
            <a:solidFill>
              <a:srgbClr val="4A5870"/>
            </a:solidFill>
            <a:prstDash val="dash"/>
          </a:ln>
        </p:spPr>
      </p:sp>
      <p:sp>
        <p:nvSpPr>
          <p:cNvPr id="5" name="Shape 3"/>
          <p:cNvSpPr/>
          <p:nvPr/>
        </p:nvSpPr>
        <p:spPr>
          <a:xfrm flipH="1">
            <a:off x="6095848" y="3188056"/>
            <a:ext cx="2884473" cy="881024"/>
          </a:xfrm>
          <a:prstGeom prst="line">
            <a:avLst/>
          </a:prstGeom>
          <a:noFill/>
          <a:ln w="19050">
            <a:solidFill>
              <a:srgbClr val="4A5870"/>
            </a:solidFill>
            <a:prstDash val="dash"/>
          </a:ln>
        </p:spPr>
      </p:sp>
      <p:sp>
        <p:nvSpPr>
          <p:cNvPr id="6" name="Shape 4"/>
          <p:cNvSpPr/>
          <p:nvPr/>
        </p:nvSpPr>
        <p:spPr>
          <a:xfrm>
            <a:off x="6095848" y="4069080"/>
            <a:ext cx="2884473" cy="881024"/>
          </a:xfrm>
          <a:prstGeom prst="line">
            <a:avLst/>
          </a:prstGeom>
          <a:noFill/>
          <a:ln w="19050">
            <a:solidFill>
              <a:srgbClr val="4A5870"/>
            </a:solidFill>
            <a:prstDash val="dash"/>
          </a:ln>
        </p:spPr>
      </p:sp>
      <p:sp>
        <p:nvSpPr>
          <p:cNvPr id="7" name="Shape 5"/>
          <p:cNvSpPr/>
          <p:nvPr/>
        </p:nvSpPr>
        <p:spPr>
          <a:xfrm>
            <a:off x="6095848" y="4069080"/>
            <a:ext cx="0" cy="1762049"/>
          </a:xfrm>
          <a:prstGeom prst="line">
            <a:avLst/>
          </a:prstGeom>
          <a:noFill/>
          <a:ln w="19050">
            <a:solidFill>
              <a:srgbClr val="4A5870"/>
            </a:solidFill>
            <a:prstDash val="dash"/>
          </a:ln>
        </p:spPr>
      </p:sp>
      <p:sp>
        <p:nvSpPr>
          <p:cNvPr id="8" name="Shape 6"/>
          <p:cNvSpPr/>
          <p:nvPr/>
        </p:nvSpPr>
        <p:spPr>
          <a:xfrm flipH="1">
            <a:off x="3211375" y="4069080"/>
            <a:ext cx="2884473" cy="881024"/>
          </a:xfrm>
          <a:prstGeom prst="line">
            <a:avLst/>
          </a:prstGeom>
          <a:noFill/>
          <a:ln w="19050">
            <a:solidFill>
              <a:srgbClr val="4A5870"/>
            </a:solidFill>
            <a:prstDash val="dash"/>
          </a:ln>
        </p:spPr>
      </p:sp>
      <p:sp>
        <p:nvSpPr>
          <p:cNvPr id="9" name="Shape 7"/>
          <p:cNvSpPr/>
          <p:nvPr/>
        </p:nvSpPr>
        <p:spPr>
          <a:xfrm>
            <a:off x="3211375" y="3188056"/>
            <a:ext cx="2884473" cy="881024"/>
          </a:xfrm>
          <a:prstGeom prst="line">
            <a:avLst/>
          </a:prstGeom>
          <a:noFill/>
          <a:ln w="19050">
            <a:solidFill>
              <a:srgbClr val="4A5870"/>
            </a:solidFill>
            <a:prstDash val="dash"/>
          </a:ln>
        </p:spPr>
      </p:sp>
      <p:sp>
        <p:nvSpPr>
          <p:cNvPr id="10" name="Shape 8"/>
          <p:cNvSpPr/>
          <p:nvPr/>
        </p:nvSpPr>
        <p:spPr>
          <a:xfrm>
            <a:off x="5135728" y="3108960"/>
            <a:ext cx="1920240" cy="1920240"/>
          </a:xfrm>
          <a:prstGeom prst="ellipse">
            <a:avLst/>
          </a:prstGeom>
          <a:solidFill>
            <a:srgbClr val="E3710A"/>
          </a:solidFill>
          <a:ln w="12700">
            <a:solidFill>
              <a:srgbClr val="E3710A"/>
            </a:solidFill>
            <a:prstDash val="solid"/>
          </a:ln>
        </p:spPr>
      </p:sp>
      <p:sp>
        <p:nvSpPr>
          <p:cNvPr id="11" name="Text 9"/>
          <p:cNvSpPr txBox="1"/>
          <p:nvPr/>
        </p:nvSpPr>
        <p:spPr>
          <a:xfrm>
            <a:off x="5135728" y="3108960"/>
            <a:ext cx="1920240" cy="1920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Transaction</a:t>
            </a:r>
            <a:endParaRPr lang="en-US" sz="1700" dirty="0"/>
          </a:p>
          <a:p>
            <a:pPr algn="ctr" indent="0" marL="0">
              <a:buNone/>
            </a:pPr>
            <a:r>
              <a:rPr lang="en-US" sz="1700" b="1" dirty="0">
                <a:solidFill>
                  <a:srgbClr val="FFFFFF"/>
                </a:solidFill>
                <a:latin typeface="Cambria" pitchFamily="34" charset="0"/>
                <a:ea typeface="Cambria" pitchFamily="34" charset="-122"/>
                <a:cs typeface="Cambria" pitchFamily="34" charset="-120"/>
              </a:rPr>
              <a:t>engine</a:t>
            </a:r>
            <a:endParaRPr lang="en-US" sz="1700" dirty="0"/>
          </a:p>
        </p:txBody>
      </p:sp>
      <p:sp>
        <p:nvSpPr>
          <p:cNvPr id="12" name="Shape 10"/>
          <p:cNvSpPr/>
          <p:nvPr/>
        </p:nvSpPr>
        <p:spPr>
          <a:xfrm>
            <a:off x="4952848" y="1872691"/>
            <a:ext cx="2286000" cy="868680"/>
          </a:xfrm>
          <a:prstGeom prst="roundRect">
            <a:avLst>
              <a:gd name="adj" fmla="val 10526"/>
            </a:avLst>
          </a:prstGeom>
          <a:solidFill>
            <a:srgbClr val="26324A"/>
          </a:solidFill>
          <a:ln w="15875">
            <a:solidFill>
              <a:srgbClr val="E3710A"/>
            </a:solidFill>
            <a:prstDash val="solid"/>
          </a:ln>
        </p:spPr>
      </p:sp>
      <p:pic>
        <p:nvPicPr>
          <p:cNvPr id="13" name="Image 0" descr="preencoded.png">    </p:cNvPr>
          <p:cNvPicPr>
            <a:picLocks noChangeAspect="1"/>
          </p:cNvPicPr>
          <p:nvPr/>
        </p:nvPicPr>
        <p:blipFill>
          <a:blip r:embed="rId1"/>
          <a:stretch>
            <a:fillRect/>
          </a:stretch>
        </p:blipFill>
        <p:spPr>
          <a:xfrm>
            <a:off x="5135728" y="2124151"/>
            <a:ext cx="365760" cy="365760"/>
          </a:xfrm>
          <a:prstGeom prst="rect">
            <a:avLst/>
          </a:prstGeom>
        </p:spPr>
      </p:pic>
      <p:sp>
        <p:nvSpPr>
          <p:cNvPr id="14" name="Text 11"/>
          <p:cNvSpPr txBox="1"/>
          <p:nvPr/>
        </p:nvSpPr>
        <p:spPr>
          <a:xfrm>
            <a:off x="5638648" y="1977847"/>
            <a:ext cx="150876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Payments</a:t>
            </a:r>
            <a:endParaRPr lang="en-US" sz="1400" dirty="0"/>
          </a:p>
        </p:txBody>
      </p:sp>
      <p:sp>
        <p:nvSpPr>
          <p:cNvPr id="15" name="Text 12"/>
          <p:cNvSpPr txBox="1"/>
          <p:nvPr/>
        </p:nvSpPr>
        <p:spPr>
          <a:xfrm>
            <a:off x="5638648" y="2307031"/>
            <a:ext cx="1508760" cy="292608"/>
          </a:xfrm>
          <a:prstGeom prst="rect">
            <a:avLst/>
          </a:prstGeom>
          <a:noFill/>
          <a:ln/>
        </p:spPr>
        <p:txBody>
          <a:bodyPr wrap="square" lIns="0" tIns="0" rIns="0" bIns="0" rtlCol="0" anchor="ctr"/>
          <a:lstStyle/>
          <a:p>
            <a:pPr indent="0" marL="0">
              <a:buNone/>
            </a:pPr>
            <a:r>
              <a:rPr lang="en-US" sz="1100" dirty="0">
                <a:solidFill>
                  <a:srgbClr val="B8C2D3"/>
                </a:solidFill>
                <a:latin typeface="Calibri" pitchFamily="34" charset="0"/>
                <a:ea typeface="Calibri" pitchFamily="34" charset="-122"/>
                <a:cs typeface="Calibri" pitchFamily="34" charset="-120"/>
              </a:rPr>
              <a:t>Stripe (live today)</a:t>
            </a:r>
            <a:endParaRPr lang="en-US" sz="1100" dirty="0"/>
          </a:p>
        </p:txBody>
      </p:sp>
      <p:sp>
        <p:nvSpPr>
          <p:cNvPr id="16" name="Shape 13"/>
          <p:cNvSpPr/>
          <p:nvPr/>
        </p:nvSpPr>
        <p:spPr>
          <a:xfrm>
            <a:off x="7837320" y="2753716"/>
            <a:ext cx="2286000" cy="868680"/>
          </a:xfrm>
          <a:prstGeom prst="roundRect">
            <a:avLst>
              <a:gd name="adj" fmla="val 10526"/>
            </a:avLst>
          </a:prstGeom>
          <a:solidFill>
            <a:srgbClr val="26324A"/>
          </a:solidFill>
          <a:ln w="15875">
            <a:solidFill>
              <a:srgbClr val="3A4863"/>
            </a:solidFill>
            <a:prstDash val="solid"/>
          </a:ln>
        </p:spPr>
      </p:sp>
      <p:pic>
        <p:nvPicPr>
          <p:cNvPr id="17" name="Image 1" descr="preencoded.png">    </p:cNvPr>
          <p:cNvPicPr>
            <a:picLocks noChangeAspect="1"/>
          </p:cNvPicPr>
          <p:nvPr/>
        </p:nvPicPr>
        <p:blipFill>
          <a:blip r:embed="rId2"/>
          <a:stretch>
            <a:fillRect/>
          </a:stretch>
        </p:blipFill>
        <p:spPr>
          <a:xfrm>
            <a:off x="8020200" y="3005176"/>
            <a:ext cx="365760" cy="365760"/>
          </a:xfrm>
          <a:prstGeom prst="rect">
            <a:avLst/>
          </a:prstGeom>
        </p:spPr>
      </p:pic>
      <p:sp>
        <p:nvSpPr>
          <p:cNvPr id="18" name="Text 14"/>
          <p:cNvSpPr txBox="1"/>
          <p:nvPr/>
        </p:nvSpPr>
        <p:spPr>
          <a:xfrm>
            <a:off x="8523120" y="2858872"/>
            <a:ext cx="150876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Identity</a:t>
            </a:r>
            <a:endParaRPr lang="en-US" sz="1400" dirty="0"/>
          </a:p>
        </p:txBody>
      </p:sp>
      <p:sp>
        <p:nvSpPr>
          <p:cNvPr id="19" name="Text 15"/>
          <p:cNvSpPr txBox="1"/>
          <p:nvPr/>
        </p:nvSpPr>
        <p:spPr>
          <a:xfrm>
            <a:off x="8523120" y="3188056"/>
            <a:ext cx="1508760" cy="292608"/>
          </a:xfrm>
          <a:prstGeom prst="rect">
            <a:avLst/>
          </a:prstGeom>
          <a:noFill/>
          <a:ln/>
        </p:spPr>
        <p:txBody>
          <a:bodyPr wrap="square" lIns="0" tIns="0" rIns="0" bIns="0" rtlCol="0" anchor="ctr"/>
          <a:lstStyle/>
          <a:p>
            <a:pPr indent="0" marL="0">
              <a:buNone/>
            </a:pPr>
            <a:r>
              <a:rPr lang="en-US" sz="1100" dirty="0">
                <a:solidFill>
                  <a:srgbClr val="B8C2D3"/>
                </a:solidFill>
                <a:latin typeface="Calibri" pitchFamily="34" charset="0"/>
                <a:ea typeface="Calibri" pitchFamily="34" charset="-122"/>
                <a:cs typeface="Calibri" pitchFamily="34" charset="-120"/>
              </a:rPr>
              <a:t>Verify before submit</a:t>
            </a:r>
            <a:endParaRPr lang="en-US" sz="1100" dirty="0"/>
          </a:p>
        </p:txBody>
      </p:sp>
      <p:sp>
        <p:nvSpPr>
          <p:cNvPr id="20" name="Shape 16"/>
          <p:cNvSpPr/>
          <p:nvPr/>
        </p:nvSpPr>
        <p:spPr>
          <a:xfrm>
            <a:off x="7837320" y="4515764"/>
            <a:ext cx="2286000" cy="868680"/>
          </a:xfrm>
          <a:prstGeom prst="roundRect">
            <a:avLst>
              <a:gd name="adj" fmla="val 10526"/>
            </a:avLst>
          </a:prstGeom>
          <a:solidFill>
            <a:srgbClr val="26324A"/>
          </a:solidFill>
          <a:ln w="15875">
            <a:solidFill>
              <a:srgbClr val="3A4863"/>
            </a:solidFill>
            <a:prstDash val="solid"/>
          </a:ln>
        </p:spPr>
      </p:sp>
      <p:pic>
        <p:nvPicPr>
          <p:cNvPr id="21" name="Image 2" descr="preencoded.png">    </p:cNvPr>
          <p:cNvPicPr>
            <a:picLocks noChangeAspect="1"/>
          </p:cNvPicPr>
          <p:nvPr/>
        </p:nvPicPr>
        <p:blipFill>
          <a:blip r:embed="rId3"/>
          <a:stretch>
            <a:fillRect/>
          </a:stretch>
        </p:blipFill>
        <p:spPr>
          <a:xfrm>
            <a:off x="8020200" y="4767224"/>
            <a:ext cx="365760" cy="365760"/>
          </a:xfrm>
          <a:prstGeom prst="rect">
            <a:avLst/>
          </a:prstGeom>
        </p:spPr>
      </p:pic>
      <p:sp>
        <p:nvSpPr>
          <p:cNvPr id="22" name="Text 17"/>
          <p:cNvSpPr txBox="1"/>
          <p:nvPr/>
        </p:nvSpPr>
        <p:spPr>
          <a:xfrm>
            <a:off x="8523120" y="4620920"/>
            <a:ext cx="150876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Case management</a:t>
            </a:r>
            <a:endParaRPr lang="en-US" sz="1400" dirty="0"/>
          </a:p>
        </p:txBody>
      </p:sp>
      <p:sp>
        <p:nvSpPr>
          <p:cNvPr id="23" name="Text 18"/>
          <p:cNvSpPr txBox="1"/>
          <p:nvPr/>
        </p:nvSpPr>
        <p:spPr>
          <a:xfrm>
            <a:off x="8523120" y="4950104"/>
            <a:ext cx="1508760" cy="292608"/>
          </a:xfrm>
          <a:prstGeom prst="rect">
            <a:avLst/>
          </a:prstGeom>
          <a:noFill/>
          <a:ln/>
        </p:spPr>
        <p:txBody>
          <a:bodyPr wrap="square" lIns="0" tIns="0" rIns="0" bIns="0" rtlCol="0" anchor="ctr"/>
          <a:lstStyle/>
          <a:p>
            <a:pPr indent="0" marL="0">
              <a:buNone/>
            </a:pPr>
            <a:r>
              <a:rPr lang="en-US" sz="1100" dirty="0">
                <a:solidFill>
                  <a:srgbClr val="B8C2D3"/>
                </a:solidFill>
                <a:latin typeface="Calibri" pitchFamily="34" charset="0"/>
                <a:ea typeface="Calibri" pitchFamily="34" charset="-122"/>
                <a:cs typeface="Calibri" pitchFamily="34" charset="-120"/>
              </a:rPr>
              <a:t>Open a case on completion</a:t>
            </a:r>
            <a:endParaRPr lang="en-US" sz="1100" dirty="0"/>
          </a:p>
        </p:txBody>
      </p:sp>
      <p:sp>
        <p:nvSpPr>
          <p:cNvPr id="24" name="Shape 19"/>
          <p:cNvSpPr/>
          <p:nvPr/>
        </p:nvSpPr>
        <p:spPr>
          <a:xfrm>
            <a:off x="4952848" y="5396789"/>
            <a:ext cx="2286000" cy="868680"/>
          </a:xfrm>
          <a:prstGeom prst="roundRect">
            <a:avLst>
              <a:gd name="adj" fmla="val 10526"/>
            </a:avLst>
          </a:prstGeom>
          <a:solidFill>
            <a:srgbClr val="26324A"/>
          </a:solidFill>
          <a:ln w="15875">
            <a:solidFill>
              <a:srgbClr val="3A4863"/>
            </a:solidFill>
            <a:prstDash val="solid"/>
          </a:ln>
        </p:spPr>
      </p:sp>
      <p:pic>
        <p:nvPicPr>
          <p:cNvPr id="25" name="Image 3" descr="preencoded.png">    </p:cNvPr>
          <p:cNvPicPr>
            <a:picLocks noChangeAspect="1"/>
          </p:cNvPicPr>
          <p:nvPr/>
        </p:nvPicPr>
        <p:blipFill>
          <a:blip r:embed="rId4"/>
          <a:stretch>
            <a:fillRect/>
          </a:stretch>
        </p:blipFill>
        <p:spPr>
          <a:xfrm>
            <a:off x="5135728" y="5648249"/>
            <a:ext cx="365760" cy="365760"/>
          </a:xfrm>
          <a:prstGeom prst="rect">
            <a:avLst/>
          </a:prstGeom>
        </p:spPr>
      </p:pic>
      <p:sp>
        <p:nvSpPr>
          <p:cNvPr id="26" name="Text 20"/>
          <p:cNvSpPr txBox="1"/>
          <p:nvPr/>
        </p:nvSpPr>
        <p:spPr>
          <a:xfrm>
            <a:off x="5638648" y="5501945"/>
            <a:ext cx="150876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Notifications</a:t>
            </a:r>
            <a:endParaRPr lang="en-US" sz="1400" dirty="0"/>
          </a:p>
        </p:txBody>
      </p:sp>
      <p:sp>
        <p:nvSpPr>
          <p:cNvPr id="27" name="Text 21"/>
          <p:cNvSpPr txBox="1"/>
          <p:nvPr/>
        </p:nvSpPr>
        <p:spPr>
          <a:xfrm>
            <a:off x="5638648" y="5831129"/>
            <a:ext cx="1508760" cy="292608"/>
          </a:xfrm>
          <a:prstGeom prst="rect">
            <a:avLst/>
          </a:prstGeom>
          <a:noFill/>
          <a:ln/>
        </p:spPr>
        <p:txBody>
          <a:bodyPr wrap="square" lIns="0" tIns="0" rIns="0" bIns="0" rtlCol="0" anchor="ctr"/>
          <a:lstStyle/>
          <a:p>
            <a:pPr indent="0" marL="0">
              <a:buNone/>
            </a:pPr>
            <a:r>
              <a:rPr lang="en-US" sz="1100" dirty="0">
                <a:solidFill>
                  <a:srgbClr val="B8C2D3"/>
                </a:solidFill>
                <a:latin typeface="Calibri" pitchFamily="34" charset="0"/>
                <a:ea typeface="Calibri" pitchFamily="34" charset="-122"/>
                <a:cs typeface="Calibri" pitchFamily="34" charset="-120"/>
              </a:rPr>
              <a:t>Email / SMS receipts</a:t>
            </a:r>
            <a:endParaRPr lang="en-US" sz="1100" dirty="0"/>
          </a:p>
        </p:txBody>
      </p:sp>
      <p:sp>
        <p:nvSpPr>
          <p:cNvPr id="28" name="Shape 22"/>
          <p:cNvSpPr/>
          <p:nvPr/>
        </p:nvSpPr>
        <p:spPr>
          <a:xfrm>
            <a:off x="2068375" y="4515764"/>
            <a:ext cx="2286000" cy="868680"/>
          </a:xfrm>
          <a:prstGeom prst="roundRect">
            <a:avLst>
              <a:gd name="adj" fmla="val 10526"/>
            </a:avLst>
          </a:prstGeom>
          <a:solidFill>
            <a:srgbClr val="26324A"/>
          </a:solidFill>
          <a:ln w="15875">
            <a:solidFill>
              <a:srgbClr val="3A4863"/>
            </a:solidFill>
            <a:prstDash val="solid"/>
          </a:ln>
        </p:spPr>
      </p:sp>
      <p:pic>
        <p:nvPicPr>
          <p:cNvPr id="29" name="Image 4" descr="preencoded.png">    </p:cNvPr>
          <p:cNvPicPr>
            <a:picLocks noChangeAspect="1"/>
          </p:cNvPicPr>
          <p:nvPr/>
        </p:nvPicPr>
        <p:blipFill>
          <a:blip r:embed="rId5"/>
          <a:stretch>
            <a:fillRect/>
          </a:stretch>
        </p:blipFill>
        <p:spPr>
          <a:xfrm>
            <a:off x="2251255" y="4767224"/>
            <a:ext cx="365760" cy="365760"/>
          </a:xfrm>
          <a:prstGeom prst="rect">
            <a:avLst/>
          </a:prstGeom>
        </p:spPr>
      </p:pic>
      <p:sp>
        <p:nvSpPr>
          <p:cNvPr id="30" name="Text 23"/>
          <p:cNvSpPr txBox="1"/>
          <p:nvPr/>
        </p:nvSpPr>
        <p:spPr>
          <a:xfrm>
            <a:off x="2754175" y="4620920"/>
            <a:ext cx="150876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Reporting / BI</a:t>
            </a:r>
            <a:endParaRPr lang="en-US" sz="1400" dirty="0"/>
          </a:p>
        </p:txBody>
      </p:sp>
      <p:sp>
        <p:nvSpPr>
          <p:cNvPr id="31" name="Text 24"/>
          <p:cNvSpPr txBox="1"/>
          <p:nvPr/>
        </p:nvSpPr>
        <p:spPr>
          <a:xfrm>
            <a:off x="2754175" y="4950104"/>
            <a:ext cx="1508760" cy="292608"/>
          </a:xfrm>
          <a:prstGeom prst="rect">
            <a:avLst/>
          </a:prstGeom>
          <a:noFill/>
          <a:ln/>
        </p:spPr>
        <p:txBody>
          <a:bodyPr wrap="square" lIns="0" tIns="0" rIns="0" bIns="0" rtlCol="0" anchor="ctr"/>
          <a:lstStyle/>
          <a:p>
            <a:pPr indent="0" marL="0">
              <a:buNone/>
            </a:pPr>
            <a:r>
              <a:rPr lang="en-US" sz="1100" dirty="0">
                <a:solidFill>
                  <a:srgbClr val="B8C2D3"/>
                </a:solidFill>
                <a:latin typeface="Calibri" pitchFamily="34" charset="0"/>
                <a:ea typeface="Calibri" pitchFamily="34" charset="-122"/>
                <a:cs typeface="Calibri" pitchFamily="34" charset="-120"/>
              </a:rPr>
              <a:t>Pull API feeds dashboards</a:t>
            </a:r>
            <a:endParaRPr lang="en-US" sz="1100" dirty="0"/>
          </a:p>
        </p:txBody>
      </p:sp>
      <p:sp>
        <p:nvSpPr>
          <p:cNvPr id="32" name="Shape 25"/>
          <p:cNvSpPr/>
          <p:nvPr/>
        </p:nvSpPr>
        <p:spPr>
          <a:xfrm>
            <a:off x="2068375" y="2753716"/>
            <a:ext cx="2286000" cy="868680"/>
          </a:xfrm>
          <a:prstGeom prst="roundRect">
            <a:avLst>
              <a:gd name="adj" fmla="val 10526"/>
            </a:avLst>
          </a:prstGeom>
          <a:solidFill>
            <a:srgbClr val="26324A"/>
          </a:solidFill>
          <a:ln w="15875">
            <a:solidFill>
              <a:srgbClr val="3A4863"/>
            </a:solidFill>
            <a:prstDash val="solid"/>
          </a:ln>
        </p:spPr>
      </p:sp>
      <p:pic>
        <p:nvPicPr>
          <p:cNvPr id="33" name="Image 5" descr="preencoded.png">    </p:cNvPr>
          <p:cNvPicPr>
            <a:picLocks noChangeAspect="1"/>
          </p:cNvPicPr>
          <p:nvPr/>
        </p:nvPicPr>
        <p:blipFill>
          <a:blip r:embed="rId6"/>
          <a:stretch>
            <a:fillRect/>
          </a:stretch>
        </p:blipFill>
        <p:spPr>
          <a:xfrm>
            <a:off x="2251255" y="3005176"/>
            <a:ext cx="365760" cy="365760"/>
          </a:xfrm>
          <a:prstGeom prst="rect">
            <a:avLst/>
          </a:prstGeom>
        </p:spPr>
      </p:pic>
      <p:sp>
        <p:nvSpPr>
          <p:cNvPr id="34" name="Text 26"/>
          <p:cNvSpPr txBox="1"/>
          <p:nvPr/>
        </p:nvSpPr>
        <p:spPr>
          <a:xfrm>
            <a:off x="2754175" y="2858872"/>
            <a:ext cx="150876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Compliance checks</a:t>
            </a:r>
            <a:endParaRPr lang="en-US" sz="1400" dirty="0"/>
          </a:p>
        </p:txBody>
      </p:sp>
      <p:sp>
        <p:nvSpPr>
          <p:cNvPr id="35" name="Text 27"/>
          <p:cNvSpPr txBox="1"/>
          <p:nvPr/>
        </p:nvSpPr>
        <p:spPr>
          <a:xfrm>
            <a:off x="2754175" y="3188056"/>
            <a:ext cx="1508760" cy="292608"/>
          </a:xfrm>
          <a:prstGeom prst="rect">
            <a:avLst/>
          </a:prstGeom>
          <a:noFill/>
          <a:ln/>
        </p:spPr>
        <p:txBody>
          <a:bodyPr wrap="square" lIns="0" tIns="0" rIns="0" bIns="0" rtlCol="0" anchor="ctr"/>
          <a:lstStyle/>
          <a:p>
            <a:pPr indent="0" marL="0">
              <a:buNone/>
            </a:pPr>
            <a:r>
              <a:rPr lang="en-US" sz="1100" dirty="0">
                <a:solidFill>
                  <a:srgbClr val="B8C2D3"/>
                </a:solidFill>
                <a:latin typeface="Calibri" pitchFamily="34" charset="0"/>
                <a:ea typeface="Calibri" pitchFamily="34" charset="-122"/>
                <a:cs typeface="Calibri" pitchFamily="34" charset="-120"/>
              </a:rPr>
              <a:t>Police check, registries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F4F4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Under the hood</a:t>
            </a:r>
            <a:endParaRPr lang="en-US" sz="3600" dirty="0"/>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The demo stack — open-source, containerised, runs on a laptop</a:t>
            </a:r>
            <a:endParaRPr lang="en-US" sz="1600" dirty="0"/>
          </a:p>
        </p:txBody>
      </p:sp>
      <p:sp>
        <p:nvSpPr>
          <p:cNvPr id="4" name="Shape 2"/>
          <p:cNvSpPr/>
          <p:nvPr/>
        </p:nvSpPr>
        <p:spPr>
          <a:xfrm>
            <a:off x="548640" y="1737360"/>
            <a:ext cx="5212080" cy="566928"/>
          </a:xfrm>
          <a:prstGeom prst="roundRect">
            <a:avLst>
              <a:gd name="adj" fmla="val 12903"/>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sp>
      <p:pic>
        <p:nvPicPr>
          <p:cNvPr id="5" name="Image 0" descr="preencoded.png">    </p:cNvPr>
          <p:cNvPicPr>
            <a:picLocks noChangeAspect="1"/>
          </p:cNvPicPr>
          <p:nvPr/>
        </p:nvPicPr>
        <p:blipFill>
          <a:blip r:embed="rId1"/>
          <a:stretch>
            <a:fillRect/>
          </a:stretch>
        </p:blipFill>
        <p:spPr>
          <a:xfrm>
            <a:off x="731520" y="1883664"/>
            <a:ext cx="274320" cy="274320"/>
          </a:xfrm>
          <a:prstGeom prst="rect">
            <a:avLst/>
          </a:prstGeom>
        </p:spPr>
      </p:pic>
      <p:sp>
        <p:nvSpPr>
          <p:cNvPr id="6" name="Text 3"/>
          <p:cNvSpPr txBox="1"/>
          <p:nvPr/>
        </p:nvSpPr>
        <p:spPr>
          <a:xfrm>
            <a:off x="1143000" y="1737360"/>
            <a:ext cx="1051560" cy="566928"/>
          </a:xfrm>
          <a:prstGeom prst="rect">
            <a:avLst/>
          </a:prstGeom>
          <a:noFill/>
          <a:ln/>
        </p:spPr>
        <p:txBody>
          <a:bodyPr wrap="square" lIns="0" tIns="0" rIns="0" bIns="0" rtlCol="0" anchor="ctr"/>
          <a:lstStyle/>
          <a:p>
            <a:pPr indent="0" marL="0">
              <a:buNone/>
            </a:pPr>
            <a:r>
              <a:rPr lang="en-US" sz="1300" b="1" dirty="0">
                <a:solidFill>
                  <a:srgbClr val="1B2536"/>
                </a:solidFill>
                <a:latin typeface="Calibri" pitchFamily="34" charset="0"/>
                <a:ea typeface="Calibri" pitchFamily="34" charset="-122"/>
                <a:cs typeface="Calibri" pitchFamily="34" charset="-120"/>
              </a:rPr>
              <a:t>Browser</a:t>
            </a:r>
            <a:endParaRPr lang="en-US" sz="1300" dirty="0"/>
          </a:p>
        </p:txBody>
      </p:sp>
      <p:sp>
        <p:nvSpPr>
          <p:cNvPr id="7" name="Shape 4"/>
          <p:cNvSpPr/>
          <p:nvPr/>
        </p:nvSpPr>
        <p:spPr>
          <a:xfrm>
            <a:off x="2240280" y="1874520"/>
            <a:ext cx="804672" cy="292608"/>
          </a:xfrm>
          <a:prstGeom prst="roundRect">
            <a:avLst>
              <a:gd name="adj" fmla="val 50000"/>
            </a:avLst>
          </a:prstGeom>
          <a:solidFill>
            <a:srgbClr val="F4F4F4"/>
          </a:solidFill>
          <a:ln w="6350">
            <a:solidFill>
              <a:srgbClr val="D5DAE1"/>
            </a:solidFill>
            <a:prstDash val="solid"/>
          </a:ln>
        </p:spPr>
      </p:sp>
      <p:sp>
        <p:nvSpPr>
          <p:cNvPr id="8" name="Text 5"/>
          <p:cNvSpPr txBox="1"/>
          <p:nvPr/>
        </p:nvSpPr>
        <p:spPr>
          <a:xfrm>
            <a:off x="2240280" y="1874520"/>
            <a:ext cx="804672" cy="292608"/>
          </a:xfrm>
          <a:prstGeom prst="rect">
            <a:avLst/>
          </a:prstGeom>
          <a:noFill/>
          <a:ln/>
        </p:spPr>
        <p:txBody>
          <a:bodyPr wrap="square" lIns="0" tIns="0" rIns="0" bIns="0" rtlCol="0" anchor="ctr"/>
          <a:lstStyle/>
          <a:p>
            <a:pPr algn="ctr" indent="0" marL="0">
              <a:buNone/>
            </a:pPr>
            <a:r>
              <a:rPr lang="en-US" sz="1100" dirty="0">
                <a:solidFill>
                  <a:srgbClr val="3C4A60"/>
                </a:solidFill>
                <a:latin typeface="Calibri" pitchFamily="34" charset="0"/>
                <a:ea typeface="Calibri" pitchFamily="34" charset="-122"/>
                <a:cs typeface="Calibri" pitchFamily="34" charset="-120"/>
              </a:rPr>
              <a:t>React 18</a:t>
            </a:r>
            <a:endParaRPr lang="en-US" sz="1100" dirty="0"/>
          </a:p>
        </p:txBody>
      </p:sp>
      <p:sp>
        <p:nvSpPr>
          <p:cNvPr id="9" name="Shape 6"/>
          <p:cNvSpPr/>
          <p:nvPr/>
        </p:nvSpPr>
        <p:spPr>
          <a:xfrm>
            <a:off x="3136392" y="1874520"/>
            <a:ext cx="493776" cy="292608"/>
          </a:xfrm>
          <a:prstGeom prst="roundRect">
            <a:avLst>
              <a:gd name="adj" fmla="val 50000"/>
            </a:avLst>
          </a:prstGeom>
          <a:solidFill>
            <a:srgbClr val="F4F4F4"/>
          </a:solidFill>
          <a:ln w="6350">
            <a:solidFill>
              <a:srgbClr val="D5DAE1"/>
            </a:solidFill>
            <a:prstDash val="solid"/>
          </a:ln>
        </p:spPr>
      </p:sp>
      <p:sp>
        <p:nvSpPr>
          <p:cNvPr id="10" name="Text 7"/>
          <p:cNvSpPr txBox="1"/>
          <p:nvPr/>
        </p:nvSpPr>
        <p:spPr>
          <a:xfrm>
            <a:off x="3136392" y="1874520"/>
            <a:ext cx="493776" cy="292608"/>
          </a:xfrm>
          <a:prstGeom prst="rect">
            <a:avLst/>
          </a:prstGeom>
          <a:noFill/>
          <a:ln/>
        </p:spPr>
        <p:txBody>
          <a:bodyPr wrap="square" lIns="0" tIns="0" rIns="0" bIns="0" rtlCol="0" anchor="ctr"/>
          <a:lstStyle/>
          <a:p>
            <a:pPr algn="ctr" indent="0" marL="0">
              <a:buNone/>
            </a:pPr>
            <a:r>
              <a:rPr lang="en-US" sz="1100" dirty="0">
                <a:solidFill>
                  <a:srgbClr val="3C4A60"/>
                </a:solidFill>
                <a:latin typeface="Calibri" pitchFamily="34" charset="0"/>
                <a:ea typeface="Calibri" pitchFamily="34" charset="-122"/>
                <a:cs typeface="Calibri" pitchFamily="34" charset="-120"/>
              </a:rPr>
              <a:t>Vite</a:t>
            </a:r>
            <a:endParaRPr lang="en-US" sz="1100" dirty="0"/>
          </a:p>
        </p:txBody>
      </p:sp>
      <p:sp>
        <p:nvSpPr>
          <p:cNvPr id="11" name="Shape 8"/>
          <p:cNvSpPr/>
          <p:nvPr/>
        </p:nvSpPr>
        <p:spPr>
          <a:xfrm>
            <a:off x="3721608" y="1874520"/>
            <a:ext cx="571500" cy="292608"/>
          </a:xfrm>
          <a:prstGeom prst="roundRect">
            <a:avLst>
              <a:gd name="adj" fmla="val 50000"/>
            </a:avLst>
          </a:prstGeom>
          <a:solidFill>
            <a:srgbClr val="F4F4F4"/>
          </a:solidFill>
          <a:ln w="6350">
            <a:solidFill>
              <a:srgbClr val="D5DAE1"/>
            </a:solidFill>
            <a:prstDash val="solid"/>
          </a:ln>
        </p:spPr>
      </p:sp>
      <p:sp>
        <p:nvSpPr>
          <p:cNvPr id="12" name="Text 9"/>
          <p:cNvSpPr txBox="1"/>
          <p:nvPr/>
        </p:nvSpPr>
        <p:spPr>
          <a:xfrm>
            <a:off x="3721608" y="1874520"/>
            <a:ext cx="571500" cy="292608"/>
          </a:xfrm>
          <a:prstGeom prst="rect">
            <a:avLst/>
          </a:prstGeom>
          <a:noFill/>
          <a:ln/>
        </p:spPr>
        <p:txBody>
          <a:bodyPr wrap="square" lIns="0" tIns="0" rIns="0" bIns="0" rtlCol="0" anchor="ctr"/>
          <a:lstStyle/>
          <a:p>
            <a:pPr algn="ctr" indent="0" marL="0">
              <a:buNone/>
            </a:pPr>
            <a:r>
              <a:rPr lang="en-US" sz="1100" dirty="0">
                <a:solidFill>
                  <a:srgbClr val="3C4A60"/>
                </a:solidFill>
                <a:latin typeface="Calibri" pitchFamily="34" charset="0"/>
                <a:ea typeface="Calibri" pitchFamily="34" charset="-122"/>
                <a:cs typeface="Calibri" pitchFamily="34" charset="-120"/>
              </a:rPr>
              <a:t>MUI 5</a:t>
            </a:r>
            <a:endParaRPr lang="en-US" sz="1100" dirty="0"/>
          </a:p>
        </p:txBody>
      </p:sp>
      <p:sp>
        <p:nvSpPr>
          <p:cNvPr id="13" name="Shape 10"/>
          <p:cNvSpPr/>
          <p:nvPr/>
        </p:nvSpPr>
        <p:spPr>
          <a:xfrm>
            <a:off x="4384548" y="1874520"/>
            <a:ext cx="1115568" cy="292608"/>
          </a:xfrm>
          <a:prstGeom prst="roundRect">
            <a:avLst>
              <a:gd name="adj" fmla="val 50000"/>
            </a:avLst>
          </a:prstGeom>
          <a:solidFill>
            <a:srgbClr val="F4F4F4"/>
          </a:solidFill>
          <a:ln w="6350">
            <a:solidFill>
              <a:srgbClr val="D5DAE1"/>
            </a:solidFill>
            <a:prstDash val="solid"/>
          </a:ln>
        </p:spPr>
      </p:sp>
      <p:sp>
        <p:nvSpPr>
          <p:cNvPr id="14" name="Text 11"/>
          <p:cNvSpPr txBox="1"/>
          <p:nvPr/>
        </p:nvSpPr>
        <p:spPr>
          <a:xfrm>
            <a:off x="4384548" y="1874520"/>
            <a:ext cx="1115568" cy="292608"/>
          </a:xfrm>
          <a:prstGeom prst="rect">
            <a:avLst/>
          </a:prstGeom>
          <a:noFill/>
          <a:ln/>
        </p:spPr>
        <p:txBody>
          <a:bodyPr wrap="square" lIns="0" tIns="0" rIns="0" bIns="0" rtlCol="0" anchor="ctr"/>
          <a:lstStyle/>
          <a:p>
            <a:pPr algn="ctr" indent="0" marL="0">
              <a:buNone/>
            </a:pPr>
            <a:r>
              <a:rPr lang="en-US" sz="1100" dirty="0">
                <a:solidFill>
                  <a:srgbClr val="3C4A60"/>
                </a:solidFill>
                <a:latin typeface="Calibri" pitchFamily="34" charset="0"/>
                <a:ea typeface="Calibri" pitchFamily="34" charset="-122"/>
                <a:cs typeface="Calibri" pitchFamily="34" charset="-120"/>
              </a:rPr>
              <a:t>React Router</a:t>
            </a:r>
            <a:endParaRPr lang="en-US" sz="1100" dirty="0"/>
          </a:p>
        </p:txBody>
      </p:sp>
      <p:sp>
        <p:nvSpPr>
          <p:cNvPr id="15" name="Shape 12"/>
          <p:cNvSpPr/>
          <p:nvPr/>
        </p:nvSpPr>
        <p:spPr>
          <a:xfrm>
            <a:off x="548640" y="2395728"/>
            <a:ext cx="5212080" cy="566928"/>
          </a:xfrm>
          <a:prstGeom prst="roundRect">
            <a:avLst>
              <a:gd name="adj" fmla="val 12903"/>
            </a:avLst>
          </a:prstGeom>
          <a:solidFill>
            <a:srgbClr val="FDF1E6"/>
          </a:solidFill>
          <a:ln w="19050">
            <a:solidFill>
              <a:srgbClr val="E3710A"/>
            </a:solidFill>
            <a:prstDash val="solid"/>
          </a:ln>
        </p:spPr>
      </p:sp>
      <p:pic>
        <p:nvPicPr>
          <p:cNvPr id="16" name="Image 1" descr="preencoded.png">    </p:cNvPr>
          <p:cNvPicPr>
            <a:picLocks noChangeAspect="1"/>
          </p:cNvPicPr>
          <p:nvPr/>
        </p:nvPicPr>
        <p:blipFill>
          <a:blip r:embed="rId2"/>
          <a:stretch>
            <a:fillRect/>
          </a:stretch>
        </p:blipFill>
        <p:spPr>
          <a:xfrm>
            <a:off x="731520" y="2542032"/>
            <a:ext cx="274320" cy="274320"/>
          </a:xfrm>
          <a:prstGeom prst="rect">
            <a:avLst/>
          </a:prstGeom>
        </p:spPr>
      </p:pic>
      <p:sp>
        <p:nvSpPr>
          <p:cNvPr id="17" name="Text 13"/>
          <p:cNvSpPr txBox="1"/>
          <p:nvPr/>
        </p:nvSpPr>
        <p:spPr>
          <a:xfrm>
            <a:off x="1143000" y="2395728"/>
            <a:ext cx="1051560" cy="566928"/>
          </a:xfrm>
          <a:prstGeom prst="rect">
            <a:avLst/>
          </a:prstGeom>
          <a:noFill/>
          <a:ln/>
        </p:spPr>
        <p:txBody>
          <a:bodyPr wrap="square" lIns="0" tIns="0" rIns="0" bIns="0" rtlCol="0" anchor="ctr"/>
          <a:lstStyle/>
          <a:p>
            <a:pPr indent="0" marL="0">
              <a:buNone/>
            </a:pPr>
            <a:r>
              <a:rPr lang="en-US" sz="1300" b="1" dirty="0">
                <a:solidFill>
                  <a:srgbClr val="1B2536"/>
                </a:solidFill>
                <a:latin typeface="Calibri" pitchFamily="34" charset="0"/>
                <a:ea typeface="Calibri" pitchFamily="34" charset="-122"/>
                <a:cs typeface="Calibri" pitchFamily="34" charset="-120"/>
              </a:rPr>
              <a:t>Forms</a:t>
            </a:r>
            <a:endParaRPr lang="en-US" sz="1300" dirty="0"/>
          </a:p>
        </p:txBody>
      </p:sp>
      <p:sp>
        <p:nvSpPr>
          <p:cNvPr id="18" name="Shape 14"/>
          <p:cNvSpPr/>
          <p:nvPr/>
        </p:nvSpPr>
        <p:spPr>
          <a:xfrm>
            <a:off x="2240280" y="2532888"/>
            <a:ext cx="1659636" cy="292608"/>
          </a:xfrm>
          <a:prstGeom prst="roundRect">
            <a:avLst>
              <a:gd name="adj" fmla="val 50000"/>
            </a:avLst>
          </a:prstGeom>
          <a:solidFill>
            <a:srgbClr val="E3710A"/>
          </a:solidFill>
          <a:ln w="6350">
            <a:solidFill>
              <a:srgbClr val="E3710A"/>
            </a:solidFill>
            <a:prstDash val="solid"/>
          </a:ln>
        </p:spPr>
      </p:sp>
      <p:sp>
        <p:nvSpPr>
          <p:cNvPr id="19" name="Text 15"/>
          <p:cNvSpPr txBox="1"/>
          <p:nvPr/>
        </p:nvSpPr>
        <p:spPr>
          <a:xfrm>
            <a:off x="2240280" y="2532888"/>
            <a:ext cx="1659636"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Data Driven Forms 3</a:t>
            </a:r>
            <a:endParaRPr lang="en-US" sz="1100" dirty="0"/>
          </a:p>
        </p:txBody>
      </p:sp>
      <p:sp>
        <p:nvSpPr>
          <p:cNvPr id="20" name="Shape 16"/>
          <p:cNvSpPr/>
          <p:nvPr/>
        </p:nvSpPr>
        <p:spPr>
          <a:xfrm>
            <a:off x="3991356" y="2532888"/>
            <a:ext cx="1426464" cy="292608"/>
          </a:xfrm>
          <a:prstGeom prst="roundRect">
            <a:avLst>
              <a:gd name="adj" fmla="val 50000"/>
            </a:avLst>
          </a:prstGeom>
          <a:solidFill>
            <a:srgbClr val="E3710A"/>
          </a:solidFill>
          <a:ln w="6350">
            <a:solidFill>
              <a:srgbClr val="E3710A"/>
            </a:solidFill>
            <a:prstDash val="solid"/>
          </a:ln>
        </p:spPr>
      </p:sp>
      <p:sp>
        <p:nvSpPr>
          <p:cNvPr id="21" name="Text 17"/>
          <p:cNvSpPr txBox="1"/>
          <p:nvPr/>
        </p:nvSpPr>
        <p:spPr>
          <a:xfrm>
            <a:off x="3991356" y="2532888"/>
            <a:ext cx="1426464"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React Final Form</a:t>
            </a:r>
            <a:endParaRPr lang="en-US" sz="1100" dirty="0"/>
          </a:p>
        </p:txBody>
      </p:sp>
      <p:sp>
        <p:nvSpPr>
          <p:cNvPr id="22" name="Shape 18"/>
          <p:cNvSpPr/>
          <p:nvPr/>
        </p:nvSpPr>
        <p:spPr>
          <a:xfrm>
            <a:off x="548640" y="3054096"/>
            <a:ext cx="5212080" cy="566928"/>
          </a:xfrm>
          <a:prstGeom prst="roundRect">
            <a:avLst>
              <a:gd name="adj" fmla="val 12903"/>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sp>
      <p:pic>
        <p:nvPicPr>
          <p:cNvPr id="23" name="Image 2" descr="preencoded.png">    </p:cNvPr>
          <p:cNvPicPr>
            <a:picLocks noChangeAspect="1"/>
          </p:cNvPicPr>
          <p:nvPr/>
        </p:nvPicPr>
        <p:blipFill>
          <a:blip r:embed="rId3"/>
          <a:stretch>
            <a:fillRect/>
          </a:stretch>
        </p:blipFill>
        <p:spPr>
          <a:xfrm>
            <a:off x="731520" y="3200400"/>
            <a:ext cx="274320" cy="274320"/>
          </a:xfrm>
          <a:prstGeom prst="rect">
            <a:avLst/>
          </a:prstGeom>
        </p:spPr>
      </p:pic>
      <p:sp>
        <p:nvSpPr>
          <p:cNvPr id="24" name="Text 19"/>
          <p:cNvSpPr txBox="1"/>
          <p:nvPr/>
        </p:nvSpPr>
        <p:spPr>
          <a:xfrm>
            <a:off x="1143000" y="3054096"/>
            <a:ext cx="1051560" cy="566928"/>
          </a:xfrm>
          <a:prstGeom prst="rect">
            <a:avLst/>
          </a:prstGeom>
          <a:noFill/>
          <a:ln/>
        </p:spPr>
        <p:txBody>
          <a:bodyPr wrap="square" lIns="0" tIns="0" rIns="0" bIns="0" rtlCol="0" anchor="ctr"/>
          <a:lstStyle/>
          <a:p>
            <a:pPr indent="0" marL="0">
              <a:buNone/>
            </a:pPr>
            <a:r>
              <a:rPr lang="en-US" sz="1300" b="1" dirty="0">
                <a:solidFill>
                  <a:srgbClr val="1B2536"/>
                </a:solidFill>
                <a:latin typeface="Calibri" pitchFamily="34" charset="0"/>
                <a:ea typeface="Calibri" pitchFamily="34" charset="-122"/>
                <a:cs typeface="Calibri" pitchFamily="34" charset="-120"/>
              </a:rPr>
              <a:t>Editor</a:t>
            </a:r>
            <a:endParaRPr lang="en-US" sz="1300" dirty="0"/>
          </a:p>
        </p:txBody>
      </p:sp>
      <p:sp>
        <p:nvSpPr>
          <p:cNvPr id="25" name="Shape 20"/>
          <p:cNvSpPr/>
          <p:nvPr/>
        </p:nvSpPr>
        <p:spPr>
          <a:xfrm>
            <a:off x="2240280" y="3191256"/>
            <a:ext cx="1115568" cy="292608"/>
          </a:xfrm>
          <a:prstGeom prst="roundRect">
            <a:avLst>
              <a:gd name="adj" fmla="val 50000"/>
            </a:avLst>
          </a:prstGeom>
          <a:solidFill>
            <a:srgbClr val="F4F4F4"/>
          </a:solidFill>
          <a:ln w="6350">
            <a:solidFill>
              <a:srgbClr val="D5DAE1"/>
            </a:solidFill>
            <a:prstDash val="solid"/>
          </a:ln>
        </p:spPr>
      </p:sp>
      <p:sp>
        <p:nvSpPr>
          <p:cNvPr id="26" name="Text 21"/>
          <p:cNvSpPr txBox="1"/>
          <p:nvPr/>
        </p:nvSpPr>
        <p:spPr>
          <a:xfrm>
            <a:off x="2240280" y="3191256"/>
            <a:ext cx="1115568" cy="292608"/>
          </a:xfrm>
          <a:prstGeom prst="rect">
            <a:avLst/>
          </a:prstGeom>
          <a:noFill/>
          <a:ln/>
        </p:spPr>
        <p:txBody>
          <a:bodyPr wrap="square" lIns="0" tIns="0" rIns="0" bIns="0" rtlCol="0" anchor="ctr"/>
          <a:lstStyle/>
          <a:p>
            <a:pPr algn="ctr" indent="0" marL="0">
              <a:buNone/>
            </a:pPr>
            <a:r>
              <a:rPr lang="en-US" sz="1100" dirty="0">
                <a:solidFill>
                  <a:srgbClr val="3C4A60"/>
                </a:solidFill>
                <a:latin typeface="Calibri" pitchFamily="34" charset="0"/>
                <a:ea typeface="Calibri" pitchFamily="34" charset="-122"/>
                <a:cs typeface="Calibri" pitchFamily="34" charset="-120"/>
              </a:rPr>
              <a:t>CodeMirror 6</a:t>
            </a:r>
            <a:endParaRPr lang="en-US" sz="1100" dirty="0"/>
          </a:p>
        </p:txBody>
      </p:sp>
      <p:sp>
        <p:nvSpPr>
          <p:cNvPr id="27" name="Shape 22"/>
          <p:cNvSpPr/>
          <p:nvPr/>
        </p:nvSpPr>
        <p:spPr>
          <a:xfrm>
            <a:off x="3447288" y="3191256"/>
            <a:ext cx="1737360" cy="292608"/>
          </a:xfrm>
          <a:prstGeom prst="roundRect">
            <a:avLst>
              <a:gd name="adj" fmla="val 50000"/>
            </a:avLst>
          </a:prstGeom>
          <a:solidFill>
            <a:srgbClr val="F4F4F4"/>
          </a:solidFill>
          <a:ln w="6350">
            <a:solidFill>
              <a:srgbClr val="D5DAE1"/>
            </a:solidFill>
            <a:prstDash val="solid"/>
          </a:ln>
        </p:spPr>
      </p:sp>
      <p:sp>
        <p:nvSpPr>
          <p:cNvPr id="28" name="Text 23"/>
          <p:cNvSpPr txBox="1"/>
          <p:nvPr/>
        </p:nvSpPr>
        <p:spPr>
          <a:xfrm>
            <a:off x="3447288" y="3191256"/>
            <a:ext cx="1737360" cy="292608"/>
          </a:xfrm>
          <a:prstGeom prst="rect">
            <a:avLst/>
          </a:prstGeom>
          <a:noFill/>
          <a:ln/>
        </p:spPr>
        <p:txBody>
          <a:bodyPr wrap="square" lIns="0" tIns="0" rIns="0" bIns="0" rtlCol="0" anchor="ctr"/>
          <a:lstStyle/>
          <a:p>
            <a:pPr algn="ctr" indent="0" marL="0">
              <a:buNone/>
            </a:pPr>
            <a:r>
              <a:rPr lang="en-US" sz="1100" dirty="0">
                <a:solidFill>
                  <a:srgbClr val="3C4A60"/>
                </a:solidFill>
                <a:latin typeface="Calibri" pitchFamily="34" charset="0"/>
                <a:ea typeface="Calibri" pitchFamily="34" charset="-122"/>
                <a:cs typeface="Calibri" pitchFamily="34" charset="-120"/>
              </a:rPr>
              <a:t>Visual schema editor</a:t>
            </a:r>
            <a:endParaRPr lang="en-US" sz="1100" dirty="0"/>
          </a:p>
        </p:txBody>
      </p:sp>
      <p:sp>
        <p:nvSpPr>
          <p:cNvPr id="29" name="Shape 24"/>
          <p:cNvSpPr/>
          <p:nvPr/>
        </p:nvSpPr>
        <p:spPr>
          <a:xfrm>
            <a:off x="548640" y="3712464"/>
            <a:ext cx="5212080" cy="566928"/>
          </a:xfrm>
          <a:prstGeom prst="roundRect">
            <a:avLst>
              <a:gd name="adj" fmla="val 12903"/>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sp>
      <p:pic>
        <p:nvPicPr>
          <p:cNvPr id="30" name="Image 3" descr="preencoded.png">    </p:cNvPr>
          <p:cNvPicPr>
            <a:picLocks noChangeAspect="1"/>
          </p:cNvPicPr>
          <p:nvPr/>
        </p:nvPicPr>
        <p:blipFill>
          <a:blip r:embed="rId4"/>
          <a:stretch>
            <a:fillRect/>
          </a:stretch>
        </p:blipFill>
        <p:spPr>
          <a:xfrm>
            <a:off x="731520" y="3858768"/>
            <a:ext cx="274320" cy="274320"/>
          </a:xfrm>
          <a:prstGeom prst="rect">
            <a:avLst/>
          </a:prstGeom>
        </p:spPr>
      </p:pic>
      <p:sp>
        <p:nvSpPr>
          <p:cNvPr id="31" name="Text 25"/>
          <p:cNvSpPr txBox="1"/>
          <p:nvPr/>
        </p:nvSpPr>
        <p:spPr>
          <a:xfrm>
            <a:off x="1143000" y="3712464"/>
            <a:ext cx="1051560" cy="566928"/>
          </a:xfrm>
          <a:prstGeom prst="rect">
            <a:avLst/>
          </a:prstGeom>
          <a:noFill/>
          <a:ln/>
        </p:spPr>
        <p:txBody>
          <a:bodyPr wrap="square" lIns="0" tIns="0" rIns="0" bIns="0" rtlCol="0" anchor="ctr"/>
          <a:lstStyle/>
          <a:p>
            <a:pPr indent="0" marL="0">
              <a:buNone/>
            </a:pPr>
            <a:r>
              <a:rPr lang="en-US" sz="1300" b="1" dirty="0">
                <a:solidFill>
                  <a:srgbClr val="1B2536"/>
                </a:solidFill>
                <a:latin typeface="Calibri" pitchFamily="34" charset="0"/>
                <a:ea typeface="Calibri" pitchFamily="34" charset="-122"/>
                <a:cs typeface="Calibri" pitchFamily="34" charset="-120"/>
              </a:rPr>
              <a:t>API</a:t>
            </a:r>
            <a:endParaRPr lang="en-US" sz="1300" dirty="0"/>
          </a:p>
        </p:txBody>
      </p:sp>
      <p:sp>
        <p:nvSpPr>
          <p:cNvPr id="32" name="Shape 26"/>
          <p:cNvSpPr/>
          <p:nvPr/>
        </p:nvSpPr>
        <p:spPr>
          <a:xfrm>
            <a:off x="2240280" y="3849624"/>
            <a:ext cx="726948" cy="292608"/>
          </a:xfrm>
          <a:prstGeom prst="roundRect">
            <a:avLst>
              <a:gd name="adj" fmla="val 50000"/>
            </a:avLst>
          </a:prstGeom>
          <a:solidFill>
            <a:srgbClr val="F4F4F4"/>
          </a:solidFill>
          <a:ln w="6350">
            <a:solidFill>
              <a:srgbClr val="D5DAE1"/>
            </a:solidFill>
            <a:prstDash val="solid"/>
          </a:ln>
        </p:spPr>
      </p:sp>
      <p:sp>
        <p:nvSpPr>
          <p:cNvPr id="33" name="Text 27"/>
          <p:cNvSpPr txBox="1"/>
          <p:nvPr/>
        </p:nvSpPr>
        <p:spPr>
          <a:xfrm>
            <a:off x="2240280" y="3849624"/>
            <a:ext cx="726948" cy="292608"/>
          </a:xfrm>
          <a:prstGeom prst="rect">
            <a:avLst/>
          </a:prstGeom>
          <a:noFill/>
          <a:ln/>
        </p:spPr>
        <p:txBody>
          <a:bodyPr wrap="square" lIns="0" tIns="0" rIns="0" bIns="0" rtlCol="0" anchor="ctr"/>
          <a:lstStyle/>
          <a:p>
            <a:pPr algn="ctr" indent="0" marL="0">
              <a:buNone/>
            </a:pPr>
            <a:r>
              <a:rPr lang="en-US" sz="1100" dirty="0">
                <a:solidFill>
                  <a:srgbClr val="3C4A60"/>
                </a:solidFill>
                <a:latin typeface="Calibri" pitchFamily="34" charset="0"/>
                <a:ea typeface="Calibri" pitchFamily="34" charset="-122"/>
                <a:cs typeface="Calibri" pitchFamily="34" charset="-120"/>
              </a:rPr>
              <a:t>Node 20</a:t>
            </a:r>
            <a:endParaRPr lang="en-US" sz="1100" dirty="0"/>
          </a:p>
        </p:txBody>
      </p:sp>
      <p:sp>
        <p:nvSpPr>
          <p:cNvPr id="34" name="Shape 28"/>
          <p:cNvSpPr/>
          <p:nvPr/>
        </p:nvSpPr>
        <p:spPr>
          <a:xfrm>
            <a:off x="3058668" y="3849624"/>
            <a:ext cx="882396" cy="292608"/>
          </a:xfrm>
          <a:prstGeom prst="roundRect">
            <a:avLst>
              <a:gd name="adj" fmla="val 50000"/>
            </a:avLst>
          </a:prstGeom>
          <a:solidFill>
            <a:srgbClr val="F4F4F4"/>
          </a:solidFill>
          <a:ln w="6350">
            <a:solidFill>
              <a:srgbClr val="D5DAE1"/>
            </a:solidFill>
            <a:prstDash val="solid"/>
          </a:ln>
        </p:spPr>
      </p:sp>
      <p:sp>
        <p:nvSpPr>
          <p:cNvPr id="35" name="Text 29"/>
          <p:cNvSpPr txBox="1"/>
          <p:nvPr/>
        </p:nvSpPr>
        <p:spPr>
          <a:xfrm>
            <a:off x="3058668" y="3849624"/>
            <a:ext cx="882396" cy="292608"/>
          </a:xfrm>
          <a:prstGeom prst="rect">
            <a:avLst/>
          </a:prstGeom>
          <a:noFill/>
          <a:ln/>
        </p:spPr>
        <p:txBody>
          <a:bodyPr wrap="square" lIns="0" tIns="0" rIns="0" bIns="0" rtlCol="0" anchor="ctr"/>
          <a:lstStyle/>
          <a:p>
            <a:pPr algn="ctr" indent="0" marL="0">
              <a:buNone/>
            </a:pPr>
            <a:r>
              <a:rPr lang="en-US" sz="1100" dirty="0">
                <a:solidFill>
                  <a:srgbClr val="3C4A60"/>
                </a:solidFill>
                <a:latin typeface="Calibri" pitchFamily="34" charset="0"/>
                <a:ea typeface="Calibri" pitchFamily="34" charset="-122"/>
                <a:cs typeface="Calibri" pitchFamily="34" charset="-120"/>
              </a:rPr>
              <a:t>Express 4</a:t>
            </a:r>
            <a:endParaRPr lang="en-US" sz="1100" dirty="0"/>
          </a:p>
        </p:txBody>
      </p:sp>
      <p:sp>
        <p:nvSpPr>
          <p:cNvPr id="36" name="Shape 30"/>
          <p:cNvSpPr/>
          <p:nvPr/>
        </p:nvSpPr>
        <p:spPr>
          <a:xfrm>
            <a:off x="548640" y="4370832"/>
            <a:ext cx="5212080" cy="566928"/>
          </a:xfrm>
          <a:prstGeom prst="roundRect">
            <a:avLst>
              <a:gd name="adj" fmla="val 12903"/>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sp>
      <p:pic>
        <p:nvPicPr>
          <p:cNvPr id="37" name="Image 4" descr="preencoded.png">    </p:cNvPr>
          <p:cNvPicPr>
            <a:picLocks noChangeAspect="1"/>
          </p:cNvPicPr>
          <p:nvPr/>
        </p:nvPicPr>
        <p:blipFill>
          <a:blip r:embed="rId5"/>
          <a:stretch>
            <a:fillRect/>
          </a:stretch>
        </p:blipFill>
        <p:spPr>
          <a:xfrm>
            <a:off x="731520" y="4517136"/>
            <a:ext cx="274320" cy="274320"/>
          </a:xfrm>
          <a:prstGeom prst="rect">
            <a:avLst/>
          </a:prstGeom>
        </p:spPr>
      </p:pic>
      <p:sp>
        <p:nvSpPr>
          <p:cNvPr id="38" name="Text 31"/>
          <p:cNvSpPr txBox="1"/>
          <p:nvPr/>
        </p:nvSpPr>
        <p:spPr>
          <a:xfrm>
            <a:off x="1143000" y="4370832"/>
            <a:ext cx="1051560" cy="566928"/>
          </a:xfrm>
          <a:prstGeom prst="rect">
            <a:avLst/>
          </a:prstGeom>
          <a:noFill/>
          <a:ln/>
        </p:spPr>
        <p:txBody>
          <a:bodyPr wrap="square" lIns="0" tIns="0" rIns="0" bIns="0" rtlCol="0" anchor="ctr"/>
          <a:lstStyle/>
          <a:p>
            <a:pPr indent="0" marL="0">
              <a:buNone/>
            </a:pPr>
            <a:r>
              <a:rPr lang="en-US" sz="1300" b="1" dirty="0">
                <a:solidFill>
                  <a:srgbClr val="1B2536"/>
                </a:solidFill>
                <a:latin typeface="Calibri" pitchFamily="34" charset="0"/>
                <a:ea typeface="Calibri" pitchFamily="34" charset="-122"/>
                <a:cs typeface="Calibri" pitchFamily="34" charset="-120"/>
              </a:rPr>
              <a:t>Data</a:t>
            </a:r>
            <a:endParaRPr lang="en-US" sz="1300" dirty="0"/>
          </a:p>
        </p:txBody>
      </p:sp>
      <p:sp>
        <p:nvSpPr>
          <p:cNvPr id="39" name="Shape 32"/>
          <p:cNvSpPr/>
          <p:nvPr/>
        </p:nvSpPr>
        <p:spPr>
          <a:xfrm>
            <a:off x="2240280" y="4507992"/>
            <a:ext cx="882396" cy="292608"/>
          </a:xfrm>
          <a:prstGeom prst="roundRect">
            <a:avLst>
              <a:gd name="adj" fmla="val 50000"/>
            </a:avLst>
          </a:prstGeom>
          <a:solidFill>
            <a:srgbClr val="F4F4F4"/>
          </a:solidFill>
          <a:ln w="6350">
            <a:solidFill>
              <a:srgbClr val="D5DAE1"/>
            </a:solidFill>
            <a:prstDash val="solid"/>
          </a:ln>
        </p:spPr>
      </p:sp>
      <p:sp>
        <p:nvSpPr>
          <p:cNvPr id="40" name="Text 33"/>
          <p:cNvSpPr txBox="1"/>
          <p:nvPr/>
        </p:nvSpPr>
        <p:spPr>
          <a:xfrm>
            <a:off x="2240280" y="4507992"/>
            <a:ext cx="882396" cy="292608"/>
          </a:xfrm>
          <a:prstGeom prst="rect">
            <a:avLst/>
          </a:prstGeom>
          <a:noFill/>
          <a:ln/>
        </p:spPr>
        <p:txBody>
          <a:bodyPr wrap="square" lIns="0" tIns="0" rIns="0" bIns="0" rtlCol="0" anchor="ctr"/>
          <a:lstStyle/>
          <a:p>
            <a:pPr algn="ctr" indent="0" marL="0">
              <a:buNone/>
            </a:pPr>
            <a:r>
              <a:rPr lang="en-US" sz="1100" dirty="0">
                <a:solidFill>
                  <a:srgbClr val="3C4A60"/>
                </a:solidFill>
                <a:latin typeface="Calibri" pitchFamily="34" charset="0"/>
                <a:ea typeface="Calibri" pitchFamily="34" charset="-122"/>
                <a:cs typeface="Calibri" pitchFamily="34" charset="-120"/>
              </a:rPr>
              <a:t>MongoDB 7</a:t>
            </a:r>
            <a:endParaRPr lang="en-US" sz="1100" dirty="0"/>
          </a:p>
        </p:txBody>
      </p:sp>
      <p:sp>
        <p:nvSpPr>
          <p:cNvPr id="41" name="Shape 34"/>
          <p:cNvSpPr/>
          <p:nvPr/>
        </p:nvSpPr>
        <p:spPr>
          <a:xfrm>
            <a:off x="548640" y="5029200"/>
            <a:ext cx="5212080" cy="566928"/>
          </a:xfrm>
          <a:prstGeom prst="roundRect">
            <a:avLst>
              <a:gd name="adj" fmla="val 12903"/>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sp>
      <p:pic>
        <p:nvPicPr>
          <p:cNvPr id="42" name="Image 5" descr="preencoded.png">    </p:cNvPr>
          <p:cNvPicPr>
            <a:picLocks noChangeAspect="1"/>
          </p:cNvPicPr>
          <p:nvPr/>
        </p:nvPicPr>
        <p:blipFill>
          <a:blip r:embed="rId6"/>
          <a:stretch>
            <a:fillRect/>
          </a:stretch>
        </p:blipFill>
        <p:spPr>
          <a:xfrm>
            <a:off x="731520" y="5175504"/>
            <a:ext cx="274320" cy="274320"/>
          </a:xfrm>
          <a:prstGeom prst="rect">
            <a:avLst/>
          </a:prstGeom>
        </p:spPr>
      </p:pic>
      <p:sp>
        <p:nvSpPr>
          <p:cNvPr id="43" name="Text 35"/>
          <p:cNvSpPr txBox="1"/>
          <p:nvPr/>
        </p:nvSpPr>
        <p:spPr>
          <a:xfrm>
            <a:off x="1143000" y="5029200"/>
            <a:ext cx="1051560" cy="566928"/>
          </a:xfrm>
          <a:prstGeom prst="rect">
            <a:avLst/>
          </a:prstGeom>
          <a:noFill/>
          <a:ln/>
        </p:spPr>
        <p:txBody>
          <a:bodyPr wrap="square" lIns="0" tIns="0" rIns="0" bIns="0" rtlCol="0" anchor="ctr"/>
          <a:lstStyle/>
          <a:p>
            <a:pPr indent="0" marL="0">
              <a:buNone/>
            </a:pPr>
            <a:r>
              <a:rPr lang="en-US" sz="1300" b="1" dirty="0">
                <a:solidFill>
                  <a:srgbClr val="1B2536"/>
                </a:solidFill>
                <a:latin typeface="Calibri" pitchFamily="34" charset="0"/>
                <a:ea typeface="Calibri" pitchFamily="34" charset="-122"/>
                <a:cs typeface="Calibri" pitchFamily="34" charset="-120"/>
              </a:rPr>
              <a:t>Payments</a:t>
            </a:r>
            <a:endParaRPr lang="en-US" sz="1300" dirty="0"/>
          </a:p>
        </p:txBody>
      </p:sp>
      <p:sp>
        <p:nvSpPr>
          <p:cNvPr id="44" name="Shape 36"/>
          <p:cNvSpPr/>
          <p:nvPr/>
        </p:nvSpPr>
        <p:spPr>
          <a:xfrm>
            <a:off x="2240280" y="5166360"/>
            <a:ext cx="1348740" cy="292608"/>
          </a:xfrm>
          <a:prstGeom prst="roundRect">
            <a:avLst>
              <a:gd name="adj" fmla="val 50000"/>
            </a:avLst>
          </a:prstGeom>
          <a:solidFill>
            <a:srgbClr val="F4F4F4"/>
          </a:solidFill>
          <a:ln w="6350">
            <a:solidFill>
              <a:srgbClr val="D5DAE1"/>
            </a:solidFill>
            <a:prstDash val="solid"/>
          </a:ln>
        </p:spPr>
      </p:sp>
      <p:sp>
        <p:nvSpPr>
          <p:cNvPr id="45" name="Text 37"/>
          <p:cNvSpPr txBox="1"/>
          <p:nvPr/>
        </p:nvSpPr>
        <p:spPr>
          <a:xfrm>
            <a:off x="2240280" y="5166360"/>
            <a:ext cx="1348740" cy="292608"/>
          </a:xfrm>
          <a:prstGeom prst="rect">
            <a:avLst/>
          </a:prstGeom>
          <a:noFill/>
          <a:ln/>
        </p:spPr>
        <p:txBody>
          <a:bodyPr wrap="square" lIns="0" tIns="0" rIns="0" bIns="0" rtlCol="0" anchor="ctr"/>
          <a:lstStyle/>
          <a:p>
            <a:pPr algn="ctr" indent="0" marL="0">
              <a:buNone/>
            </a:pPr>
            <a:r>
              <a:rPr lang="en-US" sz="1100" dirty="0">
                <a:solidFill>
                  <a:srgbClr val="3C4A60"/>
                </a:solidFill>
                <a:latin typeface="Calibri" pitchFamily="34" charset="0"/>
                <a:ea typeface="Calibri" pitchFamily="34" charset="-122"/>
                <a:cs typeface="Calibri" pitchFamily="34" charset="-120"/>
              </a:rPr>
              <a:t>Stripe Checkout</a:t>
            </a:r>
            <a:endParaRPr lang="en-US" sz="1100" dirty="0"/>
          </a:p>
        </p:txBody>
      </p:sp>
      <p:sp>
        <p:nvSpPr>
          <p:cNvPr id="46" name="Shape 38"/>
          <p:cNvSpPr/>
          <p:nvPr/>
        </p:nvSpPr>
        <p:spPr>
          <a:xfrm>
            <a:off x="3680460" y="5166360"/>
            <a:ext cx="804672" cy="292608"/>
          </a:xfrm>
          <a:prstGeom prst="roundRect">
            <a:avLst>
              <a:gd name="adj" fmla="val 50000"/>
            </a:avLst>
          </a:prstGeom>
          <a:solidFill>
            <a:srgbClr val="F4F4F4"/>
          </a:solidFill>
          <a:ln w="6350">
            <a:solidFill>
              <a:srgbClr val="D5DAE1"/>
            </a:solidFill>
            <a:prstDash val="solid"/>
          </a:ln>
        </p:spPr>
      </p:sp>
      <p:sp>
        <p:nvSpPr>
          <p:cNvPr id="47" name="Text 39"/>
          <p:cNvSpPr txBox="1"/>
          <p:nvPr/>
        </p:nvSpPr>
        <p:spPr>
          <a:xfrm>
            <a:off x="3680460" y="5166360"/>
            <a:ext cx="804672" cy="292608"/>
          </a:xfrm>
          <a:prstGeom prst="rect">
            <a:avLst/>
          </a:prstGeom>
          <a:noFill/>
          <a:ln/>
        </p:spPr>
        <p:txBody>
          <a:bodyPr wrap="square" lIns="0" tIns="0" rIns="0" bIns="0" rtlCol="0" anchor="ctr"/>
          <a:lstStyle/>
          <a:p>
            <a:pPr algn="ctr" indent="0" marL="0">
              <a:buNone/>
            </a:pPr>
            <a:r>
              <a:rPr lang="en-US" sz="1100" dirty="0">
                <a:solidFill>
                  <a:srgbClr val="3C4A60"/>
                </a:solidFill>
                <a:latin typeface="Calibri" pitchFamily="34" charset="0"/>
                <a:ea typeface="Calibri" pitchFamily="34" charset="-122"/>
                <a:cs typeface="Calibri" pitchFamily="34" charset="-120"/>
              </a:rPr>
              <a:t>Webhooks</a:t>
            </a:r>
            <a:endParaRPr lang="en-US" sz="1100" dirty="0"/>
          </a:p>
        </p:txBody>
      </p:sp>
      <p:sp>
        <p:nvSpPr>
          <p:cNvPr id="48" name="Shape 40"/>
          <p:cNvSpPr/>
          <p:nvPr/>
        </p:nvSpPr>
        <p:spPr>
          <a:xfrm>
            <a:off x="548640" y="5687568"/>
            <a:ext cx="5212080" cy="566928"/>
          </a:xfrm>
          <a:prstGeom prst="roundRect">
            <a:avLst>
              <a:gd name="adj" fmla="val 12903"/>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sp>
      <p:pic>
        <p:nvPicPr>
          <p:cNvPr id="49" name="Image 6" descr="preencoded.png">    </p:cNvPr>
          <p:cNvPicPr>
            <a:picLocks noChangeAspect="1"/>
          </p:cNvPicPr>
          <p:nvPr/>
        </p:nvPicPr>
        <p:blipFill>
          <a:blip r:embed="rId7"/>
          <a:stretch>
            <a:fillRect/>
          </a:stretch>
        </p:blipFill>
        <p:spPr>
          <a:xfrm>
            <a:off x="731520" y="5833872"/>
            <a:ext cx="274320" cy="274320"/>
          </a:xfrm>
          <a:prstGeom prst="rect">
            <a:avLst/>
          </a:prstGeom>
        </p:spPr>
      </p:pic>
      <p:sp>
        <p:nvSpPr>
          <p:cNvPr id="50" name="Text 41"/>
          <p:cNvSpPr txBox="1"/>
          <p:nvPr/>
        </p:nvSpPr>
        <p:spPr>
          <a:xfrm>
            <a:off x="1143000" y="5687568"/>
            <a:ext cx="1051560" cy="566928"/>
          </a:xfrm>
          <a:prstGeom prst="rect">
            <a:avLst/>
          </a:prstGeom>
          <a:noFill/>
          <a:ln/>
        </p:spPr>
        <p:txBody>
          <a:bodyPr wrap="square" lIns="0" tIns="0" rIns="0" bIns="0" rtlCol="0" anchor="ctr"/>
          <a:lstStyle/>
          <a:p>
            <a:pPr indent="0" marL="0">
              <a:buNone/>
            </a:pPr>
            <a:r>
              <a:rPr lang="en-US" sz="1300" b="1" dirty="0">
                <a:solidFill>
                  <a:srgbClr val="1B2536"/>
                </a:solidFill>
                <a:latin typeface="Calibri" pitchFamily="34" charset="0"/>
                <a:ea typeface="Calibri" pitchFamily="34" charset="-122"/>
                <a:cs typeface="Calibri" pitchFamily="34" charset="-120"/>
              </a:rPr>
              <a:t>Runtime</a:t>
            </a:r>
            <a:endParaRPr lang="en-US" sz="1300" dirty="0"/>
          </a:p>
        </p:txBody>
      </p:sp>
      <p:sp>
        <p:nvSpPr>
          <p:cNvPr id="51" name="Shape 42"/>
          <p:cNvSpPr/>
          <p:nvPr/>
        </p:nvSpPr>
        <p:spPr>
          <a:xfrm>
            <a:off x="2240280" y="5824728"/>
            <a:ext cx="1271016" cy="292608"/>
          </a:xfrm>
          <a:prstGeom prst="roundRect">
            <a:avLst>
              <a:gd name="adj" fmla="val 50000"/>
            </a:avLst>
          </a:prstGeom>
          <a:solidFill>
            <a:srgbClr val="F4F4F4"/>
          </a:solidFill>
          <a:ln w="6350">
            <a:solidFill>
              <a:srgbClr val="D5DAE1"/>
            </a:solidFill>
            <a:prstDash val="solid"/>
          </a:ln>
        </p:spPr>
      </p:sp>
      <p:sp>
        <p:nvSpPr>
          <p:cNvPr id="52" name="Text 43"/>
          <p:cNvSpPr txBox="1"/>
          <p:nvPr/>
        </p:nvSpPr>
        <p:spPr>
          <a:xfrm>
            <a:off x="2240280" y="5824728"/>
            <a:ext cx="1271016" cy="292608"/>
          </a:xfrm>
          <a:prstGeom prst="rect">
            <a:avLst/>
          </a:prstGeom>
          <a:noFill/>
          <a:ln/>
        </p:spPr>
        <p:txBody>
          <a:bodyPr wrap="square" lIns="0" tIns="0" rIns="0" bIns="0" rtlCol="0" anchor="ctr"/>
          <a:lstStyle/>
          <a:p>
            <a:pPr algn="ctr" indent="0" marL="0">
              <a:buNone/>
            </a:pPr>
            <a:r>
              <a:rPr lang="en-US" sz="1100" dirty="0">
                <a:solidFill>
                  <a:srgbClr val="3C4A60"/>
                </a:solidFill>
                <a:latin typeface="Calibri" pitchFamily="34" charset="0"/>
                <a:ea typeface="Calibri" pitchFamily="34" charset="-122"/>
                <a:cs typeface="Calibri" pitchFamily="34" charset="-120"/>
              </a:rPr>
              <a:t>Docker Compose</a:t>
            </a:r>
            <a:endParaRPr lang="en-US" sz="1100" dirty="0"/>
          </a:p>
        </p:txBody>
      </p:sp>
      <p:sp>
        <p:nvSpPr>
          <p:cNvPr id="53" name="Shape 44"/>
          <p:cNvSpPr/>
          <p:nvPr/>
        </p:nvSpPr>
        <p:spPr>
          <a:xfrm>
            <a:off x="6172200" y="1737360"/>
            <a:ext cx="5470855" cy="4517136"/>
          </a:xfrm>
          <a:prstGeom prst="roundRect">
            <a:avLst>
              <a:gd name="adj" fmla="val 1619"/>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54" name="Shape 45"/>
          <p:cNvSpPr/>
          <p:nvPr/>
        </p:nvSpPr>
        <p:spPr>
          <a:xfrm>
            <a:off x="6446520" y="1993392"/>
            <a:ext cx="640080" cy="640080"/>
          </a:xfrm>
          <a:prstGeom prst="ellipse">
            <a:avLst/>
          </a:prstGeom>
          <a:solidFill>
            <a:srgbClr val="E3710A"/>
          </a:solidFill>
          <a:ln w="12700">
            <a:solidFill>
              <a:srgbClr val="E3710A"/>
            </a:solidFill>
            <a:prstDash val="solid"/>
          </a:ln>
        </p:spPr>
      </p:sp>
      <p:pic>
        <p:nvPicPr>
          <p:cNvPr id="55" name="Image 7" descr="preencoded.png">    </p:cNvPr>
          <p:cNvPicPr>
            <a:picLocks noChangeAspect="1"/>
          </p:cNvPicPr>
          <p:nvPr/>
        </p:nvPicPr>
        <p:blipFill>
          <a:blip r:embed="rId8"/>
          <a:stretch>
            <a:fillRect/>
          </a:stretch>
        </p:blipFill>
        <p:spPr>
          <a:xfrm>
            <a:off x="6612941" y="2159813"/>
            <a:ext cx="307238" cy="307238"/>
          </a:xfrm>
          <a:prstGeom prst="rect">
            <a:avLst/>
          </a:prstGeom>
        </p:spPr>
      </p:pic>
      <p:sp>
        <p:nvSpPr>
          <p:cNvPr id="56" name="Text 46"/>
          <p:cNvSpPr txBox="1"/>
          <p:nvPr/>
        </p:nvSpPr>
        <p:spPr>
          <a:xfrm>
            <a:off x="7269480" y="1975104"/>
            <a:ext cx="4190695" cy="411480"/>
          </a:xfrm>
          <a:prstGeom prst="rect">
            <a:avLst/>
          </a:prstGeom>
          <a:noFill/>
          <a:ln/>
        </p:spPr>
        <p:txBody>
          <a:bodyPr wrap="square" lIns="0" tIns="0" rIns="0" bIns="0" rtlCol="0" anchor="ctr"/>
          <a:lstStyle/>
          <a:p>
            <a:pPr indent="0" marL="0">
              <a:buNone/>
            </a:pPr>
            <a:r>
              <a:rPr lang="en-US" sz="2200" b="1" dirty="0">
                <a:solidFill>
                  <a:srgbClr val="1B2536"/>
                </a:solidFill>
                <a:latin typeface="Cambria" pitchFamily="34" charset="0"/>
                <a:ea typeface="Cambria" pitchFamily="34" charset="-122"/>
                <a:cs typeface="Cambria" pitchFamily="34" charset="-120"/>
              </a:rPr>
              <a:t>Data Driven Forms</a:t>
            </a:r>
            <a:endParaRPr lang="en-US" sz="2200" dirty="0"/>
          </a:p>
        </p:txBody>
      </p:sp>
      <p:sp>
        <p:nvSpPr>
          <p:cNvPr id="57" name="Text 47"/>
          <p:cNvSpPr txBox="1"/>
          <p:nvPr/>
        </p:nvSpPr>
        <p:spPr>
          <a:xfrm>
            <a:off x="7269480" y="2377440"/>
            <a:ext cx="4190695" cy="411480"/>
          </a:xfrm>
          <a:prstGeom prst="rect">
            <a:avLst/>
          </a:prstGeom>
          <a:noFill/>
          <a:ln/>
        </p:spPr>
        <p:txBody>
          <a:bodyPr wrap="square" lIns="0" tIns="0" rIns="0" bIns="0" rtlCol="0" anchor="ctr"/>
          <a:lstStyle/>
          <a:p>
            <a:pPr indent="0" marL="0">
              <a:buNone/>
            </a:pPr>
            <a:r>
              <a:rPr lang="en-US" sz="1200" dirty="0">
                <a:solidFill>
                  <a:srgbClr val="7A8699"/>
                </a:solidFill>
                <a:latin typeface="Calibri" pitchFamily="34" charset="0"/>
                <a:ea typeface="Calibri" pitchFamily="34" charset="-122"/>
                <a:cs typeface="Calibri" pitchFamily="34" charset="-120"/>
              </a:rPr>
              <a:t>Open-source React library that renders forms from JSON schemas — started by Red Hat</a:t>
            </a:r>
            <a:endParaRPr lang="en-US" sz="1200" dirty="0"/>
          </a:p>
        </p:txBody>
      </p:sp>
      <p:sp>
        <p:nvSpPr>
          <p:cNvPr id="58" name="Shape 48"/>
          <p:cNvSpPr/>
          <p:nvPr/>
        </p:nvSpPr>
        <p:spPr>
          <a:xfrm>
            <a:off x="6446520" y="2971800"/>
            <a:ext cx="4922215" cy="1691640"/>
          </a:xfrm>
          <a:prstGeom prst="roundRect">
            <a:avLst>
              <a:gd name="adj" fmla="val 4324"/>
            </a:avLst>
          </a:prstGeom>
          <a:solidFill>
            <a:srgbClr val="0F1623"/>
          </a:solidFill>
          <a:ln w="12700">
            <a:solidFill>
              <a:srgbClr val="0F1623"/>
            </a:solidFill>
            <a:prstDash val="solid"/>
          </a:ln>
        </p:spPr>
      </p:sp>
      <p:sp>
        <p:nvSpPr>
          <p:cNvPr id="59" name="Text 49"/>
          <p:cNvSpPr txBox="1"/>
          <p:nvPr/>
        </p:nvSpPr>
        <p:spPr>
          <a:xfrm>
            <a:off x="6675120" y="3154680"/>
            <a:ext cx="4465015" cy="1371600"/>
          </a:xfrm>
          <a:prstGeom prst="rect">
            <a:avLst/>
          </a:prstGeom>
          <a:noFill/>
          <a:ln/>
        </p:spPr>
        <p:txBody>
          <a:bodyPr wrap="square" lIns="0" tIns="0" rIns="0" bIns="0" rtlCol="0" anchor="t"/>
          <a:lstStyle/>
          <a:p>
            <a:pPr indent="0" marL="0">
              <a:buNone/>
            </a:pPr>
            <a:r>
              <a:rPr lang="en-US" sz="1050" dirty="0">
                <a:solidFill>
                  <a:srgbClr val="D6DEEB"/>
                </a:solidFill>
                <a:latin typeface="Courier New" pitchFamily="34" charset="0"/>
                <a:ea typeface="Courier New" pitchFamily="34" charset="-122"/>
                <a:cs typeface="Courier New" pitchFamily="34" charset="-120"/>
              </a:rPr>
              <a:t>&lt;</a:t>
            </a:r>
            <a:pPr indent="0" marL="0">
              <a:buNone/>
            </a:pPr>
            <a:r>
              <a:rPr lang="en-US" sz="1050" dirty="0">
                <a:solidFill>
                  <a:srgbClr val="F4A259"/>
                </a:solidFill>
                <a:latin typeface="Courier New" pitchFamily="34" charset="0"/>
                <a:ea typeface="Courier New" pitchFamily="34" charset="-122"/>
                <a:cs typeface="Courier New" pitchFamily="34" charset="-120"/>
              </a:rPr>
              <a:t>FormRenderer</a:t>
            </a:r>
            <a:endParaRPr lang="en-US" sz="1050" dirty="0"/>
          </a:p>
          <a:p>
            <a:pPr indent="0" marL="0">
              <a:buNone/>
            </a:pPr>
            <a:r>
              <a:rPr lang="en-US" sz="1050" dirty="0">
                <a:solidFill>
                  <a:srgbClr val="D6DEEB"/>
                </a:solidFill>
                <a:latin typeface="Courier New" pitchFamily="34" charset="0"/>
                <a:ea typeface="Courier New" pitchFamily="34" charset="-122"/>
                <a:cs typeface="Courier New" pitchFamily="34" charset="-120"/>
              </a:rPr>
              <a:t>  schema={txndef.schema}</a:t>
            </a:r>
            <a:pPr indent="0" marL="0">
              <a:buNone/>
            </a:pPr>
            <a:r>
              <a:rPr lang="en-US" sz="1050" dirty="0">
                <a:solidFill>
                  <a:srgbClr val="6A7A92"/>
                </a:solidFill>
                <a:latin typeface="Courier New" pitchFamily="34" charset="0"/>
                <a:ea typeface="Courier New" pitchFamily="34" charset="-122"/>
                <a:cs typeface="Courier New" pitchFamily="34" charset="-120"/>
              </a:rPr>
              <a:t>   // straight from MongoDB</a:t>
            </a:r>
            <a:endParaRPr lang="en-US" sz="1050" dirty="0"/>
          </a:p>
          <a:p>
            <a:pPr indent="0" marL="0">
              <a:buNone/>
            </a:pPr>
            <a:r>
              <a:rPr lang="en-US" sz="1050" dirty="0">
                <a:solidFill>
                  <a:srgbClr val="D6DEEB"/>
                </a:solidFill>
                <a:latin typeface="Courier New" pitchFamily="34" charset="0"/>
                <a:ea typeface="Courier New" pitchFamily="34" charset="-122"/>
                <a:cs typeface="Courier New" pitchFamily="34" charset="-120"/>
              </a:rPr>
              <a:t>  componentMapper={mui + payment-summary + …}</a:t>
            </a:r>
            <a:endParaRPr lang="en-US" sz="1050" dirty="0"/>
          </a:p>
          <a:p>
            <a:pPr indent="0" marL="0">
              <a:buNone/>
            </a:pPr>
            <a:r>
              <a:rPr lang="en-US" sz="1050" dirty="0">
                <a:solidFill>
                  <a:srgbClr val="D6DEEB"/>
                </a:solidFill>
                <a:latin typeface="Courier New" pitchFamily="34" charset="0"/>
                <a:ea typeface="Courier New" pitchFamily="34" charset="-122"/>
                <a:cs typeface="Courier New" pitchFamily="34" charset="-120"/>
              </a:rPr>
              <a:t>  validatorMapper={{ </a:t>
            </a:r>
            <a:pPr indent="0" marL="0">
              <a:buNone/>
            </a:pPr>
            <a:r>
              <a:rPr lang="en-US" sz="1050" dirty="0">
                <a:solidFill>
                  <a:srgbClr val="9CDCFE"/>
                </a:solidFill>
                <a:latin typeface="Courier New" pitchFamily="34" charset="0"/>
                <a:ea typeface="Courier New" pitchFamily="34" charset="-122"/>
                <a:cs typeface="Courier New" pitchFamily="34" charset="-120"/>
              </a:rPr>
              <a:t>'same-email'</a:t>
            </a:r>
            <a:pPr indent="0" marL="0">
              <a:buNone/>
            </a:pPr>
            <a:r>
              <a:rPr lang="en-US" sz="1050" dirty="0">
                <a:solidFill>
                  <a:srgbClr val="D6DEEB"/>
                </a:solidFill>
                <a:latin typeface="Courier New" pitchFamily="34" charset="0"/>
                <a:ea typeface="Courier New" pitchFamily="34" charset="-122"/>
                <a:cs typeface="Courier New" pitchFamily="34" charset="-120"/>
              </a:rPr>
              <a:t>: () =&gt;</a:t>
            </a:r>
            <a:endParaRPr lang="en-US" sz="1050" dirty="0"/>
          </a:p>
          <a:p>
            <a:pPr indent="0" marL="0">
              <a:buNone/>
            </a:pPr>
            <a:r>
              <a:rPr lang="en-US" sz="1050" dirty="0">
                <a:solidFill>
                  <a:srgbClr val="D6DEEB"/>
                </a:solidFill>
                <a:latin typeface="Courier New" pitchFamily="34" charset="0"/>
                <a:ea typeface="Courier New" pitchFamily="34" charset="-122"/>
                <a:cs typeface="Courier New" pitchFamily="34" charset="-120"/>
              </a:rPr>
              <a:t>    (value, all) =&gt; value !== all.email</a:t>
            </a:r>
            <a:endParaRPr lang="en-US" sz="1050" dirty="0"/>
          </a:p>
          <a:p>
            <a:pPr indent="0" marL="0">
              <a:buNone/>
            </a:pPr>
            <a:r>
              <a:rPr lang="en-US" sz="1050" dirty="0">
                <a:solidFill>
                  <a:srgbClr val="D6DEEB"/>
                </a:solidFill>
                <a:latin typeface="Courier New" pitchFamily="34" charset="0"/>
                <a:ea typeface="Courier New" pitchFamily="34" charset="-122"/>
                <a:cs typeface="Courier New" pitchFamily="34" charset="-120"/>
              </a:rPr>
              <a:t>      ? </a:t>
            </a:r>
            <a:pPr indent="0" marL="0">
              <a:buNone/>
            </a:pPr>
            <a:r>
              <a:rPr lang="en-US" sz="1050" dirty="0">
                <a:solidFill>
                  <a:srgbClr val="9CDCFE"/>
                </a:solidFill>
                <a:latin typeface="Courier New" pitchFamily="34" charset="0"/>
                <a:ea typeface="Courier New" pitchFamily="34" charset="-122"/>
                <a:cs typeface="Courier New" pitchFamily="34" charset="-120"/>
              </a:rPr>
              <a:t>'Email does not match'</a:t>
            </a:r>
            <a:pPr indent="0" marL="0">
              <a:buNone/>
            </a:pPr>
            <a:r>
              <a:rPr lang="en-US" sz="1050" dirty="0">
                <a:solidFill>
                  <a:srgbClr val="D6DEEB"/>
                </a:solidFill>
                <a:latin typeface="Courier New" pitchFamily="34" charset="0"/>
                <a:ea typeface="Courier New" pitchFamily="34" charset="-122"/>
                <a:cs typeface="Courier New" pitchFamily="34" charset="-120"/>
              </a:rPr>
              <a:t> : undefined }} /&gt;</a:t>
            </a:r>
            <a:endParaRPr lang="en-US" sz="1050" dirty="0"/>
          </a:p>
        </p:txBody>
      </p:sp>
      <p:sp>
        <p:nvSpPr>
          <p:cNvPr id="60" name="Text 50"/>
          <p:cNvSpPr txBox="1"/>
          <p:nvPr/>
        </p:nvSpPr>
        <p:spPr>
          <a:xfrm>
            <a:off x="6446520" y="4846320"/>
            <a:ext cx="4922215" cy="365760"/>
          </a:xfrm>
          <a:prstGeom prst="rect">
            <a:avLst/>
          </a:prstGeom>
          <a:noFill/>
          <a:ln/>
        </p:spPr>
        <p:txBody>
          <a:bodyPr wrap="square" lIns="0" tIns="0" rIns="0" bIns="0" rtlCol="0" anchor="ctr"/>
          <a:lstStyle/>
          <a:p>
            <a:pPr indent="0" marL="0">
              <a:buNone/>
            </a:pPr>
            <a:r>
              <a:rPr lang="en-US" sz="1250" b="1" dirty="0">
                <a:solidFill>
                  <a:srgbClr val="1B2536"/>
                </a:solidFill>
                <a:latin typeface="Calibri" pitchFamily="34" charset="0"/>
                <a:ea typeface="Calibri" pitchFamily="34" charset="-122"/>
                <a:cs typeface="Calibri" pitchFamily="34" charset="-120"/>
              </a:rPr>
              <a:t>Component mapper  </a:t>
            </a:r>
            <a:pPr indent="0" marL="0">
              <a:buNone/>
            </a:pPr>
            <a:r>
              <a:rPr lang="en-US" sz="1250" dirty="0">
                <a:solidFill>
                  <a:srgbClr val="3C4A60"/>
                </a:solidFill>
                <a:latin typeface="Calibri" pitchFamily="34" charset="0"/>
                <a:ea typeface="Calibri" pitchFamily="34" charset="-122"/>
                <a:cs typeface="Calibri" pitchFamily="34" charset="-120"/>
              </a:rPr>
              <a:t>schema names → MUI components, plus our own</a:t>
            </a:r>
            <a:endParaRPr lang="en-US" sz="1250" dirty="0"/>
          </a:p>
        </p:txBody>
      </p:sp>
      <p:sp>
        <p:nvSpPr>
          <p:cNvPr id="61" name="Text 51"/>
          <p:cNvSpPr txBox="1"/>
          <p:nvPr/>
        </p:nvSpPr>
        <p:spPr>
          <a:xfrm>
            <a:off x="6446520" y="5276088"/>
            <a:ext cx="4922215" cy="365760"/>
          </a:xfrm>
          <a:prstGeom prst="rect">
            <a:avLst/>
          </a:prstGeom>
          <a:noFill/>
          <a:ln/>
        </p:spPr>
        <p:txBody>
          <a:bodyPr wrap="square" lIns="0" tIns="0" rIns="0" bIns="0" rtlCol="0" anchor="ctr"/>
          <a:lstStyle/>
          <a:p>
            <a:pPr indent="0" marL="0">
              <a:buNone/>
            </a:pPr>
            <a:r>
              <a:rPr lang="en-US" sz="1250" b="1" dirty="0">
                <a:solidFill>
                  <a:srgbClr val="1B2536"/>
                </a:solidFill>
                <a:latin typeface="Calibri" pitchFamily="34" charset="0"/>
                <a:ea typeface="Calibri" pitchFamily="34" charset="-122"/>
                <a:cs typeface="Calibri" pitchFamily="34" charset="-120"/>
              </a:rPr>
              <a:t>Validator mapper  </a:t>
            </a:r>
            <a:pPr indent="0" marL="0">
              <a:buNone/>
            </a:pPr>
            <a:r>
              <a:rPr lang="en-US" sz="1250" dirty="0">
                <a:solidFill>
                  <a:srgbClr val="3C4A60"/>
                </a:solidFill>
                <a:latin typeface="Calibri" pitchFamily="34" charset="0"/>
                <a:ea typeface="Calibri" pitchFamily="34" charset="-122"/>
                <a:cs typeface="Calibri" pitchFamily="34" charset="-120"/>
              </a:rPr>
              <a:t>built-in rules + custom, cross-field and async</a:t>
            </a:r>
            <a:endParaRPr lang="en-US" sz="1250" dirty="0"/>
          </a:p>
        </p:txBody>
      </p:sp>
      <p:sp>
        <p:nvSpPr>
          <p:cNvPr id="62" name="Text 52"/>
          <p:cNvSpPr txBox="1"/>
          <p:nvPr/>
        </p:nvSpPr>
        <p:spPr>
          <a:xfrm>
            <a:off x="6446520" y="5705856"/>
            <a:ext cx="4922215" cy="365760"/>
          </a:xfrm>
          <a:prstGeom prst="rect">
            <a:avLst/>
          </a:prstGeom>
          <a:noFill/>
          <a:ln/>
        </p:spPr>
        <p:txBody>
          <a:bodyPr wrap="square" lIns="0" tIns="0" rIns="0" bIns="0" rtlCol="0" anchor="ctr"/>
          <a:lstStyle/>
          <a:p>
            <a:pPr indent="0" marL="0">
              <a:buNone/>
            </a:pPr>
            <a:r>
              <a:rPr lang="en-US" sz="1250" b="1" dirty="0">
                <a:solidFill>
                  <a:srgbClr val="1B2536"/>
                </a:solidFill>
                <a:latin typeface="Calibri" pitchFamily="34" charset="0"/>
                <a:ea typeface="Calibri" pitchFamily="34" charset="-122"/>
                <a:cs typeface="Calibri" pitchFamily="34" charset="-120"/>
              </a:rPr>
              <a:t>Conditions &amp; wizard  </a:t>
            </a:r>
            <a:pPr indent="0" marL="0">
              <a:buNone/>
            </a:pPr>
            <a:r>
              <a:rPr lang="en-US" sz="1250" dirty="0">
                <a:solidFill>
                  <a:srgbClr val="3C4A60"/>
                </a:solidFill>
                <a:latin typeface="Calibri" pitchFamily="34" charset="0"/>
                <a:ea typeface="Calibri" pitchFamily="34" charset="-122"/>
                <a:cs typeface="Calibri" pitchFamily="34" charset="-120"/>
              </a:rPr>
              <a:t>show/hide on answers, branching step paths</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Demo walkthrough</a:t>
            </a:r>
            <a:endParaRPr lang="en-US" sz="3600" dirty="0"/>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About 10 minutes — follows Configure → Integrate → Extract</a:t>
            </a:r>
            <a:endParaRPr lang="en-US" sz="1600" dirty="0"/>
          </a:p>
        </p:txBody>
      </p:sp>
      <p:sp>
        <p:nvSpPr>
          <p:cNvPr id="4" name="Shape 2"/>
          <p:cNvSpPr/>
          <p:nvPr/>
        </p:nvSpPr>
        <p:spPr>
          <a:xfrm>
            <a:off x="548640" y="1783080"/>
            <a:ext cx="548640" cy="548640"/>
          </a:xfrm>
          <a:prstGeom prst="ellipse">
            <a:avLst/>
          </a:prstGeom>
          <a:solidFill>
            <a:srgbClr val="1B2536"/>
          </a:solidFill>
          <a:ln w="12700">
            <a:solidFill>
              <a:srgbClr val="1B2536"/>
            </a:solidFill>
            <a:prstDash val="solid"/>
          </a:ln>
        </p:spPr>
      </p:sp>
      <p:sp>
        <p:nvSpPr>
          <p:cNvPr id="5" name="Text 3"/>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755648"/>
            <a:ext cx="4617720" cy="329184"/>
          </a:xfrm>
          <a:prstGeom prst="rect">
            <a:avLst/>
          </a:prstGeom>
          <a:noFill/>
          <a:ln/>
        </p:spPr>
        <p:txBody>
          <a:bodyPr wrap="square" lIns="0" tIns="0" rIns="0" bIns="0" rtlCol="0" anchor="ctr"/>
          <a:lstStyle/>
          <a:p>
            <a:pPr indent="0" marL="0">
              <a:buNone/>
            </a:pPr>
            <a:r>
              <a:rPr lang="en-US" sz="1700" b="1" dirty="0">
                <a:solidFill>
                  <a:srgbClr val="1B2536"/>
                </a:solidFill>
                <a:latin typeface="Cambria" pitchFamily="34" charset="0"/>
                <a:ea typeface="Cambria" pitchFamily="34" charset="-122"/>
                <a:cs typeface="Cambria" pitchFamily="34" charset="-120"/>
              </a:rPr>
              <a:t>Open the definition</a:t>
            </a:r>
            <a:endParaRPr lang="en-US" sz="1700" dirty="0"/>
          </a:p>
        </p:txBody>
      </p:sp>
      <p:sp>
        <p:nvSpPr>
          <p:cNvPr id="7" name="Text 5"/>
          <p:cNvSpPr txBox="1"/>
          <p:nvPr/>
        </p:nvSpPr>
        <p:spPr>
          <a:xfrm>
            <a:off x="1280160" y="2084832"/>
            <a:ext cx="4617720" cy="548640"/>
          </a:xfrm>
          <a:prstGeom prst="rect">
            <a:avLst/>
          </a:prstGeom>
          <a:noFill/>
          <a:ln/>
        </p:spPr>
        <p:txBody>
          <a:bodyPr wrap="square" lIns="0" tIns="0" rIns="0" bIns="0" rtlCol="0" anchor="t"/>
          <a:lstStyle/>
          <a:p>
            <a:pPr indent="0" marL="0">
              <a:buNone/>
            </a:pPr>
            <a:r>
              <a:rPr lang="en-US" sz="1350" dirty="0">
                <a:solidFill>
                  <a:srgbClr val="3C4A60"/>
                </a:solidFill>
                <a:latin typeface="Calibri" pitchFamily="34" charset="0"/>
                <a:ea typeface="Calibri" pitchFamily="34" charset="-122"/>
                <a:cs typeface="Calibri" pitchFamily="34" charset="-120"/>
              </a:rPr>
              <a:t>Transaction Definitions → DWRS → Edit. Flip Visual Editor ↔ JSON.</a:t>
            </a:r>
            <a:endParaRPr lang="en-US" sz="1350" dirty="0"/>
          </a:p>
        </p:txBody>
      </p:sp>
      <p:sp>
        <p:nvSpPr>
          <p:cNvPr id="8" name="Shape 6"/>
          <p:cNvSpPr/>
          <p:nvPr/>
        </p:nvSpPr>
        <p:spPr>
          <a:xfrm>
            <a:off x="548640" y="2880360"/>
            <a:ext cx="548640" cy="548640"/>
          </a:xfrm>
          <a:prstGeom prst="ellipse">
            <a:avLst/>
          </a:prstGeom>
          <a:solidFill>
            <a:srgbClr val="1B2536"/>
          </a:solidFill>
          <a:ln w="12700">
            <a:solidFill>
              <a:srgbClr val="1B2536"/>
            </a:solidFill>
            <a:prstDash val="solid"/>
          </a:ln>
        </p:spPr>
      </p:sp>
      <p:sp>
        <p:nvSpPr>
          <p:cNvPr id="9" name="Text 7"/>
          <p:cNvSpPr txBox="1"/>
          <p:nvPr/>
        </p:nvSpPr>
        <p:spPr>
          <a:xfrm>
            <a:off x="548640" y="28803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280160" y="2852928"/>
            <a:ext cx="4617720" cy="329184"/>
          </a:xfrm>
          <a:prstGeom prst="rect">
            <a:avLst/>
          </a:prstGeom>
          <a:noFill/>
          <a:ln/>
        </p:spPr>
        <p:txBody>
          <a:bodyPr wrap="square" lIns="0" tIns="0" rIns="0" bIns="0" rtlCol="0" anchor="ctr"/>
          <a:lstStyle/>
          <a:p>
            <a:pPr indent="0" marL="0">
              <a:buNone/>
            </a:pPr>
            <a:r>
              <a:rPr lang="en-US" sz="1700" b="1" dirty="0">
                <a:solidFill>
                  <a:srgbClr val="1B2536"/>
                </a:solidFill>
                <a:latin typeface="Cambria" pitchFamily="34" charset="0"/>
                <a:ea typeface="Cambria" pitchFamily="34" charset="-122"/>
                <a:cs typeface="Cambria" pitchFamily="34" charset="-120"/>
              </a:rPr>
              <a:t>Change a step live</a:t>
            </a:r>
            <a:endParaRPr lang="en-US" sz="1700" dirty="0"/>
          </a:p>
        </p:txBody>
      </p:sp>
      <p:sp>
        <p:nvSpPr>
          <p:cNvPr id="11" name="Text 9"/>
          <p:cNvSpPr txBox="1"/>
          <p:nvPr/>
        </p:nvSpPr>
        <p:spPr>
          <a:xfrm>
            <a:off x="1280160" y="3182112"/>
            <a:ext cx="4617720" cy="548640"/>
          </a:xfrm>
          <a:prstGeom prst="rect">
            <a:avLst/>
          </a:prstGeom>
          <a:noFill/>
          <a:ln/>
        </p:spPr>
        <p:txBody>
          <a:bodyPr wrap="square" lIns="0" tIns="0" rIns="0" bIns="0" rtlCol="0" anchor="t"/>
          <a:lstStyle/>
          <a:p>
            <a:pPr indent="0" marL="0">
              <a:buNone/>
            </a:pPr>
            <a:r>
              <a:rPr lang="en-US" sz="1350" dirty="0">
                <a:solidFill>
                  <a:srgbClr val="3C4A60"/>
                </a:solidFill>
                <a:latin typeface="Calibri" pitchFamily="34" charset="0"/>
                <a:ea typeface="Calibri" pitchFamily="34" charset="-122"/>
                <a:cs typeface="Calibri" pitchFamily="34" charset="-120"/>
              </a:rPr>
              <a:t>Add a field or edit a step title; save. Nothing redeploys.</a:t>
            </a:r>
            <a:endParaRPr lang="en-US" sz="1350" dirty="0"/>
          </a:p>
        </p:txBody>
      </p:sp>
      <p:sp>
        <p:nvSpPr>
          <p:cNvPr id="12" name="Shape 10"/>
          <p:cNvSpPr/>
          <p:nvPr/>
        </p:nvSpPr>
        <p:spPr>
          <a:xfrm>
            <a:off x="548640" y="3977640"/>
            <a:ext cx="548640" cy="548640"/>
          </a:xfrm>
          <a:prstGeom prst="ellipse">
            <a:avLst/>
          </a:prstGeom>
          <a:solidFill>
            <a:srgbClr val="1B2536"/>
          </a:solidFill>
          <a:ln w="12700">
            <a:solidFill>
              <a:srgbClr val="1B2536"/>
            </a:solidFill>
            <a:prstDash val="solid"/>
          </a:ln>
        </p:spPr>
      </p:sp>
      <p:sp>
        <p:nvSpPr>
          <p:cNvPr id="13" name="Text 11"/>
          <p:cNvSpPr txBox="1"/>
          <p:nvPr/>
        </p:nvSpPr>
        <p:spPr>
          <a:xfrm>
            <a:off x="548640" y="3977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1280160" y="3950208"/>
            <a:ext cx="4617720" cy="329184"/>
          </a:xfrm>
          <a:prstGeom prst="rect">
            <a:avLst/>
          </a:prstGeom>
          <a:noFill/>
          <a:ln/>
        </p:spPr>
        <p:txBody>
          <a:bodyPr wrap="square" lIns="0" tIns="0" rIns="0" bIns="0" rtlCol="0" anchor="ctr"/>
          <a:lstStyle/>
          <a:p>
            <a:pPr indent="0" marL="0">
              <a:buNone/>
            </a:pPr>
            <a:r>
              <a:rPr lang="en-US" sz="1700" b="1" dirty="0">
                <a:solidFill>
                  <a:srgbClr val="1B2536"/>
                </a:solidFill>
                <a:latin typeface="Cambria" pitchFamily="34" charset="0"/>
                <a:ea typeface="Cambria" pitchFamily="34" charset="-122"/>
                <a:cs typeface="Cambria" pitchFamily="34" charset="-120"/>
              </a:rPr>
              <a:t>Fill a transaction</a:t>
            </a:r>
            <a:endParaRPr lang="en-US" sz="1700" dirty="0"/>
          </a:p>
        </p:txBody>
      </p:sp>
      <p:sp>
        <p:nvSpPr>
          <p:cNvPr id="15" name="Text 13"/>
          <p:cNvSpPr txBox="1"/>
          <p:nvPr/>
        </p:nvSpPr>
        <p:spPr>
          <a:xfrm>
            <a:off x="1280160" y="4279392"/>
            <a:ext cx="4617720" cy="548640"/>
          </a:xfrm>
          <a:prstGeom prst="rect">
            <a:avLst/>
          </a:prstGeom>
          <a:noFill/>
          <a:ln/>
        </p:spPr>
        <p:txBody>
          <a:bodyPr wrap="square" lIns="0" tIns="0" rIns="0" bIns="0" rtlCol="0" anchor="t"/>
          <a:lstStyle/>
          <a:p>
            <a:pPr indent="0" marL="0">
              <a:buNone/>
            </a:pPr>
            <a:r>
              <a:rPr lang="en-US" sz="1350" dirty="0">
                <a:solidFill>
                  <a:srgbClr val="3C4A60"/>
                </a:solidFill>
                <a:latin typeface="Calibri" pitchFamily="34" charset="0"/>
                <a:ea typeface="Calibri" pitchFamily="34" charset="-122"/>
                <a:cs typeface="Calibri" pitchFamily="34" charset="-120"/>
              </a:rPr>
              <a:t>Transaction Definitions → Create Transaction. Walk the tabs and pick a registration type.</a:t>
            </a:r>
            <a:endParaRPr lang="en-US" sz="1350" dirty="0"/>
          </a:p>
        </p:txBody>
      </p:sp>
      <p:sp>
        <p:nvSpPr>
          <p:cNvPr id="16" name="Shape 14"/>
          <p:cNvSpPr/>
          <p:nvPr/>
        </p:nvSpPr>
        <p:spPr>
          <a:xfrm>
            <a:off x="548640" y="5074920"/>
            <a:ext cx="548640" cy="548640"/>
          </a:xfrm>
          <a:prstGeom prst="ellipse">
            <a:avLst/>
          </a:prstGeom>
          <a:solidFill>
            <a:srgbClr val="1B2536"/>
          </a:solidFill>
          <a:ln w="12700">
            <a:solidFill>
              <a:srgbClr val="1B2536"/>
            </a:solidFill>
            <a:prstDash val="solid"/>
          </a:ln>
        </p:spPr>
      </p:sp>
      <p:sp>
        <p:nvSpPr>
          <p:cNvPr id="17" name="Text 15"/>
          <p:cNvSpPr txBox="1"/>
          <p:nvPr/>
        </p:nvSpPr>
        <p:spPr>
          <a:xfrm>
            <a:off x="548640" y="5074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280160" y="5047488"/>
            <a:ext cx="4617720" cy="329184"/>
          </a:xfrm>
          <a:prstGeom prst="rect">
            <a:avLst/>
          </a:prstGeom>
          <a:noFill/>
          <a:ln/>
        </p:spPr>
        <p:txBody>
          <a:bodyPr wrap="square" lIns="0" tIns="0" rIns="0" bIns="0" rtlCol="0" anchor="ctr"/>
          <a:lstStyle/>
          <a:p>
            <a:pPr indent="0" marL="0">
              <a:buNone/>
            </a:pPr>
            <a:r>
              <a:rPr lang="en-US" sz="1700" b="1" dirty="0">
                <a:solidFill>
                  <a:srgbClr val="1B2536"/>
                </a:solidFill>
                <a:latin typeface="Cambria" pitchFamily="34" charset="0"/>
                <a:ea typeface="Cambria" pitchFamily="34" charset="-122"/>
                <a:cs typeface="Cambria" pitchFamily="34" charset="-120"/>
              </a:rPr>
              <a:t>Trip the validation</a:t>
            </a:r>
            <a:endParaRPr lang="en-US" sz="1700" dirty="0"/>
          </a:p>
        </p:txBody>
      </p:sp>
      <p:sp>
        <p:nvSpPr>
          <p:cNvPr id="19" name="Text 17"/>
          <p:cNvSpPr txBox="1"/>
          <p:nvPr/>
        </p:nvSpPr>
        <p:spPr>
          <a:xfrm>
            <a:off x="1280160" y="5376672"/>
            <a:ext cx="4617720" cy="548640"/>
          </a:xfrm>
          <a:prstGeom prst="rect">
            <a:avLst/>
          </a:prstGeom>
          <a:noFill/>
          <a:ln/>
        </p:spPr>
        <p:txBody>
          <a:bodyPr wrap="square" lIns="0" tIns="0" rIns="0" bIns="0" rtlCol="0" anchor="t"/>
          <a:lstStyle/>
          <a:p>
            <a:pPr indent="0" marL="0">
              <a:buNone/>
            </a:pPr>
            <a:r>
              <a:rPr lang="en-US" sz="1350" dirty="0">
                <a:solidFill>
                  <a:srgbClr val="3C4A60"/>
                </a:solidFill>
                <a:latin typeface="Calibri" pitchFamily="34" charset="0"/>
                <a:ea typeface="Calibri" pitchFamily="34" charset="-122"/>
                <a:cs typeface="Calibri" pitchFamily="34" charset="-120"/>
              </a:rPr>
              <a:t>Enter a 7-digit or alphabetic NWSD ID — the step won’t advance.</a:t>
            </a:r>
            <a:endParaRPr lang="en-US" sz="1350" dirty="0"/>
          </a:p>
        </p:txBody>
      </p:sp>
      <p:sp>
        <p:nvSpPr>
          <p:cNvPr id="20" name="Shape 18"/>
          <p:cNvSpPr/>
          <p:nvPr/>
        </p:nvSpPr>
        <p:spPr>
          <a:xfrm>
            <a:off x="6309360" y="1783080"/>
            <a:ext cx="548640" cy="548640"/>
          </a:xfrm>
          <a:prstGeom prst="ellipse">
            <a:avLst/>
          </a:prstGeom>
          <a:solidFill>
            <a:srgbClr val="E3710A"/>
          </a:solidFill>
          <a:ln w="12700">
            <a:solidFill>
              <a:srgbClr val="E3710A"/>
            </a:solidFill>
            <a:prstDash val="solid"/>
          </a:ln>
        </p:spPr>
      </p:sp>
      <p:sp>
        <p:nvSpPr>
          <p:cNvPr id="21" name="Text 19"/>
          <p:cNvSpPr txBox="1"/>
          <p:nvPr/>
        </p:nvSpPr>
        <p:spPr>
          <a:xfrm>
            <a:off x="630936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2" name="Text 20"/>
          <p:cNvSpPr txBox="1"/>
          <p:nvPr/>
        </p:nvSpPr>
        <p:spPr>
          <a:xfrm>
            <a:off x="7040880" y="1755648"/>
            <a:ext cx="4617720" cy="329184"/>
          </a:xfrm>
          <a:prstGeom prst="rect">
            <a:avLst/>
          </a:prstGeom>
          <a:noFill/>
          <a:ln/>
        </p:spPr>
        <p:txBody>
          <a:bodyPr wrap="square" lIns="0" tIns="0" rIns="0" bIns="0" rtlCol="0" anchor="ctr"/>
          <a:lstStyle/>
          <a:p>
            <a:pPr indent="0" marL="0">
              <a:buNone/>
            </a:pPr>
            <a:r>
              <a:rPr lang="en-US" sz="1700" b="1" dirty="0">
                <a:solidFill>
                  <a:srgbClr val="1B2536"/>
                </a:solidFill>
                <a:latin typeface="Cambria" pitchFamily="34" charset="0"/>
                <a:ea typeface="Cambria" pitchFamily="34" charset="-122"/>
                <a:cs typeface="Cambria" pitchFamily="34" charset="-120"/>
              </a:rPr>
              <a:t>Pay</a:t>
            </a:r>
            <a:endParaRPr lang="en-US" sz="1700" dirty="0"/>
          </a:p>
        </p:txBody>
      </p:sp>
      <p:sp>
        <p:nvSpPr>
          <p:cNvPr id="23" name="Text 21"/>
          <p:cNvSpPr txBox="1"/>
          <p:nvPr/>
        </p:nvSpPr>
        <p:spPr>
          <a:xfrm>
            <a:off x="7040880" y="2084832"/>
            <a:ext cx="4617720" cy="548640"/>
          </a:xfrm>
          <a:prstGeom prst="rect">
            <a:avLst/>
          </a:prstGeom>
          <a:noFill/>
          <a:ln/>
        </p:spPr>
        <p:txBody>
          <a:bodyPr wrap="square" lIns="0" tIns="0" rIns="0" bIns="0" rtlCol="0" anchor="t"/>
          <a:lstStyle/>
          <a:p>
            <a:pPr indent="0" marL="0">
              <a:buNone/>
            </a:pPr>
            <a:r>
              <a:rPr lang="en-US" sz="1350" dirty="0">
                <a:solidFill>
                  <a:srgbClr val="3C4A60"/>
                </a:solidFill>
                <a:latin typeface="Calibri" pitchFamily="34" charset="0"/>
                <a:ea typeface="Calibri" pitchFamily="34" charset="-122"/>
                <a:cs typeface="Calibri" pitchFamily="34" charset="-120"/>
              </a:rPr>
              <a:t>Use “pay banana”: confirm $50.00 → Stripe Checkout with test card 4242 4242 4242 4242.</a:t>
            </a:r>
            <a:endParaRPr lang="en-US" sz="1350" dirty="0"/>
          </a:p>
        </p:txBody>
      </p:sp>
      <p:sp>
        <p:nvSpPr>
          <p:cNvPr id="24" name="Shape 22"/>
          <p:cNvSpPr/>
          <p:nvPr/>
        </p:nvSpPr>
        <p:spPr>
          <a:xfrm>
            <a:off x="6309360" y="2880360"/>
            <a:ext cx="548640" cy="548640"/>
          </a:xfrm>
          <a:prstGeom prst="ellipse">
            <a:avLst/>
          </a:prstGeom>
          <a:solidFill>
            <a:srgbClr val="1B2536"/>
          </a:solidFill>
          <a:ln w="12700">
            <a:solidFill>
              <a:srgbClr val="1B2536"/>
            </a:solidFill>
            <a:prstDash val="solid"/>
          </a:ln>
        </p:spPr>
      </p:sp>
      <p:sp>
        <p:nvSpPr>
          <p:cNvPr id="25" name="Text 23"/>
          <p:cNvSpPr txBox="1"/>
          <p:nvPr/>
        </p:nvSpPr>
        <p:spPr>
          <a:xfrm>
            <a:off x="6309360" y="28803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26" name="Text 24"/>
          <p:cNvSpPr txBox="1"/>
          <p:nvPr/>
        </p:nvSpPr>
        <p:spPr>
          <a:xfrm>
            <a:off x="7040880" y="2852928"/>
            <a:ext cx="4617720" cy="329184"/>
          </a:xfrm>
          <a:prstGeom prst="rect">
            <a:avLst/>
          </a:prstGeom>
          <a:noFill/>
          <a:ln/>
        </p:spPr>
        <p:txBody>
          <a:bodyPr wrap="square" lIns="0" tIns="0" rIns="0" bIns="0" rtlCol="0" anchor="ctr"/>
          <a:lstStyle/>
          <a:p>
            <a:pPr indent="0" marL="0">
              <a:buNone/>
            </a:pPr>
            <a:r>
              <a:rPr lang="en-US" sz="1700" b="1" dirty="0">
                <a:solidFill>
                  <a:srgbClr val="1B2536"/>
                </a:solidFill>
                <a:latin typeface="Cambria" pitchFamily="34" charset="0"/>
                <a:ea typeface="Cambria" pitchFamily="34" charset="-122"/>
                <a:cs typeface="Cambria" pitchFamily="34" charset="-120"/>
              </a:rPr>
              <a:t>Watch the hand-off</a:t>
            </a:r>
            <a:endParaRPr lang="en-US" sz="1700" dirty="0"/>
          </a:p>
        </p:txBody>
      </p:sp>
      <p:sp>
        <p:nvSpPr>
          <p:cNvPr id="27" name="Text 25"/>
          <p:cNvSpPr txBox="1"/>
          <p:nvPr/>
        </p:nvSpPr>
        <p:spPr>
          <a:xfrm>
            <a:off x="7040880" y="3182112"/>
            <a:ext cx="4617720" cy="548640"/>
          </a:xfrm>
          <a:prstGeom prst="rect">
            <a:avLst/>
          </a:prstGeom>
          <a:noFill/>
          <a:ln/>
        </p:spPr>
        <p:txBody>
          <a:bodyPr wrap="square" lIns="0" tIns="0" rIns="0" bIns="0" rtlCol="0" anchor="t"/>
          <a:lstStyle/>
          <a:p>
            <a:pPr indent="0" marL="0">
              <a:buNone/>
            </a:pPr>
            <a:r>
              <a:rPr lang="en-US" sz="1350" dirty="0">
                <a:solidFill>
                  <a:srgbClr val="3C4A60"/>
                </a:solidFill>
                <a:latin typeface="Calibri" pitchFamily="34" charset="0"/>
                <a:ea typeface="Calibri" pitchFamily="34" charset="-122"/>
                <a:cs typeface="Calibri" pitchFamily="34" charset="-120"/>
              </a:rPr>
              <a:t>Status flips to complete; webhook payload lands at the webhook URL.</a:t>
            </a:r>
            <a:endParaRPr lang="en-US" sz="1350" dirty="0"/>
          </a:p>
        </p:txBody>
      </p:sp>
      <p:sp>
        <p:nvSpPr>
          <p:cNvPr id="28" name="Shape 26"/>
          <p:cNvSpPr/>
          <p:nvPr/>
        </p:nvSpPr>
        <p:spPr>
          <a:xfrm>
            <a:off x="6309360" y="3977640"/>
            <a:ext cx="548640" cy="548640"/>
          </a:xfrm>
          <a:prstGeom prst="ellipse">
            <a:avLst/>
          </a:prstGeom>
          <a:solidFill>
            <a:srgbClr val="1B2536"/>
          </a:solidFill>
          <a:ln w="12700">
            <a:solidFill>
              <a:srgbClr val="1B2536"/>
            </a:solidFill>
            <a:prstDash val="solid"/>
          </a:ln>
        </p:spPr>
      </p:sp>
      <p:sp>
        <p:nvSpPr>
          <p:cNvPr id="29" name="Text 27"/>
          <p:cNvSpPr txBox="1"/>
          <p:nvPr/>
        </p:nvSpPr>
        <p:spPr>
          <a:xfrm>
            <a:off x="6309360" y="3977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7</a:t>
            </a:r>
            <a:endParaRPr lang="en-US" sz="1800" dirty="0"/>
          </a:p>
        </p:txBody>
      </p:sp>
      <p:sp>
        <p:nvSpPr>
          <p:cNvPr id="30" name="Text 28"/>
          <p:cNvSpPr txBox="1"/>
          <p:nvPr/>
        </p:nvSpPr>
        <p:spPr>
          <a:xfrm>
            <a:off x="7040880" y="3950208"/>
            <a:ext cx="4617720" cy="329184"/>
          </a:xfrm>
          <a:prstGeom prst="rect">
            <a:avLst/>
          </a:prstGeom>
          <a:noFill/>
          <a:ln/>
        </p:spPr>
        <p:txBody>
          <a:bodyPr wrap="square" lIns="0" tIns="0" rIns="0" bIns="0" rtlCol="0" anchor="ctr"/>
          <a:lstStyle/>
          <a:p>
            <a:pPr indent="0" marL="0">
              <a:buNone/>
            </a:pPr>
            <a:r>
              <a:rPr lang="en-US" sz="1700" b="1" dirty="0">
                <a:solidFill>
                  <a:srgbClr val="1B2536"/>
                </a:solidFill>
                <a:latin typeface="Cambria" pitchFamily="34" charset="0"/>
                <a:ea typeface="Cambria" pitchFamily="34" charset="-122"/>
                <a:cs typeface="Cambria" pitchFamily="34" charset="-120"/>
              </a:rPr>
              <a:t>Pull the data</a:t>
            </a:r>
            <a:endParaRPr lang="en-US" sz="1700" dirty="0"/>
          </a:p>
        </p:txBody>
      </p:sp>
      <p:sp>
        <p:nvSpPr>
          <p:cNvPr id="31" name="Text 29"/>
          <p:cNvSpPr txBox="1"/>
          <p:nvPr/>
        </p:nvSpPr>
        <p:spPr>
          <a:xfrm>
            <a:off x="7040880" y="4279392"/>
            <a:ext cx="4617720" cy="548640"/>
          </a:xfrm>
          <a:prstGeom prst="rect">
            <a:avLst/>
          </a:prstGeom>
          <a:noFill/>
          <a:ln/>
        </p:spPr>
        <p:txBody>
          <a:bodyPr wrap="square" lIns="0" tIns="0" rIns="0" bIns="0" rtlCol="0" anchor="t"/>
          <a:lstStyle/>
          <a:p>
            <a:pPr indent="0" marL="0">
              <a:buNone/>
            </a:pPr>
            <a:r>
              <a:rPr lang="en-US" sz="1350" dirty="0">
                <a:solidFill>
                  <a:srgbClr val="3C4A60"/>
                </a:solidFill>
                <a:latin typeface="Calibri" pitchFamily="34" charset="0"/>
                <a:ea typeface="Calibri" pitchFamily="34" charset="-122"/>
                <a:cs typeface="Calibri" pitchFamily="34" charset="-120"/>
              </a:rPr>
              <a:t>Run the curl recipes with your API key — the new record is there, ready for CSV.</a:t>
            </a:r>
          </a:p>
        </p:txBody>
      </p:sp>
      <p:sp>
        <p:nvSpPr>
          <p:cNvPr id="32" name="Shape 30"/>
          <p:cNvSpPr/>
          <p:nvPr/>
        </p:nvSpPr>
        <p:spPr>
          <a:xfrm>
            <a:off x="6309360" y="5029200"/>
            <a:ext cx="5349240" cy="960120"/>
          </a:xfrm>
          <a:prstGeom prst="roundRect">
            <a:avLst>
              <a:gd name="adj" fmla="val 7619"/>
            </a:avLst>
          </a:prstGeom>
          <a:solidFill>
            <a:srgbClr val="FDF1E6"/>
          </a:solidFill>
          <a:ln w="9525">
            <a:solidFill>
              <a:srgbClr val="E2E5EA"/>
            </a:solidFill>
            <a:prstDash val="solid"/>
          </a:ln>
          <a:effectLst>
            <a:outerShdw sx="100000" sy="100000" kx="0" ky="0" algn="bl" rotWithShape="0" blurRad="76200" dist="25400" dir="5400000">
              <a:srgbClr val="000000">
                <a:alpha val="8000"/>
              </a:srgbClr>
            </a:outerShdw>
          </a:effectLst>
        </p:spPr>
      </p:sp>
      <p:sp>
        <p:nvSpPr>
          <p:cNvPr id="33" name="Text 31"/>
          <p:cNvSpPr txBox="1"/>
          <p:nvPr/>
        </p:nvSpPr>
        <p:spPr>
          <a:xfrm>
            <a:off x="6537960" y="5120640"/>
            <a:ext cx="4892040" cy="777240"/>
          </a:xfrm>
          <a:prstGeom prst="rect">
            <a:avLst/>
          </a:prstGeom>
          <a:noFill/>
          <a:ln/>
        </p:spPr>
        <p:txBody>
          <a:bodyPr wrap="square" lIns="0" tIns="0" rIns="0" bIns="0" rtlCol="0" anchor="ctr"/>
          <a:lstStyle/>
          <a:p>
            <a:pPr indent="0" marL="0">
              <a:buNone/>
            </a:pPr>
            <a:r>
              <a:rPr lang="en-US" sz="1300" b="1" dirty="0">
                <a:solidFill>
                  <a:srgbClr val="9D5B00"/>
                </a:solidFill>
                <a:latin typeface="Calibri" pitchFamily="34" charset="0"/>
                <a:ea typeface="Calibri" pitchFamily="34" charset="-122"/>
                <a:cs typeface="Calibri" pitchFamily="34" charset="-120"/>
              </a:rPr>
              <a:t>Tip: </a:t>
            </a:r>
            <a:pPr indent="0" marL="0">
              <a:buNone/>
            </a:pPr>
            <a:r>
              <a:rPr lang="en-US" sz="1300" dirty="0">
                <a:solidFill>
                  <a:srgbClr val="3C4A60"/>
                </a:solidFill>
                <a:latin typeface="Calibri" pitchFamily="34" charset="0"/>
                <a:ea typeface="Calibri" pitchFamily="34" charset="-122"/>
                <a:cs typeface="Calibri" pitchFamily="34" charset="-120"/>
              </a:rPr>
              <a:t>point webhook_url at a request inspector (e.g. webhook.site) so the audience sees the push arrive live.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F4F4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Before you present</a:t>
            </a:r>
            <a:endParaRPr lang="en-US" sz="3600" dirty="0"/>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Local environment checklist</a:t>
            </a:r>
            <a:endParaRPr lang="en-US" sz="1600" dirty="0"/>
          </a:p>
        </p:txBody>
      </p:sp>
      <p:sp>
        <p:nvSpPr>
          <p:cNvPr id="4" name="Shape 2"/>
          <p:cNvSpPr/>
          <p:nvPr/>
        </p:nvSpPr>
        <p:spPr>
          <a:xfrm>
            <a:off x="548640" y="1737360"/>
            <a:ext cx="6400800" cy="3931920"/>
          </a:xfrm>
          <a:prstGeom prst="roundRect">
            <a:avLst>
              <a:gd name="adj" fmla="val 1860"/>
            </a:avLst>
          </a:prstGeom>
          <a:solidFill>
            <a:srgbClr val="0F1623"/>
          </a:solidFill>
          <a:ln w="12700">
            <a:solidFill>
              <a:srgbClr val="0F1623"/>
            </a:solidFill>
            <a:prstDash val="solid"/>
          </a:ln>
        </p:spPr>
      </p:sp>
      <p:sp>
        <p:nvSpPr>
          <p:cNvPr id="5" name="Text 3"/>
          <p:cNvSpPr txBox="1"/>
          <p:nvPr/>
        </p:nvSpPr>
        <p:spPr>
          <a:xfrm>
            <a:off x="777240" y="1920240"/>
            <a:ext cx="5943600" cy="3611880"/>
          </a:xfrm>
          <a:prstGeom prst="rect">
            <a:avLst/>
          </a:prstGeom>
          <a:noFill/>
          <a:ln/>
        </p:spPr>
        <p:txBody>
          <a:bodyPr wrap="square" lIns="0" tIns="0" rIns="0" bIns="0" rtlCol="0" anchor="t"/>
          <a:lstStyle/>
          <a:p>
            <a:pPr indent="0" marL="0">
              <a:buNone/>
            </a:pPr>
            <a:r>
              <a:rPr lang="en-US" sz="1300" dirty="0">
                <a:solidFill>
                  <a:srgbClr val="6A7A92"/>
                </a:solidFill>
                <a:latin typeface="Courier New" pitchFamily="34" charset="0"/>
                <a:ea typeface="Courier New" pitchFamily="34" charset="-122"/>
                <a:cs typeface="Courier New" pitchFamily="34" charset="-120"/>
              </a:rPr>
              <a:t># 1. Start the stack (client :8081, server :5050, mongo)</a:t>
            </a:r>
          </a:p>
          <a:p>
            <a:pPr indent="0" marL="0">
              <a:buNone/>
            </a:pPr>
            <a:r>
              <a:rPr lang="en-US" sz="1300" dirty="0">
                <a:solidFill>
                  <a:srgbClr val="D6DEEB"/>
                </a:solidFill>
                <a:latin typeface="Courier New" pitchFamily="34" charset="0"/>
                <a:ea typeface="Courier New" pitchFamily="34" charset="-122"/>
                <a:cs typeface="Courier New" pitchFamily="34" charset="-120"/>
              </a:rPr>
              <a:t>docker compose up --build</a:t>
            </a:r>
          </a:p>
          <a:p>
            <a:pPr indent="0" marL="0">
              <a:buNone/>
            </a:pPr>
            <a:endParaRPr lang="en-US" sz="1300" dirty="0">
              <a:solidFill>
                <a:srgbClr val="6A7A92"/>
              </a:solidFill>
              <a:latin typeface="Courier New" pitchFamily="34" charset="0"/>
              <a:ea typeface="Courier New" pitchFamily="34" charset="-122"/>
              <a:cs typeface="Courier New" pitchFamily="34" charset="-120"/>
            </a:endParaRPr>
          </a:p>
          <a:p>
            <a:pPr indent="0" marL="0">
              <a:buNone/>
            </a:pPr>
            <a:r>
              <a:rPr lang="en-US" sz="1300" dirty="0">
                <a:solidFill>
                  <a:srgbClr val="6A7A92"/>
                </a:solidFill>
                <a:latin typeface="Courier New" pitchFamily="34" charset="0"/>
                <a:ea typeface="Courier New" pitchFamily="34" charset="-122"/>
                <a:cs typeface="Courier New" pitchFamily="34" charset="-120"/>
              </a:rPr>
              <a:t># 2. Load the demo data (first run only)</a:t>
            </a:r>
          </a:p>
          <a:p>
            <a:pPr indent="0" marL="0">
              <a:buNone/>
            </a:pPr>
            <a:r>
              <a:rPr lang="en-US" sz="1300" dirty="0">
                <a:solidFill>
                  <a:srgbClr val="D6DEEB"/>
                </a:solidFill>
                <a:latin typeface="Courier New" pitchFamily="34" charset="0"/>
                <a:ea typeface="Courier New" pitchFamily="34" charset="-122"/>
                <a:cs typeface="Courier New" pitchFamily="34" charset="-120"/>
              </a:rPr>
              <a:t>docker compose exec mongo \</a:t>
            </a:r>
          </a:p>
          <a:p>
            <a:pPr indent="0" marL="0">
              <a:buNone/>
            </a:pPr>
            <a:r>
              <a:rPr lang="en-US" sz="1300" dirty="0">
                <a:solidFill>
                  <a:srgbClr val="D6DEEB"/>
                </a:solidFill>
                <a:latin typeface="Courier New" pitchFamily="34" charset="0"/>
                <a:ea typeface="Courier New" pitchFamily="34" charset="-122"/>
                <a:cs typeface="Courier New" pitchFamily="34" charset="-120"/>
              </a:rPr>
              <a:t xml:space="preserve">  mongorestore --noOptionsRestore --gzip /dump</a:t>
            </a:r>
          </a:p>
          <a:p>
            <a:pPr indent="0" marL="0">
              <a:buNone/>
            </a:pPr>
            <a:endParaRPr lang="en-US" sz="1300" dirty="0">
              <a:solidFill>
                <a:srgbClr val="6A7A92"/>
              </a:solidFill>
              <a:latin typeface="Courier New" pitchFamily="34" charset="0"/>
              <a:ea typeface="Courier New" pitchFamily="34" charset="-122"/>
              <a:cs typeface="Courier New" pitchFamily="34" charset="-120"/>
            </a:endParaRPr>
          </a:p>
          <a:p>
            <a:pPr indent="0" marL="0">
              <a:buNone/>
            </a:pPr>
            <a:r>
              <a:rPr lang="en-US" sz="1300" dirty="0">
                <a:solidFill>
                  <a:srgbClr val="6A7A92"/>
                </a:solidFill>
                <a:latin typeface="Courier New" pitchFamily="34" charset="0"/>
                <a:ea typeface="Courier New" pitchFamily="34" charset="-122"/>
                <a:cs typeface="Courier New" pitchFamily="34" charset="-120"/>
              </a:rPr>
              <a:t># 3. Forward Stripe events (separate terminal)</a:t>
            </a:r>
          </a:p>
          <a:p>
            <a:pPr indent="0" marL="0">
              <a:buNone/>
            </a:pPr>
            <a:r>
              <a:rPr lang="en-US" sz="1300" dirty="0">
                <a:solidFill>
                  <a:srgbClr val="D6DEEB"/>
                </a:solidFill>
                <a:latin typeface="Courier New" pitchFamily="34" charset="0"/>
                <a:ea typeface="Courier New" pitchFamily="34" charset="-122"/>
                <a:cs typeface="Courier New" pitchFamily="34" charset="-120"/>
              </a:rPr>
              <a:t>stripe listen --forward-to \</a:t>
            </a:r>
          </a:p>
          <a:p>
            <a:pPr indent="0" marL="0">
              <a:buNone/>
            </a:pPr>
            <a:r>
              <a:rPr lang="en-US" sz="1300" dirty="0">
                <a:solidFill>
                  <a:srgbClr val="D6DEEB"/>
                </a:solidFill>
                <a:latin typeface="Courier New" pitchFamily="34" charset="0"/>
                <a:ea typeface="Courier New" pitchFamily="34" charset="-122"/>
                <a:cs typeface="Courier New" pitchFamily="34" charset="-120"/>
              </a:rPr>
              <a:t xml:space="preserve">  localhost:5050/payment/webhook</a:t>
            </a:r>
          </a:p>
          <a:p>
            <a:pPr indent="0" marL="0">
              <a:buNone/>
            </a:pPr>
            <a:endParaRPr lang="en-US" sz="1300" dirty="0">
              <a:solidFill>
                <a:srgbClr val="6A7A92"/>
              </a:solidFill>
              <a:latin typeface="Courier New" pitchFamily="34" charset="0"/>
              <a:ea typeface="Courier New" pitchFamily="34" charset="-122"/>
              <a:cs typeface="Courier New" pitchFamily="34" charset="-120"/>
            </a:endParaRPr>
          </a:p>
          <a:p>
            <a:pPr indent="0" marL="0">
              <a:buNone/>
            </a:pPr>
            <a:r>
              <a:rPr lang="en-US" sz="1300" dirty="0">
                <a:solidFill>
                  <a:srgbClr val="6A7A92"/>
                </a:solidFill>
                <a:latin typeface="Courier New" pitchFamily="34" charset="0"/>
                <a:ea typeface="Courier New" pitchFamily="34" charset="-122"/>
                <a:cs typeface="Courier New" pitchFamily="34" charset="-120"/>
              </a:rPr>
              <a:t># 4. Issue an API key for the curl recipes / MCP</a:t>
            </a:r>
          </a:p>
          <a:p>
            <a:pPr indent="0" marL="0">
              <a:buNone/>
            </a:pPr>
            <a:r>
              <a:rPr lang="en-US" sz="1300" dirty="0">
                <a:solidFill>
                  <a:srgbClr val="D6DEEB"/>
                </a:solidFill>
                <a:latin typeface="Courier New" pitchFamily="34" charset="0"/>
                <a:ea typeface="Courier New" pitchFamily="34" charset="-122"/>
                <a:cs typeface="Courier New" pitchFamily="34" charset="-120"/>
              </a:rPr>
              <a:t>docker compose exec server node \</a:t>
            </a:r>
          </a:p>
          <a:p>
            <a:pPr indent="0" marL="0">
              <a:buNone/>
            </a:pPr>
            <a:r>
              <a:rPr lang="en-US" sz="1300" dirty="0">
                <a:solidFill>
                  <a:srgbClr val="D6DEEB"/>
                </a:solidFill>
                <a:latin typeface="Courier New" pitchFamily="34" charset="0"/>
                <a:ea typeface="Courier New" pitchFamily="34" charset="-122"/>
                <a:cs typeface="Courier New" pitchFamily="34" charset="-120"/>
              </a:rPr>
              <a:t xml:space="preserve">  scripts/create-api-key.js --name </a:t>
            </a:r>
            <a:r>
              <a:rPr lang="en-US" sz="1300" dirty="0">
                <a:solidFill>
                  <a:srgbClr val="9CDCFE"/>
                </a:solidFill>
                <a:latin typeface="Courier New" pitchFamily="34" charset="0"/>
                <a:ea typeface="Courier New" pitchFamily="34" charset="-122"/>
                <a:cs typeface="Courier New" pitchFamily="34" charset="-120"/>
              </a:rPr>
              <a:t>"Demo"</a:t>
            </a:r>
          </a:p>
        </p:txBody>
      </p:sp>
      <p:sp>
        <p:nvSpPr>
          <p:cNvPr id="6" name="Shape 4"/>
          <p:cNvSpPr/>
          <p:nvPr/>
        </p:nvSpPr>
        <p:spPr>
          <a:xfrm>
            <a:off x="7315200" y="1783080"/>
            <a:ext cx="411480" cy="411480"/>
          </a:xfrm>
          <a:prstGeom prst="ellipse">
            <a:avLst/>
          </a:prstGeom>
          <a:solidFill>
            <a:srgbClr val="E3710A"/>
          </a:solidFill>
          <a:ln w="12700">
            <a:solidFill>
              <a:srgbClr val="E3710A"/>
            </a:solidFill>
            <a:prstDash val="solid"/>
          </a:ln>
        </p:spPr>
      </p:sp>
      <p:pic>
        <p:nvPicPr>
          <p:cNvPr id="7" name="Image 0" descr="preencoded.png">    </p:cNvPr>
          <p:cNvPicPr>
            <a:picLocks noChangeAspect="1"/>
          </p:cNvPicPr>
          <p:nvPr/>
        </p:nvPicPr>
        <p:blipFill>
          <a:blip r:embed="rId1"/>
          <a:stretch>
            <a:fillRect/>
          </a:stretch>
        </p:blipFill>
        <p:spPr>
          <a:xfrm>
            <a:off x="7422185" y="1890065"/>
            <a:ext cx="197510" cy="197510"/>
          </a:xfrm>
          <a:prstGeom prst="rect">
            <a:avLst/>
          </a:prstGeom>
        </p:spPr>
      </p:pic>
      <p:sp>
        <p:nvSpPr>
          <p:cNvPr id="8" name="Text 5"/>
          <p:cNvSpPr txBox="1"/>
          <p:nvPr/>
        </p:nvSpPr>
        <p:spPr>
          <a:xfrm>
            <a:off x="7909560" y="1737360"/>
            <a:ext cx="3733495" cy="685800"/>
          </a:xfrm>
          <a:prstGeom prst="rect">
            <a:avLst/>
          </a:prstGeom>
          <a:noFill/>
          <a:ln/>
        </p:spPr>
        <p:txBody>
          <a:bodyPr wrap="square" lIns="0" tIns="0" rIns="0" bIns="0" rtlCol="0" anchor="t"/>
          <a:lstStyle/>
          <a:p>
            <a:pPr indent="0" marL="0">
              <a:buNone/>
            </a:pPr>
            <a:r>
              <a:rPr lang="en-US" sz="1400" dirty="0">
                <a:solidFill>
                  <a:srgbClr val="3C4A60"/>
                </a:solidFill>
                <a:latin typeface="Calibri" pitchFamily="34" charset="0"/>
                <a:ea typeface="Calibri" pitchFamily="34" charset="-122"/>
                <a:cs typeface="Calibri" pitchFamily="34" charset="-120"/>
              </a:rPr>
              <a:t>.env has STRIPE_SECRET_KEY (test) and STRIPE_WEBHOOK_SECRET from stripe listen</a:t>
            </a:r>
            <a:endParaRPr lang="en-US" sz="1400" dirty="0"/>
          </a:p>
        </p:txBody>
      </p:sp>
      <p:sp>
        <p:nvSpPr>
          <p:cNvPr id="9" name="Shape 6"/>
          <p:cNvSpPr/>
          <p:nvPr/>
        </p:nvSpPr>
        <p:spPr>
          <a:xfrm>
            <a:off x="7315200" y="2569464"/>
            <a:ext cx="411480" cy="411480"/>
          </a:xfrm>
          <a:prstGeom prst="ellipse">
            <a:avLst/>
          </a:prstGeom>
          <a:solidFill>
            <a:srgbClr val="E3710A"/>
          </a:solidFill>
          <a:ln w="12700">
            <a:solidFill>
              <a:srgbClr val="E3710A"/>
            </a:solidFill>
            <a:prstDash val="solid"/>
          </a:ln>
        </p:spPr>
      </p:sp>
      <p:pic>
        <p:nvPicPr>
          <p:cNvPr id="10" name="Image 1" descr="preencoded.png">    </p:cNvPr>
          <p:cNvPicPr>
            <a:picLocks noChangeAspect="1"/>
          </p:cNvPicPr>
          <p:nvPr/>
        </p:nvPicPr>
        <p:blipFill>
          <a:blip r:embed="rId2"/>
          <a:stretch>
            <a:fillRect/>
          </a:stretch>
        </p:blipFill>
        <p:spPr>
          <a:xfrm>
            <a:off x="7422185" y="2676449"/>
            <a:ext cx="197510" cy="197510"/>
          </a:xfrm>
          <a:prstGeom prst="rect">
            <a:avLst/>
          </a:prstGeom>
        </p:spPr>
      </p:pic>
      <p:sp>
        <p:nvSpPr>
          <p:cNvPr id="11" name="Text 7"/>
          <p:cNvSpPr txBox="1"/>
          <p:nvPr/>
        </p:nvSpPr>
        <p:spPr>
          <a:xfrm>
            <a:off x="7909560" y="2523744"/>
            <a:ext cx="3733495" cy="685800"/>
          </a:xfrm>
          <a:prstGeom prst="rect">
            <a:avLst/>
          </a:prstGeom>
          <a:noFill/>
          <a:ln/>
        </p:spPr>
        <p:txBody>
          <a:bodyPr wrap="square" lIns="0" tIns="0" rIns="0" bIns="0" rtlCol="0" anchor="t"/>
          <a:lstStyle/>
          <a:p>
            <a:pPr indent="0" marL="0">
              <a:buNone/>
            </a:pPr>
            <a:r>
              <a:rPr lang="en-US" sz="1400" dirty="0">
                <a:solidFill>
                  <a:srgbClr val="3C4A60"/>
                </a:solidFill>
                <a:latin typeface="Calibri" pitchFamily="34" charset="0"/>
                <a:ea typeface="Calibri" pitchFamily="34" charset="-122"/>
                <a:cs typeface="Calibri" pitchFamily="34" charset="-120"/>
              </a:rPr>
              <a:t>DWRS definition has a payment step and webhook_url set</a:t>
            </a:r>
            <a:endParaRPr lang="en-US" sz="1400" dirty="0"/>
          </a:p>
        </p:txBody>
      </p:sp>
      <p:sp>
        <p:nvSpPr>
          <p:cNvPr id="12" name="Shape 8"/>
          <p:cNvSpPr/>
          <p:nvPr/>
        </p:nvSpPr>
        <p:spPr>
          <a:xfrm>
            <a:off x="7315200" y="3355848"/>
            <a:ext cx="411480" cy="411480"/>
          </a:xfrm>
          <a:prstGeom prst="ellipse">
            <a:avLst/>
          </a:prstGeom>
          <a:solidFill>
            <a:srgbClr val="E3710A"/>
          </a:solidFill>
          <a:ln w="12700">
            <a:solidFill>
              <a:srgbClr val="E3710A"/>
            </a:solidFill>
            <a:prstDash val="solid"/>
          </a:ln>
        </p:spPr>
      </p:sp>
      <p:pic>
        <p:nvPicPr>
          <p:cNvPr id="13" name="Image 2" descr="preencoded.png">    </p:cNvPr>
          <p:cNvPicPr>
            <a:picLocks noChangeAspect="1"/>
          </p:cNvPicPr>
          <p:nvPr/>
        </p:nvPicPr>
        <p:blipFill>
          <a:blip r:embed="rId3"/>
          <a:stretch>
            <a:fillRect/>
          </a:stretch>
        </p:blipFill>
        <p:spPr>
          <a:xfrm>
            <a:off x="7422185" y="3462833"/>
            <a:ext cx="197510" cy="197510"/>
          </a:xfrm>
          <a:prstGeom prst="rect">
            <a:avLst/>
          </a:prstGeom>
        </p:spPr>
      </p:pic>
      <p:sp>
        <p:nvSpPr>
          <p:cNvPr id="14" name="Text 9"/>
          <p:cNvSpPr txBox="1"/>
          <p:nvPr/>
        </p:nvSpPr>
        <p:spPr>
          <a:xfrm>
            <a:off x="7909560" y="3310128"/>
            <a:ext cx="3733495" cy="685800"/>
          </a:xfrm>
          <a:prstGeom prst="rect">
            <a:avLst/>
          </a:prstGeom>
          <a:noFill/>
          <a:ln/>
        </p:spPr>
        <p:txBody>
          <a:bodyPr wrap="square" lIns="0" tIns="0" rIns="0" bIns="0" rtlCol="0" anchor="t"/>
          <a:lstStyle/>
          <a:p>
            <a:pPr indent="0" marL="0">
              <a:buNone/>
            </a:pPr>
            <a:r>
              <a:rPr lang="en-US" sz="1400" dirty="0">
                <a:solidFill>
                  <a:srgbClr val="3C4A60"/>
                </a:solidFill>
                <a:latin typeface="Calibri" pitchFamily="34" charset="0"/>
                <a:ea typeface="Calibri" pitchFamily="34" charset="-122"/>
                <a:cs typeface="Calibri" pitchFamily="34" charset="-120"/>
              </a:rPr>
              <a:t>Webhook inspector open in a browser tab</a:t>
            </a:r>
            <a:endParaRPr lang="en-US" sz="1400" dirty="0"/>
          </a:p>
        </p:txBody>
      </p:sp>
      <p:sp>
        <p:nvSpPr>
          <p:cNvPr id="15" name="Shape 10"/>
          <p:cNvSpPr/>
          <p:nvPr/>
        </p:nvSpPr>
        <p:spPr>
          <a:xfrm>
            <a:off x="7315200" y="4142232"/>
            <a:ext cx="411480" cy="411480"/>
          </a:xfrm>
          <a:prstGeom prst="ellipse">
            <a:avLst/>
          </a:prstGeom>
          <a:solidFill>
            <a:srgbClr val="E3710A"/>
          </a:solidFill>
          <a:ln w="12700">
            <a:solidFill>
              <a:srgbClr val="E3710A"/>
            </a:solidFill>
            <a:prstDash val="solid"/>
          </a:ln>
        </p:spPr>
      </p:sp>
      <p:pic>
        <p:nvPicPr>
          <p:cNvPr id="16" name="Image 3" descr="preencoded.png">    </p:cNvPr>
          <p:cNvPicPr>
            <a:picLocks noChangeAspect="1"/>
          </p:cNvPicPr>
          <p:nvPr/>
        </p:nvPicPr>
        <p:blipFill>
          <a:blip r:embed="rId4"/>
          <a:stretch>
            <a:fillRect/>
          </a:stretch>
        </p:blipFill>
        <p:spPr>
          <a:xfrm>
            <a:off x="7422185" y="4249217"/>
            <a:ext cx="197510" cy="197510"/>
          </a:xfrm>
          <a:prstGeom prst="rect">
            <a:avLst/>
          </a:prstGeom>
        </p:spPr>
      </p:pic>
      <p:sp>
        <p:nvSpPr>
          <p:cNvPr id="17" name="Text 11"/>
          <p:cNvSpPr txBox="1"/>
          <p:nvPr/>
        </p:nvSpPr>
        <p:spPr>
          <a:xfrm>
            <a:off x="7909560" y="4096512"/>
            <a:ext cx="3733495" cy="685800"/>
          </a:xfrm>
          <a:prstGeom prst="rect">
            <a:avLst/>
          </a:prstGeom>
          <a:noFill/>
          <a:ln/>
        </p:spPr>
        <p:txBody>
          <a:bodyPr wrap="square" lIns="0" tIns="0" rIns="0" bIns="0" rtlCol="0" anchor="t"/>
          <a:lstStyle/>
          <a:p>
            <a:pPr indent="0" marL="0">
              <a:buNone/>
            </a:pPr>
            <a:r>
              <a:rPr lang="en-US" sz="1400" dirty="0">
                <a:solidFill>
                  <a:srgbClr val="3C4A60"/>
                </a:solidFill>
                <a:latin typeface="Calibri" pitchFamily="34" charset="0"/>
                <a:ea typeface="Calibri" pitchFamily="34" charset="-122"/>
                <a:cs typeface="Calibri" pitchFamily="34" charset="-120"/>
              </a:rPr>
              <a:t>Terminal ready with API, ID and KEY set for the curl recipes (jq installed)</a:t>
            </a:r>
          </a:p>
        </p:txBody>
      </p:sp>
      <p:sp>
        <p:nvSpPr>
          <p:cNvPr id="18" name="Shape 12"/>
          <p:cNvSpPr/>
          <p:nvPr/>
        </p:nvSpPr>
        <p:spPr>
          <a:xfrm>
            <a:off x="7315200" y="4928616"/>
            <a:ext cx="411480" cy="411480"/>
          </a:xfrm>
          <a:prstGeom prst="ellipse">
            <a:avLst/>
          </a:prstGeom>
          <a:solidFill>
            <a:srgbClr val="E3710A"/>
          </a:solidFill>
          <a:ln w="12700">
            <a:solidFill>
              <a:srgbClr val="E3710A"/>
            </a:solidFill>
            <a:prstDash val="solid"/>
          </a:ln>
        </p:spPr>
      </p:sp>
      <p:pic>
        <p:nvPicPr>
          <p:cNvPr id="19" name="Image 4" descr="preencoded.png">    </p:cNvPr>
          <p:cNvPicPr>
            <a:picLocks noChangeAspect="1"/>
          </p:cNvPicPr>
          <p:nvPr/>
        </p:nvPicPr>
        <p:blipFill>
          <a:blip r:embed="rId5"/>
          <a:stretch>
            <a:fillRect/>
          </a:stretch>
        </p:blipFill>
        <p:spPr>
          <a:xfrm>
            <a:off x="7422185" y="5035601"/>
            <a:ext cx="197510" cy="197510"/>
          </a:xfrm>
          <a:prstGeom prst="rect">
            <a:avLst/>
          </a:prstGeom>
        </p:spPr>
      </p:pic>
      <p:sp>
        <p:nvSpPr>
          <p:cNvPr id="20" name="Text 13"/>
          <p:cNvSpPr txBox="1"/>
          <p:nvPr/>
        </p:nvSpPr>
        <p:spPr>
          <a:xfrm>
            <a:off x="7909560" y="4882896"/>
            <a:ext cx="3733495" cy="685800"/>
          </a:xfrm>
          <a:prstGeom prst="rect">
            <a:avLst/>
          </a:prstGeom>
          <a:noFill/>
          <a:ln/>
        </p:spPr>
        <p:txBody>
          <a:bodyPr wrap="square" lIns="0" tIns="0" rIns="0" bIns="0" rtlCol="0" anchor="t"/>
          <a:lstStyle/>
          <a:p>
            <a:pPr indent="0" marL="0">
              <a:buNone/>
            </a:pPr>
            <a:r>
              <a:rPr lang="en-US" sz="1400" dirty="0">
                <a:solidFill>
                  <a:srgbClr val="3C4A60"/>
                </a:solidFill>
                <a:latin typeface="Calibri" pitchFamily="34" charset="0"/>
                <a:ea typeface="Calibri" pitchFamily="34" charset="-122"/>
                <a:cs typeface="Calibri" pitchFamily="34" charset="-120"/>
              </a:rPr>
              <a:t>Browser tabs: /txndefs and /transactions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600" b="1" dirty="0">
                <a:solidFill>
                  <a:srgbClr val="1B2536"/>
                </a:solidFill>
                <a:latin typeface="Cambria" pitchFamily="34" charset="0"/>
                <a:ea typeface="Cambria" pitchFamily="34" charset="-122"/>
                <a:cs typeface="Cambria" pitchFamily="34" charset="-120"/>
              </a:rPr>
              <a:t>Get the code</a:t>
            </a:r>
            <a:endParaRPr lang="en-US" sz="3600" dirty="0"/>
          </a:p>
        </p:txBody>
      </p:sp>
      <p:sp>
        <p:nvSpPr>
          <p:cNvPr id="3" name="Text 1"/>
          <p:cNvSpPr txBox="1"/>
          <p:nvPr/>
        </p:nvSpPr>
        <p:spPr>
          <a:xfrm>
            <a:off x="548640" y="1051560"/>
            <a:ext cx="11094415" cy="411480"/>
          </a:xfrm>
          <a:prstGeom prst="rect">
            <a:avLst/>
          </a:prstGeom>
          <a:noFill/>
          <a:ln/>
        </p:spPr>
        <p:txBody>
          <a:bodyPr wrap="square" lIns="0" tIns="0" rIns="0" bIns="0" rtlCol="0" anchor="ctr"/>
          <a:lstStyle/>
          <a:p>
            <a:pPr indent="0" marL="0">
              <a:buNone/>
            </a:pPr>
            <a:r>
              <a:rPr lang="en-US" sz="1600" dirty="0">
                <a:solidFill>
                  <a:srgbClr val="7A8699"/>
                </a:solidFill>
                <a:latin typeface="Calibri" pitchFamily="34" charset="0"/>
                <a:ea typeface="Calibri" pitchFamily="34" charset="-122"/>
                <a:cs typeface="Calibri" pitchFamily="34" charset="-120"/>
              </a:rPr>
              <a:t>Open source — clone it, run it locally, build your own transactions</a:t>
            </a:r>
            <a:endParaRPr lang="en-US" sz="1600" dirty="0"/>
          </a:p>
        </p:txBody>
      </p:sp>
      <p:sp>
        <p:nvSpPr>
          <p:cNvPr id="4" name="Shape 2"/>
          <p:cNvSpPr/>
          <p:nvPr/>
        </p:nvSpPr>
        <p:spPr>
          <a:xfrm>
            <a:off x="548640" y="2011680"/>
            <a:ext cx="777240" cy="777240"/>
          </a:xfrm>
          <a:prstGeom prst="ellipse">
            <a:avLst/>
          </a:prstGeom>
          <a:solidFill>
            <a:srgbClr val="1B2536"/>
          </a:solidFill>
          <a:ln w="12700">
            <a:solidFill>
              <a:srgbClr val="1B2536"/>
            </a:solidFill>
            <a:prstDash val="solid"/>
          </a:ln>
        </p:spPr>
      </p:sp>
      <p:pic>
        <p:nvPicPr>
          <p:cNvPr id="5" name="Image 0" descr="preencoded.png">    </p:cNvPr>
          <p:cNvPicPr>
            <a:picLocks noChangeAspect="1"/>
          </p:cNvPicPr>
          <p:nvPr/>
        </p:nvPicPr>
        <p:blipFill>
          <a:blip r:embed="rId1"/>
          <a:stretch>
            <a:fillRect/>
          </a:stretch>
        </p:blipFill>
        <p:spPr>
          <a:xfrm>
            <a:off x="750722" y="2213762"/>
            <a:ext cx="373075" cy="373075"/>
          </a:xfrm>
          <a:prstGeom prst="rect">
            <a:avLst/>
          </a:prstGeom>
        </p:spPr>
      </p:pic>
      <p:sp>
        <p:nvSpPr>
          <p:cNvPr id="6" name="Text 3">
            <a:hlinkClick r:id="rId2" tooltip=""/>
          </p:cNvPr>
          <p:cNvSpPr txBox="1"/>
          <p:nvPr/>
        </p:nvSpPr>
        <p:spPr>
          <a:xfrm>
            <a:off x="548640" y="2971800"/>
            <a:ext cx="6583680" cy="640080"/>
          </a:xfrm>
          <a:prstGeom prst="rect">
            <a:avLst/>
          </a:prstGeom>
          <a:noFill/>
          <a:ln/>
        </p:spPr>
        <p:txBody>
          <a:bodyPr wrap="square" lIns="0" tIns="0" rIns="0" bIns="0" rtlCol="0" anchor="ctr"/>
          <a:lstStyle/>
          <a:p>
            <a:pPr indent="0" marL="0">
              <a:buNone/>
            </a:pPr>
            <a:r>
              <a:rPr lang="en-US" sz="3000" b="1" u="sng" dirty="0">
                <a:solidFill>
                  <a:srgbClr val="E3710A"/>
                </a:solidFill>
                <a:latin typeface="Cambria" pitchFamily="34" charset="0"/>
                <a:ea typeface="Cambria" pitchFamily="34" charset="-122"/>
                <a:cs typeface="Cambria"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github.com/ideapod/dd-transactions</a:t>
            </a:r>
            <a:endParaRPr lang="en-US" sz="3000" dirty="0"/>
          </a:p>
        </p:txBody>
      </p:sp>
      <p:sp>
        <p:nvSpPr>
          <p:cNvPr id="7" name="Shape 4"/>
          <p:cNvSpPr/>
          <p:nvPr/>
        </p:nvSpPr>
        <p:spPr>
          <a:xfrm>
            <a:off x="548640" y="3886200"/>
            <a:ext cx="6583680" cy="1097280"/>
          </a:xfrm>
          <a:prstGeom prst="roundRect">
            <a:avLst>
              <a:gd name="adj" fmla="val 6667"/>
            </a:avLst>
          </a:prstGeom>
          <a:solidFill>
            <a:srgbClr val="0F1623"/>
          </a:solidFill>
          <a:ln w="12700">
            <a:solidFill>
              <a:srgbClr val="0F1623"/>
            </a:solidFill>
            <a:prstDash val="solid"/>
          </a:ln>
        </p:spPr>
      </p:sp>
      <p:sp>
        <p:nvSpPr>
          <p:cNvPr id="8" name="Text 5"/>
          <p:cNvSpPr txBox="1"/>
          <p:nvPr/>
        </p:nvSpPr>
        <p:spPr>
          <a:xfrm>
            <a:off x="777240" y="4069080"/>
            <a:ext cx="6126480" cy="777240"/>
          </a:xfrm>
          <a:prstGeom prst="rect">
            <a:avLst/>
          </a:prstGeom>
          <a:noFill/>
          <a:ln/>
        </p:spPr>
        <p:txBody>
          <a:bodyPr wrap="square" lIns="0" tIns="0" rIns="0" bIns="0" rtlCol="0" anchor="t"/>
          <a:lstStyle/>
          <a:p>
            <a:pPr indent="0" marL="0">
              <a:buNone/>
            </a:pPr>
            <a:r>
              <a:rPr lang="en-US" sz="1150" dirty="0">
                <a:solidFill>
                  <a:srgbClr val="6A7A92"/>
                </a:solidFill>
                <a:latin typeface="Courier New" pitchFamily="34" charset="0"/>
                <a:ea typeface="Courier New" pitchFamily="34" charset="-122"/>
                <a:cs typeface="Courier New" pitchFamily="34" charset="-120"/>
              </a:rPr>
              <a:t>$ </a:t>
            </a:r>
            <a:pPr indent="0" marL="0">
              <a:buNone/>
            </a:pPr>
            <a:r>
              <a:rPr lang="en-US" sz="1150" dirty="0">
                <a:solidFill>
                  <a:srgbClr val="D6DEEB"/>
                </a:solidFill>
                <a:latin typeface="Courier New" pitchFamily="34" charset="0"/>
                <a:ea typeface="Courier New" pitchFamily="34" charset="-122"/>
                <a:cs typeface="Courier New" pitchFamily="34" charset="-120"/>
              </a:rPr>
              <a:t>git clone https://github.com/ideapod/dd-transactions.git</a:t>
            </a:r>
            <a:endParaRPr lang="en-US" sz="1150" dirty="0"/>
          </a:p>
          <a:p>
            <a:pPr indent="0" marL="0">
              <a:buNone/>
            </a:pPr>
            <a:r>
              <a:rPr lang="en-US" sz="1150" dirty="0">
                <a:solidFill>
                  <a:srgbClr val="6A7A92"/>
                </a:solidFill>
                <a:latin typeface="Courier New" pitchFamily="34" charset="0"/>
                <a:ea typeface="Courier New" pitchFamily="34" charset="-122"/>
                <a:cs typeface="Courier New" pitchFamily="34" charset="-120"/>
              </a:rPr>
              <a:t>$ </a:t>
            </a:r>
            <a:pPr indent="0" marL="0">
              <a:buNone/>
            </a:pPr>
            <a:r>
              <a:rPr lang="en-US" sz="1150" dirty="0">
                <a:solidFill>
                  <a:srgbClr val="D6DEEB"/>
                </a:solidFill>
                <a:latin typeface="Courier New" pitchFamily="34" charset="0"/>
                <a:ea typeface="Courier New" pitchFamily="34" charset="-122"/>
                <a:cs typeface="Courier New" pitchFamily="34" charset="-120"/>
              </a:rPr>
              <a:t>cd dd-transactions &amp;&amp; docker compose up --build</a:t>
            </a:r>
            <a:endParaRPr lang="en-US" sz="1150" dirty="0"/>
          </a:p>
          <a:p>
            <a:pPr indent="0" marL="0">
              <a:buNone/>
            </a:pPr>
            <a:r>
              <a:rPr lang="en-US" sz="1150" dirty="0">
                <a:solidFill>
                  <a:srgbClr val="6A7A92"/>
                </a:solidFill>
                <a:latin typeface="Courier New" pitchFamily="34" charset="0"/>
                <a:ea typeface="Courier New" pitchFamily="34" charset="-122"/>
                <a:cs typeface="Courier New" pitchFamily="34" charset="-120"/>
              </a:rPr>
              <a:t>$ </a:t>
            </a:r>
            <a:pPr indent="0" marL="0">
              <a:buNone/>
            </a:pPr>
            <a:r>
              <a:rPr lang="en-US" sz="1150" dirty="0">
                <a:solidFill>
                  <a:srgbClr val="D6DEEB"/>
                </a:solidFill>
                <a:latin typeface="Courier New" pitchFamily="34" charset="0"/>
                <a:ea typeface="Courier New" pitchFamily="34" charset="-122"/>
                <a:cs typeface="Courier New" pitchFamily="34" charset="-120"/>
              </a:rPr>
              <a:t>docker compose exec mongo mongorestore --noOptionsRestore --gzip /dump</a:t>
            </a:r>
            <a:endParaRPr lang="en-US" sz="1150" dirty="0"/>
          </a:p>
        </p:txBody>
      </p:sp>
      <p:sp>
        <p:nvSpPr>
          <p:cNvPr id="9" name="Text 6"/>
          <p:cNvSpPr txBox="1"/>
          <p:nvPr/>
        </p:nvSpPr>
        <p:spPr>
          <a:xfrm>
            <a:off x="548640" y="5257800"/>
            <a:ext cx="6583680" cy="365760"/>
          </a:xfrm>
          <a:prstGeom prst="rect">
            <a:avLst/>
          </a:prstGeom>
          <a:noFill/>
          <a:ln/>
        </p:spPr>
        <p:txBody>
          <a:bodyPr wrap="square" lIns="0" tIns="0" rIns="0" bIns="0" rtlCol="0" anchor="ctr"/>
          <a:lstStyle/>
          <a:p>
            <a:pPr indent="0" marL="0">
              <a:buNone/>
            </a:pPr>
            <a:r>
              <a:rPr lang="en-US" sz="1400" dirty="0">
                <a:solidFill>
                  <a:srgbClr val="3C4A60"/>
                </a:solidFill>
                <a:latin typeface="Calibri" pitchFamily="34" charset="0"/>
                <a:ea typeface="Calibri" pitchFamily="34" charset="-122"/>
                <a:cs typeface="Calibri" pitchFamily="34" charset="-120"/>
              </a:rPr>
              <a:t>Includes demo data, a Bruno API collection and a full README.</a:t>
            </a:r>
            <a:endParaRPr lang="en-US" sz="1400" dirty="0"/>
          </a:p>
        </p:txBody>
      </p:sp>
      <p:sp>
        <p:nvSpPr>
          <p:cNvPr id="10" name="Shape 7"/>
          <p:cNvSpPr/>
          <p:nvPr/>
        </p:nvSpPr>
        <p:spPr>
          <a:xfrm>
            <a:off x="7528255" y="1554480"/>
            <a:ext cx="4114800" cy="4526280"/>
          </a:xfrm>
          <a:prstGeom prst="roundRect">
            <a:avLst>
              <a:gd name="adj" fmla="val 1778"/>
            </a:avLst>
          </a:prstGeom>
          <a:solidFill>
            <a:srgbClr val="FFFFFF"/>
          </a:solidFill>
          <a:ln w="9525">
            <a:solidFill>
              <a:srgbClr val="E2E5EA"/>
            </a:solidFill>
            <a:prstDash val="solid"/>
          </a:ln>
          <a:effectLst>
            <a:outerShdw sx="100000" sy="100000" kx="0" ky="0" algn="bl" rotWithShape="0" blurRad="76200" dist="25400" dir="5400000">
              <a:srgbClr val="000000">
                <a:alpha val="8000"/>
              </a:srgbClr>
            </a:outerShdw>
          </a:effectLst>
        </p:spPr>
      </p:sp>
      <p:pic>
        <p:nvPicPr>
          <p:cNvPr id="11" name="Image 1" descr="preencoded.png">    </p:cNvPr>
          <p:cNvPicPr>
            <a:picLocks noChangeAspect="1"/>
          </p:cNvPicPr>
          <p:nvPr/>
        </p:nvPicPr>
        <p:blipFill>
          <a:blip r:embed="rId3"/>
          <a:stretch>
            <a:fillRect/>
          </a:stretch>
        </p:blipFill>
        <p:spPr>
          <a:xfrm>
            <a:off x="7802575" y="1828800"/>
            <a:ext cx="3566160" cy="3566160"/>
          </a:xfrm>
          <a:prstGeom prst="rect">
            <a:avLst/>
          </a:prstGeom>
        </p:spPr>
      </p:pic>
      <p:sp>
        <p:nvSpPr>
          <p:cNvPr id="12" name="Text 8"/>
          <p:cNvSpPr txBox="1"/>
          <p:nvPr/>
        </p:nvSpPr>
        <p:spPr>
          <a:xfrm>
            <a:off x="7528255" y="5504688"/>
            <a:ext cx="4114800" cy="365760"/>
          </a:xfrm>
          <a:prstGeom prst="rect">
            <a:avLst/>
          </a:prstGeom>
          <a:noFill/>
          <a:ln/>
        </p:spPr>
        <p:txBody>
          <a:bodyPr wrap="square" lIns="0" tIns="0" rIns="0" bIns="0" rtlCol="0" anchor="ctr"/>
          <a:lstStyle/>
          <a:p>
            <a:pPr algn="ctr" indent="0" marL="0">
              <a:buNone/>
            </a:pPr>
            <a:r>
              <a:rPr lang="en-US" sz="1400" dirty="0">
                <a:solidFill>
                  <a:srgbClr val="7A8699"/>
                </a:solidFill>
                <a:latin typeface="Calibri" pitchFamily="34" charset="0"/>
                <a:ea typeface="Calibri" pitchFamily="34" charset="-122"/>
                <a:cs typeface="Calibri" pitchFamily="34" charset="-120"/>
              </a:rPr>
              <a:t>Scan to open the repo</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1B2536"/>
        </a:solidFill>
      </p:bgPr>
    </p:bg>
    <p:spTree>
      <p:nvGrpSpPr>
        <p:cNvPr id="1" name=""/>
        <p:cNvGrpSpPr/>
        <p:nvPr/>
      </p:nvGrpSpPr>
      <p:grpSpPr>
        <a:xfrm>
          <a:off x="0" y="0"/>
          <a:ext cx="0" cy="0"/>
          <a:chOff x="0" y="0"/>
          <a:chExt cx="0" cy="0"/>
        </a:xfrm>
      </p:grpSpPr>
      <p:sp>
        <p:nvSpPr>
          <p:cNvPr id="2" name="Shape 0"/>
          <p:cNvSpPr/>
          <p:nvPr/>
        </p:nvSpPr>
        <p:spPr>
          <a:xfrm>
            <a:off x="8503920" y="2926080"/>
            <a:ext cx="5486400" cy="5486400"/>
          </a:xfrm>
          <a:prstGeom prst="ellipse">
            <a:avLst/>
          </a:prstGeom>
          <a:solidFill>
            <a:srgbClr val="E3710A">
              <a:alpha val="15000"/>
            </a:srgbClr>
          </a:solidFill>
          <a:ln w="12700">
            <a:solidFill>
              <a:srgbClr val="E3710A">
                <a:alpha val="0"/>
              </a:srgbClr>
            </a:solidFill>
            <a:prstDash val="solid"/>
          </a:ln>
        </p:spPr>
      </p:sp>
      <p:sp>
        <p:nvSpPr>
          <p:cNvPr id="3" name="Text 1"/>
          <p:cNvSpPr txBox="1"/>
          <p:nvPr/>
        </p:nvSpPr>
        <p:spPr>
          <a:xfrm>
            <a:off x="548640" y="640080"/>
            <a:ext cx="8229600"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Why it matters</a:t>
            </a:r>
            <a:endParaRPr lang="en-US" sz="4000" dirty="0"/>
          </a:p>
        </p:txBody>
      </p:sp>
      <p:sp>
        <p:nvSpPr>
          <p:cNvPr id="4" name="Text 2"/>
          <p:cNvSpPr txBox="1"/>
          <p:nvPr/>
        </p:nvSpPr>
        <p:spPr>
          <a:xfrm>
            <a:off x="548640" y="1920240"/>
            <a:ext cx="4937760" cy="502920"/>
          </a:xfrm>
          <a:prstGeom prst="rect">
            <a:avLst/>
          </a:prstGeom>
          <a:noFill/>
          <a:ln/>
        </p:spPr>
        <p:txBody>
          <a:bodyPr wrap="square" lIns="0" tIns="0" rIns="0" bIns="0" rtlCol="0" anchor="ctr"/>
          <a:lstStyle/>
          <a:p>
            <a:pPr indent="0" marL="0">
              <a:buNone/>
            </a:pPr>
            <a:r>
              <a:rPr lang="en-US" sz="2400" b="1" dirty="0">
                <a:solidFill>
                  <a:srgbClr val="E3710A"/>
                </a:solidFill>
                <a:latin typeface="Cambria" pitchFamily="34" charset="0"/>
                <a:ea typeface="Cambria" pitchFamily="34" charset="-122"/>
                <a:cs typeface="Cambria" pitchFamily="34" charset="-120"/>
              </a:rPr>
              <a:t>Days, not sprints</a:t>
            </a:r>
            <a:endParaRPr lang="en-US" sz="2400" dirty="0"/>
          </a:p>
        </p:txBody>
      </p:sp>
      <p:sp>
        <p:nvSpPr>
          <p:cNvPr id="5" name="Text 3"/>
          <p:cNvSpPr txBox="1"/>
          <p:nvPr/>
        </p:nvSpPr>
        <p:spPr>
          <a:xfrm>
            <a:off x="548640" y="2468880"/>
            <a:ext cx="4937760" cy="731520"/>
          </a:xfrm>
          <a:prstGeom prst="rect">
            <a:avLst/>
          </a:prstGeom>
          <a:noFill/>
          <a:ln/>
        </p:spPr>
        <p:txBody>
          <a:bodyPr wrap="square" lIns="0" tIns="0" rIns="0" bIns="0" rtlCol="0" anchor="t"/>
          <a:lstStyle/>
          <a:p>
            <a:pPr indent="0" marL="0">
              <a:buNone/>
            </a:pPr>
            <a:r>
              <a:rPr lang="en-US" sz="1600" dirty="0">
                <a:solidFill>
                  <a:srgbClr val="D5DCE7"/>
                </a:solidFill>
                <a:latin typeface="Calibri" pitchFamily="34" charset="0"/>
                <a:ea typeface="Calibri" pitchFamily="34" charset="-122"/>
                <a:cs typeface="Calibri" pitchFamily="34" charset="-120"/>
              </a:rPr>
              <a:t>New transactions are configured, not built</a:t>
            </a:r>
            <a:endParaRPr lang="en-US" sz="1600" dirty="0"/>
          </a:p>
        </p:txBody>
      </p:sp>
      <p:sp>
        <p:nvSpPr>
          <p:cNvPr id="6" name="Text 4"/>
          <p:cNvSpPr txBox="1"/>
          <p:nvPr/>
        </p:nvSpPr>
        <p:spPr>
          <a:xfrm>
            <a:off x="5943600" y="1920240"/>
            <a:ext cx="4937760" cy="502920"/>
          </a:xfrm>
          <a:prstGeom prst="rect">
            <a:avLst/>
          </a:prstGeom>
          <a:noFill/>
          <a:ln/>
        </p:spPr>
        <p:txBody>
          <a:bodyPr wrap="square" lIns="0" tIns="0" rIns="0" bIns="0" rtlCol="0" anchor="ctr"/>
          <a:lstStyle/>
          <a:p>
            <a:pPr indent="0" marL="0">
              <a:buNone/>
            </a:pPr>
            <a:r>
              <a:rPr lang="en-US" sz="2400" b="1" dirty="0">
                <a:solidFill>
                  <a:srgbClr val="E3710A"/>
                </a:solidFill>
                <a:latin typeface="Cambria" pitchFamily="34" charset="0"/>
                <a:ea typeface="Cambria" pitchFamily="34" charset="-122"/>
                <a:cs typeface="Cambria" pitchFamily="34" charset="-120"/>
              </a:rPr>
              <a:t>One engine, every form</a:t>
            </a:r>
            <a:endParaRPr lang="en-US" sz="2400" dirty="0"/>
          </a:p>
        </p:txBody>
      </p:sp>
      <p:sp>
        <p:nvSpPr>
          <p:cNvPr id="7" name="Text 5"/>
          <p:cNvSpPr txBox="1"/>
          <p:nvPr/>
        </p:nvSpPr>
        <p:spPr>
          <a:xfrm>
            <a:off x="5943600" y="2468880"/>
            <a:ext cx="4937760" cy="731520"/>
          </a:xfrm>
          <a:prstGeom prst="rect">
            <a:avLst/>
          </a:prstGeom>
          <a:noFill/>
          <a:ln/>
        </p:spPr>
        <p:txBody>
          <a:bodyPr wrap="square" lIns="0" tIns="0" rIns="0" bIns="0" rtlCol="0" anchor="t"/>
          <a:lstStyle/>
          <a:p>
            <a:pPr indent="0" marL="0">
              <a:buNone/>
            </a:pPr>
            <a:r>
              <a:rPr lang="en-US" sz="1600" dirty="0">
                <a:solidFill>
                  <a:srgbClr val="D5DCE7"/>
                </a:solidFill>
                <a:latin typeface="Calibri" pitchFamily="34" charset="0"/>
                <a:ea typeface="Calibri" pitchFamily="34" charset="-122"/>
                <a:cs typeface="Calibri" pitchFamily="34" charset="-120"/>
              </a:rPr>
              <a:t>Consistent branding, validation and accessibility</a:t>
            </a:r>
            <a:endParaRPr lang="en-US" sz="1600" dirty="0"/>
          </a:p>
        </p:txBody>
      </p:sp>
      <p:sp>
        <p:nvSpPr>
          <p:cNvPr id="8" name="Text 6"/>
          <p:cNvSpPr txBox="1"/>
          <p:nvPr/>
        </p:nvSpPr>
        <p:spPr>
          <a:xfrm>
            <a:off x="548640" y="3703320"/>
            <a:ext cx="4937760" cy="502920"/>
          </a:xfrm>
          <a:prstGeom prst="rect">
            <a:avLst/>
          </a:prstGeom>
          <a:noFill/>
          <a:ln/>
        </p:spPr>
        <p:txBody>
          <a:bodyPr wrap="square" lIns="0" tIns="0" rIns="0" bIns="0" rtlCol="0" anchor="ctr"/>
          <a:lstStyle/>
          <a:p>
            <a:pPr indent="0" marL="0">
              <a:buNone/>
            </a:pPr>
            <a:r>
              <a:rPr lang="en-US" sz="2400" b="1" dirty="0">
                <a:solidFill>
                  <a:srgbClr val="E3710A"/>
                </a:solidFill>
                <a:latin typeface="Cambria" pitchFamily="34" charset="0"/>
                <a:ea typeface="Cambria" pitchFamily="34" charset="-122"/>
                <a:cs typeface="Cambria" pitchFamily="34" charset="-120"/>
              </a:rPr>
              <a:t>Open by design</a:t>
            </a:r>
          </a:p>
        </p:txBody>
      </p:sp>
      <p:sp>
        <p:nvSpPr>
          <p:cNvPr id="9" name="Text 7"/>
          <p:cNvSpPr txBox="1"/>
          <p:nvPr/>
        </p:nvSpPr>
        <p:spPr>
          <a:xfrm>
            <a:off x="548640" y="4251960"/>
            <a:ext cx="4937760" cy="731520"/>
          </a:xfrm>
          <a:prstGeom prst="rect">
            <a:avLst/>
          </a:prstGeom>
          <a:noFill/>
          <a:ln/>
        </p:spPr>
        <p:txBody>
          <a:bodyPr wrap="square" lIns="0" tIns="0" rIns="0" bIns="0" rtlCol="0" anchor="t"/>
          <a:lstStyle/>
          <a:p>
            <a:pPr indent="0" marL="0">
              <a:buNone/>
            </a:pPr>
            <a:r>
              <a:rPr lang="en-US" sz="1600" dirty="0">
                <a:solidFill>
                  <a:srgbClr val="D5DCE7"/>
                </a:solidFill>
                <a:latin typeface="Calibri" pitchFamily="34" charset="0"/>
                <a:ea typeface="Calibri" pitchFamily="34" charset="-122"/>
                <a:cs typeface="Calibri" pitchFamily="34" charset="-120"/>
              </a:rPr>
              <a:t>Keyed APIs, an MCP server and signed webhooks connect it to everything else</a:t>
            </a:r>
          </a:p>
        </p:txBody>
      </p:sp>
      <p:sp>
        <p:nvSpPr>
          <p:cNvPr id="10" name="Text 8"/>
          <p:cNvSpPr txBox="1"/>
          <p:nvPr/>
        </p:nvSpPr>
        <p:spPr>
          <a:xfrm>
            <a:off x="5943600" y="3703320"/>
            <a:ext cx="4937760" cy="502920"/>
          </a:xfrm>
          <a:prstGeom prst="rect">
            <a:avLst/>
          </a:prstGeom>
          <a:noFill/>
          <a:ln/>
        </p:spPr>
        <p:txBody>
          <a:bodyPr wrap="square" lIns="0" tIns="0" rIns="0" bIns="0" rtlCol="0" anchor="ctr"/>
          <a:lstStyle/>
          <a:p>
            <a:pPr indent="0" marL="0">
              <a:buNone/>
            </a:pPr>
            <a:r>
              <a:rPr lang="en-US" sz="2400" b="1" dirty="0">
                <a:solidFill>
                  <a:srgbClr val="E3710A"/>
                </a:solidFill>
                <a:latin typeface="Cambria" pitchFamily="34" charset="0"/>
                <a:ea typeface="Cambria" pitchFamily="34" charset="-122"/>
                <a:cs typeface="Cambria" pitchFamily="34" charset="-120"/>
              </a:rPr>
              <a:t>Complexity stays hidden</a:t>
            </a:r>
            <a:endParaRPr lang="en-US" sz="2400" dirty="0"/>
          </a:p>
        </p:txBody>
      </p:sp>
      <p:sp>
        <p:nvSpPr>
          <p:cNvPr id="11" name="Text 9"/>
          <p:cNvSpPr txBox="1"/>
          <p:nvPr/>
        </p:nvSpPr>
        <p:spPr>
          <a:xfrm>
            <a:off x="5943600" y="4251960"/>
            <a:ext cx="4937760" cy="731520"/>
          </a:xfrm>
          <a:prstGeom prst="rect">
            <a:avLst/>
          </a:prstGeom>
          <a:noFill/>
          <a:ln/>
        </p:spPr>
        <p:txBody>
          <a:bodyPr wrap="square" lIns="0" tIns="0" rIns="0" bIns="0" rtlCol="0" anchor="t"/>
          <a:lstStyle/>
          <a:p>
            <a:pPr indent="0" marL="0">
              <a:buNone/>
            </a:pPr>
            <a:r>
              <a:rPr lang="en-US" sz="1600" dirty="0">
                <a:solidFill>
                  <a:srgbClr val="D5DCE7"/>
                </a:solidFill>
                <a:latin typeface="Calibri" pitchFamily="34" charset="0"/>
                <a:ea typeface="Calibri" pitchFamily="34" charset="-122"/>
                <a:cs typeface="Calibri" pitchFamily="34" charset="-120"/>
              </a:rPr>
              <a:t>Deep rules and checks run behind a simple applicant journey</a:t>
            </a:r>
            <a:endParaRPr lang="en-US" sz="1600" dirty="0"/>
          </a:p>
        </p:txBody>
      </p:sp>
      <p:sp>
        <p:nvSpPr>
          <p:cNvPr id="12" name="Text 10"/>
          <p:cNvSpPr txBox="1"/>
          <p:nvPr/>
        </p:nvSpPr>
        <p:spPr>
          <a:xfrm>
            <a:off x="548640" y="5760720"/>
            <a:ext cx="5486400" cy="548640"/>
          </a:xfrm>
          <a:prstGeom prst="rect">
            <a:avLst/>
          </a:prstGeom>
          <a:noFill/>
          <a:ln/>
        </p:spPr>
        <p:txBody>
          <a:bodyPr wrap="square" lIns="0" tIns="0" rIns="0" bIns="0" rtlCol="0" anchor="ctr"/>
          <a:lstStyle/>
          <a:p>
            <a:pPr indent="0" marL="0">
              <a:buNone/>
            </a:pPr>
            <a:r>
              <a:rPr lang="en-US" sz="2200" i="1" dirty="0">
                <a:solidFill>
                  <a:srgbClr val="FFFFFF"/>
                </a:solidFill>
                <a:latin typeface="Cambria" pitchFamily="34" charset="0"/>
                <a:ea typeface="Cambria" pitchFamily="34" charset="-122"/>
                <a:cs typeface="Cambria" pitchFamily="34" charset="-120"/>
              </a:rPr>
              <a:t>Questions?</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Data-Driven Transactions</dc:title>
  <dc:subject>PptxGenJS Presentation</dc:subject>
  <dc:creator>PptxGenJS</dc:creator>
  <cp:lastModifiedBy>PptxGenJS</cp:lastModifiedBy>
  <cp:revision>1</cp:revision>
  <dcterms:created xsi:type="dcterms:W3CDTF">2026-09-29T01:33:46Z</dcterms:created>
  <dcterms:modified xsi:type="dcterms:W3CDTF">2026-09-29T01:33:46Z</dcterms:modified>
</cp:coreProperties>
</file>